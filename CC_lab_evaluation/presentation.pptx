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438e6526-a22d-30d2-59b1-4370f54b82a0}">
          <p14:sldIdLst>
            <p14:sldId id="256"/>
            <p14:sldId id="257"/>
            <p14:sldId id="258"/>
            <p14:sldId id="259"/>
          </p14:sldIdLst>
        </p14:section>
        <p14:section name="CP1 Microservices" id="{e6bc44bc-dfa9-5f3c-9cbb-4327d8806fcc}">
          <p14:sldIdLst>
            <p14:sldId id="260"/>
            <p14:sldId id="261"/>
          </p14:sldIdLst>
        </p14:section>
        <p14:section name="CP2 Containerize &amp; deploy" id="{4a39d170-c5a4-934c-f27d-a51e643a348f}">
          <p14:sldIdLst>
            <p14:sldId id="262"/>
            <p14:sldId id="263"/>
          </p14:sldIdLst>
        </p14:section>
        <p14:section name="CP3 Communication" id="{a76104f7-ecd7-ae87-60f0-e446824118dc}">
          <p14:sldIdLst>
            <p14:sldId id="264"/>
            <p14:sldId id="265"/>
          </p14:sldIdLst>
        </p14:section>
        <p14:section name="CP4 Workloads &amp; monitoring" id="{9df65a5d-da0d-f44d-dce1-e24042b06922}">
          <p14:sldIdLst>
            <p14:sldId id="266"/>
            <p14:sldId id="267"/>
            <p14:sldId id="268"/>
            <p14:sldId id="269"/>
            <p14:sldId id="270"/>
            <p14:sldId id="271"/>
          </p14:sldIdLst>
        </p14:section>
        <p14:section name="CP5 Results &amp; analysis" id="{21a6194a-b0b1-5712-a46e-a8e1056aaf0b}">
          <p14:sldIdLst>
            <p14:sldId id="272"/>
            <p14:sldId id="273"/>
            <p14:sldId id="274"/>
            <p14:sldId id="275"/>
            <p14:sldId id="276"/>
            <p14:sldId id="277"/>
            <p14:sldId id="278"/>
            <p14:sldId id="279"/>
          </p14:sldIdLst>
        </p14:section>
        <p14:section name="Conclusion" id="{8c234ba0-5ace-d5e5-e642-1962d56ab394}">
          <p14:sldIdLst>
            <p14:sldId id="28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(script.md section 1). One-sentence summary: four FastAPI microservices, each with its own SQLite database, containerized with Docker, deployed with Compose, load-tested with Locust at 1/2/4/8/16 concurrent requests while monitoring with docker stats.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Roadmap. The manual says each checkpoint must be demonstrated before the next. This deck and script.md follow that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Aim is from the manual. Explain each service's single job and that each owns its database. If asked about 3 vs 4 services: the required Client → Borrow → Member/Book path is complete and is the one we load-tested; Notification is an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the flow. The client (Streamlit, or Locust during the load test) calls Borrow on the published port 8003. Inside the Docker network Borrow calls the others by service name. Each service has its own SQLite file on its own volume.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script.md 2.1–2.4. Run each with python -m uvicorn main:app --port 800X in its own terminal (Borrow last). Show Swagger at /docs, run GET /books, POST /books (201), Borrow GET /services/status. Then python scripts\test_services.py → ALL CHECKS PASSED. Stop with Ctrl+C before Docker.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POST /borrow walkthrough. Steps 1–6. Point at the four terminals: each prints a log line for its part. If Notification is down, the borrow still succeeds (best-effort message); if Book or Member is down, it fails with 503 and nothing is saved.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script.md 3.2–3.3. Explain line by line. Key points: slim base; copy requirements before code so the pip layer is cached; 0.0.0.0 so forwarded traffic reaches the server; EXPOSE is documentation, ports: publishes. Then docker compose build (shows CACHED) and docker images "library-app/*".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script.md 3.4–3.5. Walk through borrow-service in docker-compose.yml. docker compose up -d: creates network and volumes, starts Book/Member/Notification, waits until healthy, then Borrow, then the frontend. docker ps shows (healthy) and the port mappings.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script.md 4.1–4.2. docker network inspect library-net → all 5 containers with IPs. docker exec borrow-service python -c ... opens http://book-service:8001/health from inside the Borrow container; Docker's DNS resolves the name. IPs can change; names do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script.md 4.3–4.4. Open http://localhost:8501. Dashboard: Borrow checked the other three over the network. Borrow / Return: borrow a book, show success + notification. docker compose logs --tail 5 ... proves the request passed through each container. Optional: docker stop notification-service → borrow still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script.md 5.1. Why /borrow/check: crosses services (Borrow → Member + Book), read-only so every level has identical conditions (POST /borrow would run out of books in a second), does real work. Levels are exactly the manual's suggestion. wait_time = constant(0) makes users = concurrent requests.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script.md 5.2. Line by line. HttpUser = one simulated user; Locust makes -u copies. @task repeats forever. self.client.get measures the time from send to full reply and counts non-2xx or errors as failures. name= groups all URLs into one statistics row. Host is given on the command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script.md 5.3. Two things run at the same time: Locust (main thread) and a sampler thread calling docker stats --no-stream every ~2 s (~30 samples per container per level; samples during the 10 s pause are discarded). After each level the Aggregated row of the Locust CSV is read. At the end, samples are grouped and summed to make the two result CSVs. Explain every flag in the command.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script.md 5.4. Read the W5 screenshot column by column. CPU% is per core (100% = 1 core, 16 logical CPUs → max 1600%). NET I/O is a running total. PIDS 3 → 17 for Borrow: Uvicorn runs def endpoints in a thread pool. Notification is near 0 in this snapshot because /borrow/check never calls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Screenshots 35–36, from python -m locust -f loadtest\locustfile.py --host http://127.0.0.1:8003, then http://localhost:8089 with 8 users. 148 RPS / 53.97 ms vs scripted W4 (8 users) 149.9 / 53.2 → the measurement repeats. Charts: RPS flat ~148, median ~52 ms, 95th ~74 ms, failures 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script.md 5.5. Know this table by heart. Console vs CSV: the CSV is written ~0.3 s before the console summary, so the console shows slightly more requests (W1 5,228 vs 5,205, &lt;1 %). The report uses the CSV values.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script.md 6.1. Locust columns come from the Aggregated row of each W*_stats.csv; CPU and memory are the average of ~30 docker stats samples per container, summed over the 4 containers. Read top to bottom: W1→W2 +80% throughput at same speed; W3 peak and saturation; W4–W5 only waiting; 0 failures; memory flat.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Manual graph 1. x-axis log base 2 (1,2,4,8,16 evenly spaced). Average (blue), median (green dashed), 95th percentile (red dashed). Median: half faster. 95th: 95% faster. W5 avg 108 &gt; median 100 because of a slow tail (max 277 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Manual graph 2. Per-user throughput: 89, 80, 40, 19, 9 req/s — the total is fixed, shared by more users. Drop after peak: PIDS 3→17 in Borrow, threads compete for the GIL.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Manual graph 3 + share. Borrow 51→84→120→127→127 %: stops rising exactly where throughput stops (W3). Book/Member ~45–50 %, waiting for Borrow. Notification 11–14 % = healthcheck only (never called by /borrow/check). Share: Borrow 40 % → 56 % of the app's CPU.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Manual graph 4 + failures. Memory per container is the same at every level and was already there at idle (screenshot 37: 104.7/78.1/42.5/35.4 MiB). Under 300 MiB of 7.66 GiB. All 41,220 requests succeeded; bar heights differ only because throughput differs. Max single response 277 ms vs 5 s timeout.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 5: x throughput, y response time. Moves right W1→W2 (useful work), then straight up (only queueing). Best point 2–4 concurrent requests. Fig 9: N = X × R. W3: 160.83 × 0.02469 = 3.97. All points on the diagonal within 1 % → throughput and response time are consistent; and R = N / X explains the doubling.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script.md 6.12 Q5/Q6. Three reasons + the hidden healthcheck cost. If asked how CPU &gt; 100% with the GIL: the GIL is released while waiting on the network, so a bit more than one core is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script.md 6.13–6.14. These were not implemented; they are next steps. Say the limitations before the evaluator finds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script.md section 7. Five sentences, one per checkpoint, then stop and invite questions. Section 8 of script.md lists 20 hard questions with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F172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698480" cy="137160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731520" y="3337560"/>
            <a:ext cx="10698480" cy="914400"/>
          </a:xfrm>
          <a:prstGeom prst="rect">
            <a:avLst/>
          </a:prstGeom>
          <a:noFill/>
          <a:ln/>
        </p:spPr>
        <p:txBody>
          <a:bodyPr wrap="square" rtlCol="0"/>
          <a:lstStyle>
            <a:lvl1pPr algn="l" indent="0" marL="0">
              <a:buNone/>
              <a:defRPr lang="en-US" sz="2000" dirty="0">
                <a:solidFill>
                  <a:srgbClr val="CBD5E1"/>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_PLAIN">
    <p:bg>
      <p:bgPr>
        <a:solidFill>
          <a:srgbClr val="0F172A"/>
        </a:solidFill>
      </p:bgPr>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235440" cy="777240"/>
          </a:xfrm>
          <a:prstGeom prst="rect">
            <a:avLst/>
          </a:prstGeom>
          <a:noFill/>
          <a:ln/>
        </p:spPr>
        <p:txBody>
          <a:bodyPr wrap="square" rtlCol="0"/>
          <a:lstStyle>
            <a:lvl1pPr algn="l" indent="0" marL="0">
              <a:buNone/>
              <a:defRPr lang="en-US" sz="2800" b="1" dirty="0">
                <a:solidFill>
                  <a:schemeClr val="tx1"/>
                </a:solidFill>
              </a:defRPr>
            </a:lvl1pPr>
          </a:lstStyle>
          <a:p>
            <a:pPr algn="l" indent="0" marL="0">
              <a:buNone/>
            </a:pPr>
            <a:endParaRPr lang="en-US" sz="2800" dirty="0"/>
          </a:p>
        </p:txBody>
      </p:sp>
      <p:sp>
        <p:nvSpPr>
          <p:cNvPr id="3" name="Text 0"/>
          <p:cNvSpPr/>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94A3B8"/>
                </a:solidFill>
              </a:rPr>
              <a:t>Library Management Microservices  ·  CC Lab Evaluation</a:t>
            </a:r>
            <a:endParaRPr lang="en-US" sz="1000" dirty="0"/>
          </a:p>
        </p:txBody>
      </p:sp>
      <p:sp>
        <p:nvSpPr>
          <p:cNvPr id="25" name="Slide Number Placeholder 0"/>
          <p:cNvSpPr>
            <a:spLocks noGrp="1"/>
          </p:cNvSpPr>
          <p:nvPr>
            <p:ph type="sldNum" sz="quarter" idx="4294967295"/>
          </p:nvPr>
        </p:nvSpPr>
        <p:spPr>
          <a:xfrm>
            <a:off x="1115568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4.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4.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4.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4.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4.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4.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4.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4.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4.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4.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4.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4.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698480" cy="1371600"/>
          </a:xfrm>
          <a:prstGeom prst="rect">
            <a:avLst/>
          </a:prstGeom>
          <a:noFill/>
          <a:ln/>
        </p:spPr>
        <p:txBody>
          <a:bodyPr wrap="square" lIns="0" tIns="0" rIns="0" bIns="0" rtlCol="0" anchor="b"/>
          <a:lstStyle/>
          <a:p>
            <a:pPr algn="l" indent="0" marL="0">
              <a:buNone/>
            </a:pPr>
            <a:r>
              <a:rPr lang="en-US" sz="4400" b="1" dirty="0">
                <a:solidFill>
                  <a:schemeClr val="bg1"/>
                </a:solidFill>
              </a:rPr>
              <a:t>Library Management Microservices</a:t>
            </a:r>
            <a:endParaRPr lang="en-US" sz="4400" dirty="0"/>
          </a:p>
        </p:txBody>
      </p:sp>
      <p:sp>
        <p:nvSpPr>
          <p:cNvPr id="3" name="Text 0"/>
          <p:cNvSpPr/>
          <p:nvPr>
            <p:ph idx="101" type="body" hasCustomPrompt="1"/>
          </p:nvPr>
        </p:nvSpPr>
        <p:spPr>
          <a:xfrm>
            <a:off x="731520" y="3337560"/>
            <a:ext cx="10698480" cy="914400"/>
          </a:xfrm>
          <a:prstGeom prst="rect">
            <a:avLst/>
          </a:prstGeom>
          <a:noFill/>
          <a:ln/>
        </p:spPr>
        <p:txBody>
          <a:bodyPr wrap="square" lIns="0" tIns="0" rIns="0" bIns="0" rtlCol="0" anchor="t"/>
          <a:lstStyle/>
          <a:p>
            <a:pPr algn="l" indent="0" marL="0">
              <a:buNone/>
            </a:pPr>
            <a:r>
              <a:rPr lang="en-US" sz="2000" dirty="0">
                <a:solidFill>
                  <a:srgbClr val="CBD5E1"/>
                </a:solidFill>
              </a:rPr>
              <a:t>Build, deploy and analyse a containerized microservice application under varying workloads</a:t>
            </a:r>
            <a:endParaRPr lang="en-US" sz="2000" dirty="0"/>
          </a:p>
        </p:txBody>
      </p:sp>
      <p:sp>
        <p:nvSpPr>
          <p:cNvPr id="4" name="service pill"/>
          <p:cNvSpPr/>
          <p:nvPr/>
        </p:nvSpPr>
        <p:spPr>
          <a:xfrm>
            <a:off x="731520" y="4572000"/>
            <a:ext cx="2468880" cy="731520"/>
          </a:xfrm>
          <a:prstGeom prst="roundRect">
            <a:avLst>
              <a:gd name="adj" fmla="val 50000"/>
            </a:avLst>
          </a:prstGeom>
          <a:solidFill>
            <a:srgbClr val="2563EB"/>
          </a:solidFill>
          <a:ln w="12700">
            <a:solidFill>
              <a:srgbClr val="2563EB"/>
            </a:solidFill>
            <a:prstDash val="solid"/>
          </a:ln>
        </p:spPr>
      </p:sp>
      <p:sp>
        <p:nvSpPr>
          <p:cNvPr id="5" name="Text 3"/>
          <p:cNvSpPr txBox="1"/>
          <p:nvPr/>
        </p:nvSpPr>
        <p:spPr>
          <a:xfrm>
            <a:off x="731520" y="4572000"/>
            <a:ext cx="2468880" cy="731520"/>
          </a:xfrm>
          <a:prstGeom prst="rect">
            <a:avLst/>
          </a:prstGeom>
          <a:noFill/>
          <a:ln/>
        </p:spPr>
        <p:txBody>
          <a:bodyPr wrap="square" lIns="0" tIns="0" rIns="0" bIns="0" rtlCol="0" anchor="ctr"/>
          <a:lstStyle/>
          <a:p>
            <a:pPr algn="ctr" indent="0" marL="0">
              <a:buNone/>
            </a:pPr>
            <a:r>
              <a:rPr lang="en-US" sz="1500" b="1" dirty="0">
                <a:solidFill>
                  <a:srgbClr val="FFFFFF"/>
                </a:solidFill>
              </a:rPr>
              <a:t>Book Service</a:t>
            </a:r>
            <a:endParaRPr lang="en-US" sz="1500" dirty="0"/>
          </a:p>
          <a:p>
            <a:pPr algn="ctr" indent="0" marL="0">
              <a:buNone/>
            </a:pPr>
            <a:r>
              <a:rPr lang="en-US" sz="1100" dirty="0">
                <a:solidFill>
                  <a:srgbClr val="E2E8F0"/>
                </a:solidFill>
              </a:rPr>
              <a:t>port 8001</a:t>
            </a:r>
            <a:endParaRPr lang="en-US" sz="1500" dirty="0"/>
          </a:p>
        </p:txBody>
      </p:sp>
      <p:sp>
        <p:nvSpPr>
          <p:cNvPr id="6" name="service pill"/>
          <p:cNvSpPr/>
          <p:nvPr/>
        </p:nvSpPr>
        <p:spPr>
          <a:xfrm>
            <a:off x="3429000" y="4572000"/>
            <a:ext cx="2468880" cy="731520"/>
          </a:xfrm>
          <a:prstGeom prst="roundRect">
            <a:avLst>
              <a:gd name="adj" fmla="val 50000"/>
            </a:avLst>
          </a:prstGeom>
          <a:solidFill>
            <a:srgbClr val="16A34A"/>
          </a:solidFill>
          <a:ln w="12700">
            <a:solidFill>
              <a:srgbClr val="16A34A"/>
            </a:solidFill>
            <a:prstDash val="solid"/>
          </a:ln>
        </p:spPr>
      </p:sp>
      <p:sp>
        <p:nvSpPr>
          <p:cNvPr id="7" name="Text 5"/>
          <p:cNvSpPr txBox="1"/>
          <p:nvPr/>
        </p:nvSpPr>
        <p:spPr>
          <a:xfrm>
            <a:off x="3429000" y="4572000"/>
            <a:ext cx="2468880" cy="731520"/>
          </a:xfrm>
          <a:prstGeom prst="rect">
            <a:avLst/>
          </a:prstGeom>
          <a:noFill/>
          <a:ln/>
        </p:spPr>
        <p:txBody>
          <a:bodyPr wrap="square" lIns="0" tIns="0" rIns="0" bIns="0" rtlCol="0" anchor="ctr"/>
          <a:lstStyle/>
          <a:p>
            <a:pPr algn="ctr" indent="0" marL="0">
              <a:buNone/>
            </a:pPr>
            <a:r>
              <a:rPr lang="en-US" sz="1500" b="1" dirty="0">
                <a:solidFill>
                  <a:srgbClr val="FFFFFF"/>
                </a:solidFill>
              </a:rPr>
              <a:t>Member Service</a:t>
            </a:r>
            <a:endParaRPr lang="en-US" sz="1500" dirty="0"/>
          </a:p>
          <a:p>
            <a:pPr algn="ctr" indent="0" marL="0">
              <a:buNone/>
            </a:pPr>
            <a:r>
              <a:rPr lang="en-US" sz="1100" dirty="0">
                <a:solidFill>
                  <a:srgbClr val="E2E8F0"/>
                </a:solidFill>
              </a:rPr>
              <a:t>port 8002</a:t>
            </a:r>
            <a:endParaRPr lang="en-US" sz="1500" dirty="0"/>
          </a:p>
        </p:txBody>
      </p:sp>
      <p:sp>
        <p:nvSpPr>
          <p:cNvPr id="8" name="service pill"/>
          <p:cNvSpPr/>
          <p:nvPr/>
        </p:nvSpPr>
        <p:spPr>
          <a:xfrm>
            <a:off x="6126480" y="4572000"/>
            <a:ext cx="2468880" cy="731520"/>
          </a:xfrm>
          <a:prstGeom prst="roundRect">
            <a:avLst>
              <a:gd name="adj" fmla="val 50000"/>
            </a:avLst>
          </a:prstGeom>
          <a:solidFill>
            <a:srgbClr val="7C3AED"/>
          </a:solidFill>
          <a:ln w="12700">
            <a:solidFill>
              <a:srgbClr val="7C3AED"/>
            </a:solidFill>
            <a:prstDash val="solid"/>
          </a:ln>
        </p:spPr>
      </p:sp>
      <p:sp>
        <p:nvSpPr>
          <p:cNvPr id="9" name="Text 7"/>
          <p:cNvSpPr txBox="1"/>
          <p:nvPr/>
        </p:nvSpPr>
        <p:spPr>
          <a:xfrm>
            <a:off x="6126480" y="4572000"/>
            <a:ext cx="2468880" cy="731520"/>
          </a:xfrm>
          <a:prstGeom prst="rect">
            <a:avLst/>
          </a:prstGeom>
          <a:noFill/>
          <a:ln/>
        </p:spPr>
        <p:txBody>
          <a:bodyPr wrap="square" lIns="0" tIns="0" rIns="0" bIns="0" rtlCol="0" anchor="ctr"/>
          <a:lstStyle/>
          <a:p>
            <a:pPr algn="ctr" indent="0" marL="0">
              <a:buNone/>
            </a:pPr>
            <a:r>
              <a:rPr lang="en-US" sz="1500" b="1" dirty="0">
                <a:solidFill>
                  <a:srgbClr val="FFFFFF"/>
                </a:solidFill>
              </a:rPr>
              <a:t>Borrow Service</a:t>
            </a:r>
            <a:endParaRPr lang="en-US" sz="1500" dirty="0"/>
          </a:p>
          <a:p>
            <a:pPr algn="ctr" indent="0" marL="0">
              <a:buNone/>
            </a:pPr>
            <a:r>
              <a:rPr lang="en-US" sz="1100" dirty="0">
                <a:solidFill>
                  <a:srgbClr val="E2E8F0"/>
                </a:solidFill>
              </a:rPr>
              <a:t>port 8003</a:t>
            </a:r>
            <a:endParaRPr lang="en-US" sz="1500" dirty="0"/>
          </a:p>
        </p:txBody>
      </p:sp>
      <p:sp>
        <p:nvSpPr>
          <p:cNvPr id="10" name="service pill"/>
          <p:cNvSpPr/>
          <p:nvPr/>
        </p:nvSpPr>
        <p:spPr>
          <a:xfrm>
            <a:off x="8823960" y="4572000"/>
            <a:ext cx="2468880" cy="731520"/>
          </a:xfrm>
          <a:prstGeom prst="roundRect">
            <a:avLst>
              <a:gd name="adj" fmla="val 50000"/>
            </a:avLst>
          </a:prstGeom>
          <a:solidFill>
            <a:srgbClr val="EA580C"/>
          </a:solidFill>
          <a:ln w="12700">
            <a:solidFill>
              <a:srgbClr val="EA580C"/>
            </a:solidFill>
            <a:prstDash val="solid"/>
          </a:ln>
        </p:spPr>
      </p:sp>
      <p:sp>
        <p:nvSpPr>
          <p:cNvPr id="11" name="Text 9"/>
          <p:cNvSpPr txBox="1"/>
          <p:nvPr/>
        </p:nvSpPr>
        <p:spPr>
          <a:xfrm>
            <a:off x="8823960" y="4572000"/>
            <a:ext cx="2468880" cy="731520"/>
          </a:xfrm>
          <a:prstGeom prst="rect">
            <a:avLst/>
          </a:prstGeom>
          <a:noFill/>
          <a:ln/>
        </p:spPr>
        <p:txBody>
          <a:bodyPr wrap="square" lIns="0" tIns="0" rIns="0" bIns="0" rtlCol="0" anchor="ctr"/>
          <a:lstStyle/>
          <a:p>
            <a:pPr algn="ctr" indent="0" marL="0">
              <a:buNone/>
            </a:pPr>
            <a:r>
              <a:rPr lang="en-US" sz="1500" b="1" dirty="0">
                <a:solidFill>
                  <a:srgbClr val="FFFFFF"/>
                </a:solidFill>
              </a:rPr>
              <a:t>Notification Service</a:t>
            </a:r>
            <a:endParaRPr lang="en-US" sz="1500" dirty="0"/>
          </a:p>
          <a:p>
            <a:pPr algn="ctr" indent="0" marL="0">
              <a:buNone/>
            </a:pPr>
            <a:r>
              <a:rPr lang="en-US" sz="1100" dirty="0">
                <a:solidFill>
                  <a:srgbClr val="E2E8F0"/>
                </a:solidFill>
              </a:rPr>
              <a:t>port 8004</a:t>
            </a:r>
            <a:endParaRPr lang="en-US" sz="1500" dirty="0"/>
          </a:p>
        </p:txBody>
      </p:sp>
      <p:sp>
        <p:nvSpPr>
          <p:cNvPr id="12" name="Text 10"/>
          <p:cNvSpPr txBox="1"/>
          <p:nvPr/>
        </p:nvSpPr>
        <p:spPr>
          <a:xfrm>
            <a:off x="731520" y="5806440"/>
            <a:ext cx="10698480" cy="365760"/>
          </a:xfrm>
          <a:prstGeom prst="rect">
            <a:avLst/>
          </a:prstGeom>
          <a:noFill/>
          <a:ln/>
        </p:spPr>
        <p:txBody>
          <a:bodyPr wrap="square" lIns="0" tIns="0" rIns="0" bIns="0" rtlCol="0" anchor="ctr"/>
          <a:lstStyle/>
          <a:p>
            <a:pPr indent="0" marL="0">
              <a:buNone/>
            </a:pPr>
            <a:r>
              <a:rPr lang="en-US" sz="1400" dirty="0">
                <a:solidFill>
                  <a:srgbClr val="94A3B8"/>
                </a:solidFill>
              </a:rPr>
              <a:t>Cloud Computing Lab Evaluation  ·  FastAPI · SQLite · Docker Compose · Locust · Streamlit</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235440" cy="777240"/>
          </a:xfrm>
          <a:prstGeom prst="rect">
            <a:avLst/>
          </a:prstGeom>
          <a:noFill/>
          <a:ln/>
        </p:spPr>
        <p:txBody>
          <a:bodyPr wrap="square" lIns="0" tIns="0" rIns="0" bIns="0" rtlCol="0" anchor="ctr"/>
          <a:lstStyle/>
          <a:p>
            <a:pPr algn="l" indent="0" marL="0">
              <a:buNone/>
            </a:pPr>
            <a:r>
              <a:rPr lang="en-US" sz="2800" b="1" dirty="0">
                <a:solidFill>
                  <a:schemeClr val="tx1"/>
                </a:solidFill>
              </a:rPr>
              <a:t>Five checkpoints, shown in order</a:t>
            </a:r>
            <a:endParaRPr lang="en-US" sz="2800" dirty="0"/>
          </a:p>
        </p:txBody>
      </p:sp>
      <p:sp>
        <p:nvSpPr>
          <p:cNvPr id="4" name="card"/>
          <p:cNvSpPr/>
          <p:nvPr/>
        </p:nvSpPr>
        <p:spPr>
          <a:xfrm>
            <a:off x="548640" y="1463040"/>
            <a:ext cx="2057400" cy="3566160"/>
          </a:xfrm>
          <a:prstGeom prst="roundRect">
            <a:avLst>
              <a:gd name="adj" fmla="val 5333"/>
            </a:avLst>
          </a:prstGeom>
          <a:solidFill>
            <a:srgbClr val="F1F5F9"/>
          </a:solidFill>
          <a:ln w="12700">
            <a:solidFill>
              <a:srgbClr val="F1F5F9"/>
            </a:solidFill>
            <a:prstDash val="solid"/>
          </a:ln>
        </p:spPr>
      </p:sp>
      <p:sp>
        <p:nvSpPr>
          <p:cNvPr id="5" name="dot"/>
          <p:cNvSpPr/>
          <p:nvPr/>
        </p:nvSpPr>
        <p:spPr>
          <a:xfrm>
            <a:off x="731520" y="1691640"/>
            <a:ext cx="685800" cy="685800"/>
          </a:xfrm>
          <a:prstGeom prst="ellipse">
            <a:avLst/>
          </a:prstGeom>
          <a:solidFill>
            <a:srgbClr val="0D9488"/>
          </a:solidFill>
          <a:ln w="12700">
            <a:solidFill>
              <a:srgbClr val="0D9488"/>
            </a:solidFill>
            <a:prstDash val="solid"/>
          </a:ln>
        </p:spPr>
      </p:sp>
      <p:sp>
        <p:nvSpPr>
          <p:cNvPr id="6" name="Text 3"/>
          <p:cNvSpPr txBox="1"/>
          <p:nvPr/>
        </p:nvSpPr>
        <p:spPr>
          <a:xfrm>
            <a:off x="731520" y="1691640"/>
            <a:ext cx="685800" cy="685800"/>
          </a:xfrm>
          <a:prstGeom prst="rect">
            <a:avLst/>
          </a:prstGeom>
          <a:noFill/>
          <a:ln/>
        </p:spPr>
        <p:txBody>
          <a:bodyPr wrap="square" lIns="0" tIns="0" rIns="0" bIns="0" rtlCol="0" anchor="ctr"/>
          <a:lstStyle/>
          <a:p>
            <a:pPr algn="ctr" indent="0" marL="0">
              <a:buNone/>
            </a:pPr>
            <a:r>
              <a:rPr lang="en-US" sz="1400" b="1" dirty="0">
                <a:solidFill>
                  <a:srgbClr val="FFFFFF"/>
                </a:solidFill>
              </a:rPr>
              <a:t>CP1</a:t>
            </a:r>
            <a:endParaRPr lang="en-US" sz="1400" dirty="0"/>
          </a:p>
        </p:txBody>
      </p:sp>
      <p:sp>
        <p:nvSpPr>
          <p:cNvPr id="7" name="Text 4"/>
          <p:cNvSpPr txBox="1"/>
          <p:nvPr/>
        </p:nvSpPr>
        <p:spPr>
          <a:xfrm>
            <a:off x="731520" y="2514600"/>
            <a:ext cx="1737360" cy="640080"/>
          </a:xfrm>
          <a:prstGeom prst="rect">
            <a:avLst/>
          </a:prstGeom>
          <a:noFill/>
          <a:ln/>
        </p:spPr>
        <p:txBody>
          <a:bodyPr wrap="square" lIns="0" tIns="0" rIns="0" bIns="0" rtlCol="0" anchor="t"/>
          <a:lstStyle/>
          <a:p>
            <a:pPr indent="0" marL="0">
              <a:buNone/>
            </a:pPr>
            <a:r>
              <a:rPr lang="en-US" sz="1700" b="1" dirty="0">
                <a:solidFill>
                  <a:schemeClr val="tx1"/>
                </a:solidFill>
              </a:rPr>
              <a:t>Design &amp; develop</a:t>
            </a:r>
            <a:endParaRPr lang="en-US" sz="1700" dirty="0"/>
          </a:p>
        </p:txBody>
      </p:sp>
      <p:sp>
        <p:nvSpPr>
          <p:cNvPr id="8" name="Text 5"/>
          <p:cNvSpPr txBox="1"/>
          <p:nvPr/>
        </p:nvSpPr>
        <p:spPr>
          <a:xfrm>
            <a:off x="731520" y="3154680"/>
            <a:ext cx="1737360" cy="1371600"/>
          </a:xfrm>
          <a:prstGeom prst="rect">
            <a:avLst/>
          </a:prstGeom>
          <a:noFill/>
          <a:ln/>
        </p:spPr>
        <p:txBody>
          <a:bodyPr wrap="square" lIns="0" tIns="0" rIns="0" bIns="0" rtlCol="0" anchor="t"/>
          <a:lstStyle/>
          <a:p>
            <a:pPr indent="0" marL="0">
              <a:buNone/>
            </a:pPr>
            <a:r>
              <a:rPr lang="en-US" sz="1300" dirty="0">
                <a:solidFill>
                  <a:schemeClr val="tx2"/>
                </a:solidFill>
              </a:rPr>
              <a:t>4 FastAPI services, own DB each, REST APIs tested in Swagger</a:t>
            </a:r>
            <a:endParaRPr lang="en-US" sz="1300" dirty="0"/>
          </a:p>
        </p:txBody>
      </p:sp>
      <p:sp>
        <p:nvSpPr>
          <p:cNvPr id="9" name="Text 6"/>
          <p:cNvSpPr txBox="1"/>
          <p:nvPr/>
        </p:nvSpPr>
        <p:spPr>
          <a:xfrm>
            <a:off x="731520" y="4572000"/>
            <a:ext cx="1737360" cy="320040"/>
          </a:xfrm>
          <a:prstGeom prst="rect">
            <a:avLst/>
          </a:prstGeom>
          <a:noFill/>
          <a:ln/>
        </p:spPr>
        <p:txBody>
          <a:bodyPr wrap="square" lIns="0" tIns="0" rIns="0" bIns="0" rtlCol="0" anchor="ctr"/>
          <a:lstStyle/>
          <a:p>
            <a:pPr indent="0" marL="0">
              <a:buNone/>
            </a:pPr>
            <a:r>
              <a:rPr lang="en-US" sz="1150" b="1" dirty="0">
                <a:solidFill>
                  <a:srgbClr val="0D9488"/>
                </a:solidFill>
              </a:rPr>
              <a:t>Screens 01–22</a:t>
            </a:r>
            <a:endParaRPr lang="en-US" sz="1150" dirty="0"/>
          </a:p>
        </p:txBody>
      </p:sp>
      <p:sp>
        <p:nvSpPr>
          <p:cNvPr id="10" name="card"/>
          <p:cNvSpPr/>
          <p:nvPr/>
        </p:nvSpPr>
        <p:spPr>
          <a:xfrm>
            <a:off x="2788920" y="1463040"/>
            <a:ext cx="2057400" cy="3566160"/>
          </a:xfrm>
          <a:prstGeom prst="roundRect">
            <a:avLst>
              <a:gd name="adj" fmla="val 5333"/>
            </a:avLst>
          </a:prstGeom>
          <a:solidFill>
            <a:srgbClr val="F1F5F9"/>
          </a:solidFill>
          <a:ln w="12700">
            <a:solidFill>
              <a:srgbClr val="F1F5F9"/>
            </a:solidFill>
            <a:prstDash val="solid"/>
          </a:ln>
        </p:spPr>
      </p:sp>
      <p:sp>
        <p:nvSpPr>
          <p:cNvPr id="11" name="dot"/>
          <p:cNvSpPr/>
          <p:nvPr/>
        </p:nvSpPr>
        <p:spPr>
          <a:xfrm>
            <a:off x="2971800" y="1691640"/>
            <a:ext cx="685800" cy="685800"/>
          </a:xfrm>
          <a:prstGeom prst="ellipse">
            <a:avLst/>
          </a:prstGeom>
          <a:solidFill>
            <a:srgbClr val="2563EB"/>
          </a:solidFill>
          <a:ln w="12700">
            <a:solidFill>
              <a:srgbClr val="2563EB"/>
            </a:solidFill>
            <a:prstDash val="solid"/>
          </a:ln>
        </p:spPr>
      </p:sp>
      <p:sp>
        <p:nvSpPr>
          <p:cNvPr id="12" name="Text 9"/>
          <p:cNvSpPr txBox="1"/>
          <p:nvPr/>
        </p:nvSpPr>
        <p:spPr>
          <a:xfrm>
            <a:off x="2971800" y="1691640"/>
            <a:ext cx="685800" cy="685800"/>
          </a:xfrm>
          <a:prstGeom prst="rect">
            <a:avLst/>
          </a:prstGeom>
          <a:noFill/>
          <a:ln/>
        </p:spPr>
        <p:txBody>
          <a:bodyPr wrap="square" lIns="0" tIns="0" rIns="0" bIns="0" rtlCol="0" anchor="ctr"/>
          <a:lstStyle/>
          <a:p>
            <a:pPr algn="ctr" indent="0" marL="0">
              <a:buNone/>
            </a:pPr>
            <a:r>
              <a:rPr lang="en-US" sz="1400" b="1" dirty="0">
                <a:solidFill>
                  <a:srgbClr val="FFFFFF"/>
                </a:solidFill>
              </a:rPr>
              <a:t>CP2</a:t>
            </a:r>
            <a:endParaRPr lang="en-US" sz="1400" dirty="0"/>
          </a:p>
        </p:txBody>
      </p:sp>
      <p:sp>
        <p:nvSpPr>
          <p:cNvPr id="13" name="Text 10"/>
          <p:cNvSpPr txBox="1"/>
          <p:nvPr/>
        </p:nvSpPr>
        <p:spPr>
          <a:xfrm>
            <a:off x="2971800" y="2514600"/>
            <a:ext cx="1737360" cy="640080"/>
          </a:xfrm>
          <a:prstGeom prst="rect">
            <a:avLst/>
          </a:prstGeom>
          <a:noFill/>
          <a:ln/>
        </p:spPr>
        <p:txBody>
          <a:bodyPr wrap="square" lIns="0" tIns="0" rIns="0" bIns="0" rtlCol="0" anchor="t"/>
          <a:lstStyle/>
          <a:p>
            <a:pPr indent="0" marL="0">
              <a:buNone/>
            </a:pPr>
            <a:r>
              <a:rPr lang="en-US" sz="1700" b="1" dirty="0">
                <a:solidFill>
                  <a:schemeClr val="tx1"/>
                </a:solidFill>
              </a:rPr>
              <a:t>Containerize &amp; deploy</a:t>
            </a:r>
            <a:endParaRPr lang="en-US" sz="1700" dirty="0"/>
          </a:p>
        </p:txBody>
      </p:sp>
      <p:sp>
        <p:nvSpPr>
          <p:cNvPr id="14" name="Text 11"/>
          <p:cNvSpPr txBox="1"/>
          <p:nvPr/>
        </p:nvSpPr>
        <p:spPr>
          <a:xfrm>
            <a:off x="2971800" y="3154680"/>
            <a:ext cx="1737360" cy="1371600"/>
          </a:xfrm>
          <a:prstGeom prst="rect">
            <a:avLst/>
          </a:prstGeom>
          <a:noFill/>
          <a:ln/>
        </p:spPr>
        <p:txBody>
          <a:bodyPr wrap="square" lIns="0" tIns="0" rIns="0" bIns="0" rtlCol="0" anchor="t"/>
          <a:lstStyle/>
          <a:p>
            <a:pPr indent="0" marL="0">
              <a:buNone/>
            </a:pPr>
            <a:r>
              <a:rPr lang="en-US" sz="1300" dirty="0">
                <a:solidFill>
                  <a:schemeClr val="tx2"/>
                </a:solidFill>
              </a:rPr>
              <a:t>Dockerfile per service, 5 images, one docker compose up</a:t>
            </a:r>
            <a:endParaRPr lang="en-US" sz="1300" dirty="0"/>
          </a:p>
        </p:txBody>
      </p:sp>
      <p:sp>
        <p:nvSpPr>
          <p:cNvPr id="15" name="Text 12"/>
          <p:cNvSpPr txBox="1"/>
          <p:nvPr/>
        </p:nvSpPr>
        <p:spPr>
          <a:xfrm>
            <a:off x="2971800" y="4572000"/>
            <a:ext cx="1737360" cy="320040"/>
          </a:xfrm>
          <a:prstGeom prst="rect">
            <a:avLst/>
          </a:prstGeom>
          <a:noFill/>
          <a:ln/>
        </p:spPr>
        <p:txBody>
          <a:bodyPr wrap="square" lIns="0" tIns="0" rIns="0" bIns="0" rtlCol="0" anchor="ctr"/>
          <a:lstStyle/>
          <a:p>
            <a:pPr indent="0" marL="0">
              <a:buNone/>
            </a:pPr>
            <a:r>
              <a:rPr lang="en-US" sz="1150" b="1" dirty="0">
                <a:solidFill>
                  <a:srgbClr val="2563EB"/>
                </a:solidFill>
              </a:rPr>
              <a:t>Screens 23–26</a:t>
            </a:r>
            <a:endParaRPr lang="en-US" sz="1150" dirty="0"/>
          </a:p>
        </p:txBody>
      </p:sp>
      <p:sp>
        <p:nvSpPr>
          <p:cNvPr id="16" name="card"/>
          <p:cNvSpPr/>
          <p:nvPr/>
        </p:nvSpPr>
        <p:spPr>
          <a:xfrm>
            <a:off x="5029200" y="1463040"/>
            <a:ext cx="2057400" cy="3566160"/>
          </a:xfrm>
          <a:prstGeom prst="roundRect">
            <a:avLst>
              <a:gd name="adj" fmla="val 5333"/>
            </a:avLst>
          </a:prstGeom>
          <a:solidFill>
            <a:srgbClr val="F1F5F9"/>
          </a:solidFill>
          <a:ln w="12700">
            <a:solidFill>
              <a:srgbClr val="F1F5F9"/>
            </a:solidFill>
            <a:prstDash val="solid"/>
          </a:ln>
        </p:spPr>
      </p:sp>
      <p:sp>
        <p:nvSpPr>
          <p:cNvPr id="17" name="dot"/>
          <p:cNvSpPr/>
          <p:nvPr/>
        </p:nvSpPr>
        <p:spPr>
          <a:xfrm>
            <a:off x="5212080" y="1691640"/>
            <a:ext cx="685800" cy="685800"/>
          </a:xfrm>
          <a:prstGeom prst="ellipse">
            <a:avLst/>
          </a:prstGeom>
          <a:solidFill>
            <a:srgbClr val="16A34A"/>
          </a:solidFill>
          <a:ln w="12700">
            <a:solidFill>
              <a:srgbClr val="16A34A"/>
            </a:solidFill>
            <a:prstDash val="solid"/>
          </a:ln>
        </p:spPr>
      </p:sp>
      <p:sp>
        <p:nvSpPr>
          <p:cNvPr id="18" name="Text 15"/>
          <p:cNvSpPr txBox="1"/>
          <p:nvPr/>
        </p:nvSpPr>
        <p:spPr>
          <a:xfrm>
            <a:off x="5212080" y="1691640"/>
            <a:ext cx="685800" cy="685800"/>
          </a:xfrm>
          <a:prstGeom prst="rect">
            <a:avLst/>
          </a:prstGeom>
          <a:noFill/>
          <a:ln/>
        </p:spPr>
        <p:txBody>
          <a:bodyPr wrap="square" lIns="0" tIns="0" rIns="0" bIns="0" rtlCol="0" anchor="ctr"/>
          <a:lstStyle/>
          <a:p>
            <a:pPr algn="ctr" indent="0" marL="0">
              <a:buNone/>
            </a:pPr>
            <a:r>
              <a:rPr lang="en-US" sz="1400" b="1" dirty="0">
                <a:solidFill>
                  <a:srgbClr val="FFFFFF"/>
                </a:solidFill>
              </a:rPr>
              <a:t>CP3</a:t>
            </a:r>
            <a:endParaRPr lang="en-US" sz="1400" dirty="0"/>
          </a:p>
        </p:txBody>
      </p:sp>
      <p:sp>
        <p:nvSpPr>
          <p:cNvPr id="19" name="Text 16"/>
          <p:cNvSpPr txBox="1"/>
          <p:nvPr/>
        </p:nvSpPr>
        <p:spPr>
          <a:xfrm>
            <a:off x="5212080" y="2514600"/>
            <a:ext cx="1737360" cy="640080"/>
          </a:xfrm>
          <a:prstGeom prst="rect">
            <a:avLst/>
          </a:prstGeom>
          <a:noFill/>
          <a:ln/>
        </p:spPr>
        <p:txBody>
          <a:bodyPr wrap="square" lIns="0" tIns="0" rIns="0" bIns="0" rtlCol="0" anchor="t"/>
          <a:lstStyle/>
          <a:p>
            <a:pPr indent="0" marL="0">
              <a:buNone/>
            </a:pPr>
            <a:r>
              <a:rPr lang="en-US" sz="1700" b="1" dirty="0">
                <a:solidFill>
                  <a:schemeClr val="tx1"/>
                </a:solidFill>
              </a:rPr>
              <a:t>Communicate</a:t>
            </a:r>
            <a:endParaRPr lang="en-US" sz="1700" dirty="0"/>
          </a:p>
        </p:txBody>
      </p:sp>
      <p:sp>
        <p:nvSpPr>
          <p:cNvPr id="20" name="Text 17"/>
          <p:cNvSpPr txBox="1"/>
          <p:nvPr/>
        </p:nvSpPr>
        <p:spPr>
          <a:xfrm>
            <a:off x="5212080" y="3154680"/>
            <a:ext cx="1737360" cy="1371600"/>
          </a:xfrm>
          <a:prstGeom prst="rect">
            <a:avLst/>
          </a:prstGeom>
          <a:noFill/>
          <a:ln/>
        </p:spPr>
        <p:txBody>
          <a:bodyPr wrap="square" lIns="0" tIns="0" rIns="0" bIns="0" rtlCol="0" anchor="t"/>
          <a:lstStyle/>
          <a:p>
            <a:pPr indent="0" marL="0">
              <a:buNone/>
            </a:pPr>
            <a:r>
              <a:rPr lang="en-US" sz="1300" dirty="0">
                <a:solidFill>
                  <a:schemeClr val="tx2"/>
                </a:solidFill>
              </a:rPr>
              <a:t>library-net network, calls by service name, end-to-end borrow</a:t>
            </a:r>
            <a:endParaRPr lang="en-US" sz="1300" dirty="0"/>
          </a:p>
        </p:txBody>
      </p:sp>
      <p:sp>
        <p:nvSpPr>
          <p:cNvPr id="21" name="Text 18"/>
          <p:cNvSpPr txBox="1"/>
          <p:nvPr/>
        </p:nvSpPr>
        <p:spPr>
          <a:xfrm>
            <a:off x="5212080" y="4572000"/>
            <a:ext cx="1737360" cy="320040"/>
          </a:xfrm>
          <a:prstGeom prst="rect">
            <a:avLst/>
          </a:prstGeom>
          <a:noFill/>
          <a:ln/>
        </p:spPr>
        <p:txBody>
          <a:bodyPr wrap="square" lIns="0" tIns="0" rIns="0" bIns="0" rtlCol="0" anchor="ctr"/>
          <a:lstStyle/>
          <a:p>
            <a:pPr indent="0" marL="0">
              <a:buNone/>
            </a:pPr>
            <a:r>
              <a:rPr lang="en-US" sz="1150" b="1" dirty="0">
                <a:solidFill>
                  <a:srgbClr val="16A34A"/>
                </a:solidFill>
              </a:rPr>
              <a:t>Screens 27–34</a:t>
            </a:r>
            <a:endParaRPr lang="en-US" sz="1150" dirty="0"/>
          </a:p>
        </p:txBody>
      </p:sp>
      <p:sp>
        <p:nvSpPr>
          <p:cNvPr id="22" name="card"/>
          <p:cNvSpPr/>
          <p:nvPr/>
        </p:nvSpPr>
        <p:spPr>
          <a:xfrm>
            <a:off x="7269480" y="1463040"/>
            <a:ext cx="2057400" cy="3566160"/>
          </a:xfrm>
          <a:prstGeom prst="roundRect">
            <a:avLst>
              <a:gd name="adj" fmla="val 5333"/>
            </a:avLst>
          </a:prstGeom>
          <a:solidFill>
            <a:srgbClr val="F1F5F9"/>
          </a:solidFill>
          <a:ln w="12700">
            <a:solidFill>
              <a:srgbClr val="F1F5F9"/>
            </a:solidFill>
            <a:prstDash val="solid"/>
          </a:ln>
        </p:spPr>
      </p:sp>
      <p:sp>
        <p:nvSpPr>
          <p:cNvPr id="23" name="dot"/>
          <p:cNvSpPr/>
          <p:nvPr/>
        </p:nvSpPr>
        <p:spPr>
          <a:xfrm>
            <a:off x="7452360" y="1691640"/>
            <a:ext cx="685800" cy="685800"/>
          </a:xfrm>
          <a:prstGeom prst="ellipse">
            <a:avLst/>
          </a:prstGeom>
          <a:solidFill>
            <a:srgbClr val="EA580C"/>
          </a:solidFill>
          <a:ln w="12700">
            <a:solidFill>
              <a:srgbClr val="EA580C"/>
            </a:solidFill>
            <a:prstDash val="solid"/>
          </a:ln>
        </p:spPr>
      </p:sp>
      <p:sp>
        <p:nvSpPr>
          <p:cNvPr id="24" name="Text 21"/>
          <p:cNvSpPr txBox="1"/>
          <p:nvPr/>
        </p:nvSpPr>
        <p:spPr>
          <a:xfrm>
            <a:off x="7452360" y="1691640"/>
            <a:ext cx="685800" cy="685800"/>
          </a:xfrm>
          <a:prstGeom prst="rect">
            <a:avLst/>
          </a:prstGeom>
          <a:noFill/>
          <a:ln/>
        </p:spPr>
        <p:txBody>
          <a:bodyPr wrap="square" lIns="0" tIns="0" rIns="0" bIns="0" rtlCol="0" anchor="ctr"/>
          <a:lstStyle/>
          <a:p>
            <a:pPr algn="ctr" indent="0" marL="0">
              <a:buNone/>
            </a:pPr>
            <a:r>
              <a:rPr lang="en-US" sz="1400" b="1" dirty="0">
                <a:solidFill>
                  <a:srgbClr val="FFFFFF"/>
                </a:solidFill>
              </a:rPr>
              <a:t>CP4</a:t>
            </a:r>
            <a:endParaRPr lang="en-US" sz="1400" dirty="0"/>
          </a:p>
        </p:txBody>
      </p:sp>
      <p:sp>
        <p:nvSpPr>
          <p:cNvPr id="25" name="Text 22"/>
          <p:cNvSpPr txBox="1"/>
          <p:nvPr/>
        </p:nvSpPr>
        <p:spPr>
          <a:xfrm>
            <a:off x="7452360" y="2514600"/>
            <a:ext cx="1737360" cy="640080"/>
          </a:xfrm>
          <a:prstGeom prst="rect">
            <a:avLst/>
          </a:prstGeom>
          <a:noFill/>
          <a:ln/>
        </p:spPr>
        <p:txBody>
          <a:bodyPr wrap="square" lIns="0" tIns="0" rIns="0" bIns="0" rtlCol="0" anchor="t"/>
          <a:lstStyle/>
          <a:p>
            <a:pPr indent="0" marL="0">
              <a:buNone/>
            </a:pPr>
            <a:r>
              <a:rPr lang="en-US" sz="1700" b="1" dirty="0">
                <a:solidFill>
                  <a:schemeClr val="tx1"/>
                </a:solidFill>
              </a:rPr>
              <a:t>Load &amp; monitor</a:t>
            </a:r>
            <a:endParaRPr lang="en-US" sz="1700" dirty="0"/>
          </a:p>
        </p:txBody>
      </p:sp>
      <p:sp>
        <p:nvSpPr>
          <p:cNvPr id="26" name="Text 23"/>
          <p:cNvSpPr txBox="1"/>
          <p:nvPr/>
        </p:nvSpPr>
        <p:spPr>
          <a:xfrm>
            <a:off x="7452360" y="3154680"/>
            <a:ext cx="1737360" cy="1371600"/>
          </a:xfrm>
          <a:prstGeom prst="rect">
            <a:avLst/>
          </a:prstGeom>
          <a:noFill/>
          <a:ln/>
        </p:spPr>
        <p:txBody>
          <a:bodyPr wrap="square" lIns="0" tIns="0" rIns="0" bIns="0" rtlCol="0" anchor="t"/>
          <a:lstStyle/>
          <a:p>
            <a:pPr indent="0" marL="0">
              <a:buNone/>
            </a:pPr>
            <a:r>
              <a:rPr lang="en-US" sz="1300" dirty="0">
                <a:solidFill>
                  <a:schemeClr val="tx2"/>
                </a:solidFill>
              </a:rPr>
              <a:t>Locust W1–W5 (1–16 users) + docker stats on every container</a:t>
            </a:r>
            <a:endParaRPr lang="en-US" sz="1300" dirty="0"/>
          </a:p>
        </p:txBody>
      </p:sp>
      <p:sp>
        <p:nvSpPr>
          <p:cNvPr id="27" name="Text 24"/>
          <p:cNvSpPr txBox="1"/>
          <p:nvPr/>
        </p:nvSpPr>
        <p:spPr>
          <a:xfrm>
            <a:off x="7452360" y="4572000"/>
            <a:ext cx="1737360" cy="320040"/>
          </a:xfrm>
          <a:prstGeom prst="rect">
            <a:avLst/>
          </a:prstGeom>
          <a:noFill/>
          <a:ln/>
        </p:spPr>
        <p:txBody>
          <a:bodyPr wrap="square" lIns="0" tIns="0" rIns="0" bIns="0" rtlCol="0" anchor="ctr"/>
          <a:lstStyle/>
          <a:p>
            <a:pPr indent="0" marL="0">
              <a:buNone/>
            </a:pPr>
            <a:r>
              <a:rPr lang="en-US" sz="1150" b="1" dirty="0">
                <a:solidFill>
                  <a:srgbClr val="EA580C"/>
                </a:solidFill>
              </a:rPr>
              <a:t>Screens 35–45</a:t>
            </a:r>
            <a:endParaRPr lang="en-US" sz="1150" dirty="0"/>
          </a:p>
        </p:txBody>
      </p:sp>
      <p:sp>
        <p:nvSpPr>
          <p:cNvPr id="28" name="card"/>
          <p:cNvSpPr/>
          <p:nvPr/>
        </p:nvSpPr>
        <p:spPr>
          <a:xfrm>
            <a:off x="9509760" y="1463040"/>
            <a:ext cx="2057400" cy="3566160"/>
          </a:xfrm>
          <a:prstGeom prst="roundRect">
            <a:avLst>
              <a:gd name="adj" fmla="val 5333"/>
            </a:avLst>
          </a:prstGeom>
          <a:solidFill>
            <a:srgbClr val="F1F5F9"/>
          </a:solidFill>
          <a:ln w="12700">
            <a:solidFill>
              <a:srgbClr val="F1F5F9"/>
            </a:solidFill>
            <a:prstDash val="solid"/>
          </a:ln>
        </p:spPr>
      </p:sp>
      <p:sp>
        <p:nvSpPr>
          <p:cNvPr id="29" name="dot"/>
          <p:cNvSpPr/>
          <p:nvPr/>
        </p:nvSpPr>
        <p:spPr>
          <a:xfrm>
            <a:off x="9692640" y="1691640"/>
            <a:ext cx="685800" cy="685800"/>
          </a:xfrm>
          <a:prstGeom prst="ellipse">
            <a:avLst/>
          </a:prstGeom>
          <a:solidFill>
            <a:srgbClr val="7C3AED"/>
          </a:solidFill>
          <a:ln w="12700">
            <a:solidFill>
              <a:srgbClr val="7C3AED"/>
            </a:solidFill>
            <a:prstDash val="solid"/>
          </a:ln>
        </p:spPr>
      </p:sp>
      <p:sp>
        <p:nvSpPr>
          <p:cNvPr id="30" name="Text 27"/>
          <p:cNvSpPr txBox="1"/>
          <p:nvPr/>
        </p:nvSpPr>
        <p:spPr>
          <a:xfrm>
            <a:off x="9692640" y="1691640"/>
            <a:ext cx="685800" cy="685800"/>
          </a:xfrm>
          <a:prstGeom prst="rect">
            <a:avLst/>
          </a:prstGeom>
          <a:noFill/>
          <a:ln/>
        </p:spPr>
        <p:txBody>
          <a:bodyPr wrap="square" lIns="0" tIns="0" rIns="0" bIns="0" rtlCol="0" anchor="ctr"/>
          <a:lstStyle/>
          <a:p>
            <a:pPr algn="ctr" indent="0" marL="0">
              <a:buNone/>
            </a:pPr>
            <a:r>
              <a:rPr lang="en-US" sz="1400" b="1" dirty="0">
                <a:solidFill>
                  <a:srgbClr val="FFFFFF"/>
                </a:solidFill>
              </a:rPr>
              <a:t>CP5</a:t>
            </a:r>
            <a:endParaRPr lang="en-US" sz="1400" dirty="0"/>
          </a:p>
        </p:txBody>
      </p:sp>
      <p:sp>
        <p:nvSpPr>
          <p:cNvPr id="31" name="Text 28"/>
          <p:cNvSpPr txBox="1"/>
          <p:nvPr/>
        </p:nvSpPr>
        <p:spPr>
          <a:xfrm>
            <a:off x="9692640" y="2514600"/>
            <a:ext cx="1737360" cy="640080"/>
          </a:xfrm>
          <a:prstGeom prst="rect">
            <a:avLst/>
          </a:prstGeom>
          <a:noFill/>
          <a:ln/>
        </p:spPr>
        <p:txBody>
          <a:bodyPr wrap="square" lIns="0" tIns="0" rIns="0" bIns="0" rtlCol="0" anchor="t"/>
          <a:lstStyle/>
          <a:p>
            <a:pPr indent="0" marL="0">
              <a:buNone/>
            </a:pPr>
            <a:r>
              <a:rPr lang="en-US" sz="1700" b="1" dirty="0">
                <a:solidFill>
                  <a:schemeClr val="tx1"/>
                </a:solidFill>
              </a:rPr>
              <a:t>Analyse</a:t>
            </a:r>
            <a:endParaRPr lang="en-US" sz="1700" dirty="0"/>
          </a:p>
        </p:txBody>
      </p:sp>
      <p:sp>
        <p:nvSpPr>
          <p:cNvPr id="32" name="Text 29"/>
          <p:cNvSpPr txBox="1"/>
          <p:nvPr/>
        </p:nvSpPr>
        <p:spPr>
          <a:xfrm>
            <a:off x="9692640" y="3154680"/>
            <a:ext cx="1737360" cy="1371600"/>
          </a:xfrm>
          <a:prstGeom prst="rect">
            <a:avLst/>
          </a:prstGeom>
          <a:noFill/>
          <a:ln/>
        </p:spPr>
        <p:txBody>
          <a:bodyPr wrap="square" lIns="0" tIns="0" rIns="0" bIns="0" rtlCol="0" anchor="t"/>
          <a:lstStyle/>
          <a:p>
            <a:pPr indent="0" marL="0">
              <a:buNone/>
            </a:pPr>
            <a:r>
              <a:rPr lang="en-US" sz="1300" dirty="0">
                <a:solidFill>
                  <a:schemeClr val="tx2"/>
                </a:solidFill>
              </a:rPr>
              <a:t>Observation table, 9 graphs, bottleneck and degradation explained</a:t>
            </a:r>
            <a:endParaRPr lang="en-US" sz="1300" dirty="0"/>
          </a:p>
        </p:txBody>
      </p:sp>
      <p:sp>
        <p:nvSpPr>
          <p:cNvPr id="33" name="Text 30"/>
          <p:cNvSpPr txBox="1"/>
          <p:nvPr/>
        </p:nvSpPr>
        <p:spPr>
          <a:xfrm>
            <a:off x="9692640" y="4572000"/>
            <a:ext cx="1737360" cy="320040"/>
          </a:xfrm>
          <a:prstGeom prst="rect">
            <a:avLst/>
          </a:prstGeom>
          <a:noFill/>
          <a:ln/>
        </p:spPr>
        <p:txBody>
          <a:bodyPr wrap="square" lIns="0" tIns="0" rIns="0" bIns="0" rtlCol="0" anchor="ctr"/>
          <a:lstStyle/>
          <a:p>
            <a:pPr indent="0" marL="0">
              <a:buNone/>
            </a:pPr>
            <a:r>
              <a:rPr lang="en-US" sz="1150" b="1" dirty="0">
                <a:solidFill>
                  <a:srgbClr val="7C3AED"/>
                </a:solidFill>
              </a:rPr>
              <a:t>Figures 1–9</a:t>
            </a:r>
            <a:endParaRPr lang="en-US" sz="1150" dirty="0"/>
          </a:p>
        </p:txBody>
      </p:sp>
      <p:sp>
        <p:nvSpPr>
          <p:cNvPr id="34" name="flow step"/>
          <p:cNvSpPr/>
          <p:nvPr/>
        </p:nvSpPr>
        <p:spPr>
          <a:xfrm>
            <a:off x="548640" y="5440680"/>
            <a:ext cx="1371600" cy="502920"/>
          </a:xfrm>
          <a:prstGeom prst="chevron">
            <a:avLst/>
          </a:prstGeom>
          <a:solidFill>
            <a:srgbClr val="334155"/>
          </a:solidFill>
          <a:ln w="12700">
            <a:solidFill>
              <a:srgbClr val="FFFFFF"/>
            </a:solidFill>
            <a:prstDash val="solid"/>
          </a:ln>
        </p:spPr>
      </p:sp>
      <p:sp>
        <p:nvSpPr>
          <p:cNvPr id="35" name="Text 32"/>
          <p:cNvSpPr txBox="1"/>
          <p:nvPr/>
        </p:nvSpPr>
        <p:spPr>
          <a:xfrm>
            <a:off x="658368" y="5440680"/>
            <a:ext cx="1188720" cy="502920"/>
          </a:xfrm>
          <a:prstGeom prst="rect">
            <a:avLst/>
          </a:prstGeom>
          <a:noFill/>
          <a:ln/>
        </p:spPr>
        <p:txBody>
          <a:bodyPr wrap="square" lIns="0" tIns="0" rIns="0" bIns="0" rtlCol="0" anchor="ctr"/>
          <a:lstStyle/>
          <a:p>
            <a:pPr algn="ctr" indent="0" marL="0">
              <a:buNone/>
            </a:pPr>
            <a:r>
              <a:rPr lang="en-US" sz="900" b="1" dirty="0">
                <a:solidFill>
                  <a:srgbClr val="FFFFFF"/>
                </a:solidFill>
              </a:rPr>
              <a:t>DEVELOP</a:t>
            </a:r>
            <a:endParaRPr lang="en-US" sz="900" dirty="0"/>
          </a:p>
        </p:txBody>
      </p:sp>
      <p:sp>
        <p:nvSpPr>
          <p:cNvPr id="36" name="flow step"/>
          <p:cNvSpPr/>
          <p:nvPr/>
        </p:nvSpPr>
        <p:spPr>
          <a:xfrm>
            <a:off x="1947672" y="5440680"/>
            <a:ext cx="1371600" cy="502920"/>
          </a:xfrm>
          <a:prstGeom prst="chevron">
            <a:avLst/>
          </a:prstGeom>
          <a:solidFill>
            <a:srgbClr val="334155"/>
          </a:solidFill>
          <a:ln w="12700">
            <a:solidFill>
              <a:srgbClr val="FFFFFF"/>
            </a:solidFill>
            <a:prstDash val="solid"/>
          </a:ln>
        </p:spPr>
      </p:sp>
      <p:sp>
        <p:nvSpPr>
          <p:cNvPr id="37" name="Text 34"/>
          <p:cNvSpPr txBox="1"/>
          <p:nvPr/>
        </p:nvSpPr>
        <p:spPr>
          <a:xfrm>
            <a:off x="2057400" y="5440680"/>
            <a:ext cx="1188720" cy="502920"/>
          </a:xfrm>
          <a:prstGeom prst="rect">
            <a:avLst/>
          </a:prstGeom>
          <a:noFill/>
          <a:ln/>
        </p:spPr>
        <p:txBody>
          <a:bodyPr wrap="square" lIns="0" tIns="0" rIns="0" bIns="0" rtlCol="0" anchor="ctr"/>
          <a:lstStyle/>
          <a:p>
            <a:pPr algn="ctr" indent="0" marL="0">
              <a:buNone/>
            </a:pPr>
            <a:r>
              <a:rPr lang="en-US" sz="900" b="1" dirty="0">
                <a:solidFill>
                  <a:srgbClr val="FFFFFF"/>
                </a:solidFill>
              </a:rPr>
              <a:t>CONTAINERIZE</a:t>
            </a:r>
            <a:endParaRPr lang="en-US" sz="900" dirty="0"/>
          </a:p>
        </p:txBody>
      </p:sp>
      <p:sp>
        <p:nvSpPr>
          <p:cNvPr id="38" name="flow step"/>
          <p:cNvSpPr/>
          <p:nvPr/>
        </p:nvSpPr>
        <p:spPr>
          <a:xfrm>
            <a:off x="3346704" y="5440680"/>
            <a:ext cx="1371600" cy="502920"/>
          </a:xfrm>
          <a:prstGeom prst="chevron">
            <a:avLst/>
          </a:prstGeom>
          <a:solidFill>
            <a:srgbClr val="334155"/>
          </a:solidFill>
          <a:ln w="12700">
            <a:solidFill>
              <a:srgbClr val="FFFFFF"/>
            </a:solidFill>
            <a:prstDash val="solid"/>
          </a:ln>
        </p:spPr>
      </p:sp>
      <p:sp>
        <p:nvSpPr>
          <p:cNvPr id="39" name="Text 36"/>
          <p:cNvSpPr txBox="1"/>
          <p:nvPr/>
        </p:nvSpPr>
        <p:spPr>
          <a:xfrm>
            <a:off x="3456432" y="5440680"/>
            <a:ext cx="1188720" cy="502920"/>
          </a:xfrm>
          <a:prstGeom prst="rect">
            <a:avLst/>
          </a:prstGeom>
          <a:noFill/>
          <a:ln/>
        </p:spPr>
        <p:txBody>
          <a:bodyPr wrap="square" lIns="0" tIns="0" rIns="0" bIns="0" rtlCol="0" anchor="ctr"/>
          <a:lstStyle/>
          <a:p>
            <a:pPr algn="ctr" indent="0" marL="0">
              <a:buNone/>
            </a:pPr>
            <a:r>
              <a:rPr lang="en-US" sz="900" b="1" dirty="0">
                <a:solidFill>
                  <a:srgbClr val="FFFFFF"/>
                </a:solidFill>
              </a:rPr>
              <a:t>DEPLOY</a:t>
            </a:r>
            <a:endParaRPr lang="en-US" sz="900" dirty="0"/>
          </a:p>
        </p:txBody>
      </p:sp>
      <p:sp>
        <p:nvSpPr>
          <p:cNvPr id="40" name="flow step"/>
          <p:cNvSpPr/>
          <p:nvPr/>
        </p:nvSpPr>
        <p:spPr>
          <a:xfrm>
            <a:off x="4745736" y="5440680"/>
            <a:ext cx="1371600" cy="502920"/>
          </a:xfrm>
          <a:prstGeom prst="chevron">
            <a:avLst/>
          </a:prstGeom>
          <a:solidFill>
            <a:srgbClr val="334155"/>
          </a:solidFill>
          <a:ln w="12700">
            <a:solidFill>
              <a:srgbClr val="FFFFFF"/>
            </a:solidFill>
            <a:prstDash val="solid"/>
          </a:ln>
        </p:spPr>
      </p:sp>
      <p:sp>
        <p:nvSpPr>
          <p:cNvPr id="41" name="Text 38"/>
          <p:cNvSpPr txBox="1"/>
          <p:nvPr/>
        </p:nvSpPr>
        <p:spPr>
          <a:xfrm>
            <a:off x="4855464" y="5440680"/>
            <a:ext cx="1188720" cy="502920"/>
          </a:xfrm>
          <a:prstGeom prst="rect">
            <a:avLst/>
          </a:prstGeom>
          <a:noFill/>
          <a:ln/>
        </p:spPr>
        <p:txBody>
          <a:bodyPr wrap="square" lIns="0" tIns="0" rIns="0" bIns="0" rtlCol="0" anchor="ctr"/>
          <a:lstStyle/>
          <a:p>
            <a:pPr algn="ctr" indent="0" marL="0">
              <a:buNone/>
            </a:pPr>
            <a:r>
              <a:rPr lang="en-US" sz="900" b="1" dirty="0">
                <a:solidFill>
                  <a:srgbClr val="FFFFFF"/>
                </a:solidFill>
              </a:rPr>
              <a:t>CONNECT</a:t>
            </a:r>
            <a:endParaRPr lang="en-US" sz="900" dirty="0"/>
          </a:p>
        </p:txBody>
      </p:sp>
      <p:sp>
        <p:nvSpPr>
          <p:cNvPr id="42" name="flow step"/>
          <p:cNvSpPr/>
          <p:nvPr/>
        </p:nvSpPr>
        <p:spPr>
          <a:xfrm>
            <a:off x="6144768" y="5440680"/>
            <a:ext cx="1371600" cy="502920"/>
          </a:xfrm>
          <a:prstGeom prst="chevron">
            <a:avLst/>
          </a:prstGeom>
          <a:solidFill>
            <a:srgbClr val="475569"/>
          </a:solidFill>
          <a:ln w="12700">
            <a:solidFill>
              <a:srgbClr val="FFFFFF"/>
            </a:solidFill>
            <a:prstDash val="solid"/>
          </a:ln>
        </p:spPr>
      </p:sp>
      <p:sp>
        <p:nvSpPr>
          <p:cNvPr id="43" name="Text 40"/>
          <p:cNvSpPr txBox="1"/>
          <p:nvPr/>
        </p:nvSpPr>
        <p:spPr>
          <a:xfrm>
            <a:off x="6254496" y="5440680"/>
            <a:ext cx="1188720" cy="502920"/>
          </a:xfrm>
          <a:prstGeom prst="rect">
            <a:avLst/>
          </a:prstGeom>
          <a:noFill/>
          <a:ln/>
        </p:spPr>
        <p:txBody>
          <a:bodyPr wrap="square" lIns="0" tIns="0" rIns="0" bIns="0" rtlCol="0" anchor="ctr"/>
          <a:lstStyle/>
          <a:p>
            <a:pPr algn="ctr" indent="0" marL="0">
              <a:buNone/>
            </a:pPr>
            <a:r>
              <a:rPr lang="en-US" sz="900" b="1" dirty="0">
                <a:solidFill>
                  <a:srgbClr val="FFFFFF"/>
                </a:solidFill>
              </a:rPr>
              <a:t>LOAD TEST</a:t>
            </a:r>
            <a:endParaRPr lang="en-US" sz="900" dirty="0"/>
          </a:p>
        </p:txBody>
      </p:sp>
      <p:sp>
        <p:nvSpPr>
          <p:cNvPr id="44" name="flow step"/>
          <p:cNvSpPr/>
          <p:nvPr/>
        </p:nvSpPr>
        <p:spPr>
          <a:xfrm>
            <a:off x="7543800" y="5440680"/>
            <a:ext cx="1371600" cy="502920"/>
          </a:xfrm>
          <a:prstGeom prst="chevron">
            <a:avLst/>
          </a:prstGeom>
          <a:solidFill>
            <a:srgbClr val="475569"/>
          </a:solidFill>
          <a:ln w="12700">
            <a:solidFill>
              <a:srgbClr val="FFFFFF"/>
            </a:solidFill>
            <a:prstDash val="solid"/>
          </a:ln>
        </p:spPr>
      </p:sp>
      <p:sp>
        <p:nvSpPr>
          <p:cNvPr id="45" name="Text 42"/>
          <p:cNvSpPr txBox="1"/>
          <p:nvPr/>
        </p:nvSpPr>
        <p:spPr>
          <a:xfrm>
            <a:off x="7653528" y="5440680"/>
            <a:ext cx="1188720" cy="502920"/>
          </a:xfrm>
          <a:prstGeom prst="rect">
            <a:avLst/>
          </a:prstGeom>
          <a:noFill/>
          <a:ln/>
        </p:spPr>
        <p:txBody>
          <a:bodyPr wrap="square" lIns="0" tIns="0" rIns="0" bIns="0" rtlCol="0" anchor="ctr"/>
          <a:lstStyle/>
          <a:p>
            <a:pPr algn="ctr" indent="0" marL="0">
              <a:buNone/>
            </a:pPr>
            <a:r>
              <a:rPr lang="en-US" sz="900" b="1" dirty="0">
                <a:solidFill>
                  <a:srgbClr val="FFFFFF"/>
                </a:solidFill>
              </a:rPr>
              <a:t>MONITOR</a:t>
            </a:r>
            <a:endParaRPr lang="en-US" sz="900" dirty="0"/>
          </a:p>
        </p:txBody>
      </p:sp>
      <p:sp>
        <p:nvSpPr>
          <p:cNvPr id="46" name="flow step"/>
          <p:cNvSpPr/>
          <p:nvPr/>
        </p:nvSpPr>
        <p:spPr>
          <a:xfrm>
            <a:off x="8942832" y="5440680"/>
            <a:ext cx="1371600" cy="502920"/>
          </a:xfrm>
          <a:prstGeom prst="chevron">
            <a:avLst/>
          </a:prstGeom>
          <a:solidFill>
            <a:srgbClr val="475569"/>
          </a:solidFill>
          <a:ln w="12700">
            <a:solidFill>
              <a:srgbClr val="FFFFFF"/>
            </a:solidFill>
            <a:prstDash val="solid"/>
          </a:ln>
        </p:spPr>
      </p:sp>
      <p:sp>
        <p:nvSpPr>
          <p:cNvPr id="47" name="Text 44"/>
          <p:cNvSpPr txBox="1"/>
          <p:nvPr/>
        </p:nvSpPr>
        <p:spPr>
          <a:xfrm>
            <a:off x="9052560" y="5440680"/>
            <a:ext cx="1188720" cy="502920"/>
          </a:xfrm>
          <a:prstGeom prst="rect">
            <a:avLst/>
          </a:prstGeom>
          <a:noFill/>
          <a:ln/>
        </p:spPr>
        <p:txBody>
          <a:bodyPr wrap="square" lIns="0" tIns="0" rIns="0" bIns="0" rtlCol="0" anchor="ctr"/>
          <a:lstStyle/>
          <a:p>
            <a:pPr algn="ctr" indent="0" marL="0">
              <a:buNone/>
            </a:pPr>
            <a:r>
              <a:rPr lang="en-US" sz="900" b="1" dirty="0">
                <a:solidFill>
                  <a:srgbClr val="FFFFFF"/>
                </a:solidFill>
              </a:rPr>
              <a:t>ANALYZE</a:t>
            </a:r>
            <a:endParaRPr lang="en-US" sz="900" dirty="0"/>
          </a:p>
        </p:txBody>
      </p:sp>
      <p:sp>
        <p:nvSpPr>
          <p:cNvPr id="48" name="flow step"/>
          <p:cNvSpPr/>
          <p:nvPr/>
        </p:nvSpPr>
        <p:spPr>
          <a:xfrm>
            <a:off x="10341864" y="5440680"/>
            <a:ext cx="1371600" cy="502920"/>
          </a:xfrm>
          <a:prstGeom prst="chevron">
            <a:avLst/>
          </a:prstGeom>
          <a:solidFill>
            <a:srgbClr val="475569"/>
          </a:solidFill>
          <a:ln w="12700">
            <a:solidFill>
              <a:srgbClr val="FFFFFF"/>
            </a:solidFill>
            <a:prstDash val="solid"/>
          </a:ln>
        </p:spPr>
      </p:sp>
      <p:sp>
        <p:nvSpPr>
          <p:cNvPr id="49" name="Text 46"/>
          <p:cNvSpPr txBox="1"/>
          <p:nvPr/>
        </p:nvSpPr>
        <p:spPr>
          <a:xfrm>
            <a:off x="10451592" y="5440680"/>
            <a:ext cx="1188720" cy="502920"/>
          </a:xfrm>
          <a:prstGeom prst="rect">
            <a:avLst/>
          </a:prstGeom>
          <a:noFill/>
          <a:ln/>
        </p:spPr>
        <p:txBody>
          <a:bodyPr wrap="square" lIns="0" tIns="0" rIns="0" bIns="0" rtlCol="0" anchor="ctr"/>
          <a:lstStyle/>
          <a:p>
            <a:pPr algn="ctr" indent="0" marL="0">
              <a:buNone/>
            </a:pPr>
            <a:r>
              <a:rPr lang="en-US" sz="900" b="1" dirty="0">
                <a:solidFill>
                  <a:srgbClr val="FFFFFF"/>
                </a:solidFill>
              </a:rPr>
              <a:t>DEMONSTRATE</a:t>
            </a:r>
            <a:endParaRPr lang="en-US" sz="900" dirty="0"/>
          </a:p>
        </p:txBody>
      </p:sp>
      <p:sp>
        <p:nvSpPr>
          <p:cNvPr id="25" name="Slide Number Placeholder 0"/>
          <p:cNvSpPr>
            <a:spLocks noGrp="1"/>
          </p:cNvSpPr>
          <p:nvPr>
            <p:ph type="sldNum" sz="quarter" idx="4294967295"/>
          </p:nvPr>
        </p:nvSpPr>
        <p:spPr>
          <a:xfrm>
            <a:off x="1115568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235440" cy="777240"/>
          </a:xfrm>
          <a:prstGeom prst="rect">
            <a:avLst/>
          </a:prstGeom>
          <a:noFill/>
          <a:ln/>
        </p:spPr>
        <p:txBody>
          <a:bodyPr wrap="square" lIns="0" tIns="0" rIns="0" bIns="0" rtlCol="0" anchor="ctr"/>
          <a:lstStyle/>
          <a:p>
            <a:pPr algn="l" indent="0" marL="0">
              <a:buNone/>
            </a:pPr>
            <a:r>
              <a:rPr lang="en-US" sz="2800" b="1" dirty="0">
                <a:solidFill>
                  <a:schemeClr val="tx1"/>
                </a:solidFill>
              </a:rPr>
              <a:t>Aim and the four services</a:t>
            </a:r>
            <a:endParaRPr lang="en-US" sz="2800" dirty="0"/>
          </a:p>
        </p:txBody>
      </p:sp>
      <p:sp>
        <p:nvSpPr>
          <p:cNvPr id="4" name="card"/>
          <p:cNvSpPr/>
          <p:nvPr/>
        </p:nvSpPr>
        <p:spPr>
          <a:xfrm>
            <a:off x="548640" y="1325880"/>
            <a:ext cx="4297680" cy="4892040"/>
          </a:xfrm>
          <a:prstGeom prst="roundRect">
            <a:avLst>
              <a:gd name="adj" fmla="val 2553"/>
            </a:avLst>
          </a:prstGeom>
          <a:solidFill>
            <a:srgbClr val="F1F5F9"/>
          </a:solidFill>
          <a:ln w="12700">
            <a:solidFill>
              <a:srgbClr val="F1F5F9"/>
            </a:solidFill>
            <a:prstDash val="solid"/>
          </a:ln>
        </p:spPr>
      </p:sp>
      <p:sp>
        <p:nvSpPr>
          <p:cNvPr id="5" name="Text 2"/>
          <p:cNvSpPr txBox="1"/>
          <p:nvPr/>
        </p:nvSpPr>
        <p:spPr>
          <a:xfrm>
            <a:off x="777240" y="1508760"/>
            <a:ext cx="3840480" cy="320040"/>
          </a:xfrm>
          <a:prstGeom prst="rect">
            <a:avLst/>
          </a:prstGeom>
          <a:noFill/>
          <a:ln/>
        </p:spPr>
        <p:txBody>
          <a:bodyPr wrap="square" lIns="0" tIns="0" rIns="0" bIns="0" rtlCol="0" anchor="ctr"/>
          <a:lstStyle/>
          <a:p>
            <a:pPr indent="0" marL="0">
              <a:buNone/>
            </a:pPr>
            <a:r>
              <a:rPr lang="en-US" sz="1300" b="1" spc="200" kern="0" dirty="0">
                <a:solidFill>
                  <a:srgbClr val="0D9488"/>
                </a:solidFill>
              </a:rPr>
              <a:t>AIM</a:t>
            </a:r>
            <a:endParaRPr lang="en-US" sz="1300" dirty="0"/>
          </a:p>
        </p:txBody>
      </p:sp>
      <p:sp>
        <p:nvSpPr>
          <p:cNvPr id="6" name="Text 3"/>
          <p:cNvSpPr txBox="1"/>
          <p:nvPr/>
        </p:nvSpPr>
        <p:spPr>
          <a:xfrm>
            <a:off x="777240" y="1874520"/>
            <a:ext cx="3840480" cy="1737360"/>
          </a:xfrm>
          <a:prstGeom prst="rect">
            <a:avLst/>
          </a:prstGeom>
          <a:noFill/>
          <a:ln/>
        </p:spPr>
        <p:txBody>
          <a:bodyPr wrap="square" lIns="0" tIns="0" rIns="0" bIns="0" rtlCol="0" anchor="t"/>
          <a:lstStyle/>
          <a:p>
            <a:pPr indent="0" marL="0">
              <a:buNone/>
            </a:pPr>
            <a:r>
              <a:rPr lang="en-US" sz="1500" dirty="0">
                <a:solidFill>
                  <a:schemeClr val="tx1"/>
                </a:solidFill>
              </a:rPr>
              <a:t>Develop a microservice application, containerize and deploy it with Docker, connect the services, generate varying workloads, monitor resource use and analyse performance.</a:t>
            </a:r>
            <a:endParaRPr lang="en-US" sz="1500" dirty="0"/>
          </a:p>
        </p:txBody>
      </p:sp>
      <p:sp>
        <p:nvSpPr>
          <p:cNvPr id="7" name="Text 4"/>
          <p:cNvSpPr txBox="1"/>
          <p:nvPr/>
        </p:nvSpPr>
        <p:spPr>
          <a:xfrm>
            <a:off x="777240" y="3657600"/>
            <a:ext cx="3840480" cy="320040"/>
          </a:xfrm>
          <a:prstGeom prst="rect">
            <a:avLst/>
          </a:prstGeom>
          <a:noFill/>
          <a:ln/>
        </p:spPr>
        <p:txBody>
          <a:bodyPr wrap="square" lIns="0" tIns="0" rIns="0" bIns="0" rtlCol="0" anchor="ctr"/>
          <a:lstStyle/>
          <a:p>
            <a:pPr indent="0" marL="0">
              <a:buNone/>
            </a:pPr>
            <a:r>
              <a:rPr lang="en-US" sz="1300" b="1" spc="200" kern="0" dirty="0">
                <a:solidFill>
                  <a:srgbClr val="0D9488"/>
                </a:solidFill>
              </a:rPr>
              <a:t>DOMAIN</a:t>
            </a:r>
            <a:endParaRPr lang="en-US" sz="1300" dirty="0"/>
          </a:p>
        </p:txBody>
      </p:sp>
      <p:sp>
        <p:nvSpPr>
          <p:cNvPr id="8" name="Text 5"/>
          <p:cNvSpPr txBox="1"/>
          <p:nvPr/>
        </p:nvSpPr>
        <p:spPr>
          <a:xfrm>
            <a:off x="777240" y="4023360"/>
            <a:ext cx="3840480" cy="1005840"/>
          </a:xfrm>
          <a:prstGeom prst="rect">
            <a:avLst/>
          </a:prstGeom>
          <a:noFill/>
          <a:ln/>
        </p:spPr>
        <p:txBody>
          <a:bodyPr wrap="square" lIns="0" tIns="0" rIns="0" bIns="0" rtlCol="0" anchor="t"/>
          <a:lstStyle/>
          <a:p>
            <a:pPr indent="0" marL="0">
              <a:buNone/>
            </a:pPr>
            <a:r>
              <a:rPr lang="en-US" sz="1500" dirty="0">
                <a:solidFill>
                  <a:schemeClr val="tx1"/>
                </a:solidFill>
              </a:rPr>
              <a:t>Library Management: few tables, and one natural request (borrow a book) that crosses several services.</a:t>
            </a:r>
            <a:endParaRPr lang="en-US" sz="1500" dirty="0"/>
          </a:p>
        </p:txBody>
      </p:sp>
      <p:sp>
        <p:nvSpPr>
          <p:cNvPr id="9" name="Text 6"/>
          <p:cNvSpPr txBox="1"/>
          <p:nvPr/>
        </p:nvSpPr>
        <p:spPr>
          <a:xfrm>
            <a:off x="777240" y="5074920"/>
            <a:ext cx="3840480" cy="1005840"/>
          </a:xfrm>
          <a:prstGeom prst="rect">
            <a:avLst/>
          </a:prstGeom>
          <a:noFill/>
          <a:ln/>
        </p:spPr>
        <p:txBody>
          <a:bodyPr wrap="square" lIns="0" tIns="0" rIns="0" bIns="0" rtlCol="0" anchor="t"/>
          <a:lstStyle/>
          <a:p>
            <a:pPr indent="0" marL="0">
              <a:buNone/>
            </a:pPr>
            <a:r>
              <a:rPr lang="en-US" sz="1200" i="1" dirty="0">
                <a:solidFill>
                  <a:schemeClr val="tx2"/>
                </a:solidFill>
              </a:rPr>
              <a:t>Manual asks for 3 services. The required path Client → Borrow → Member / Book is complete and is the one we load-tested; Notification is an extension.</a:t>
            </a:r>
            <a:endParaRPr lang="en-US" sz="1200" dirty="0"/>
          </a:p>
        </p:txBody>
      </p:sp>
      <p:sp>
        <p:nvSpPr>
          <p:cNvPr id="10" name="card"/>
          <p:cNvSpPr/>
          <p:nvPr/>
        </p:nvSpPr>
        <p:spPr>
          <a:xfrm>
            <a:off x="5120640" y="1325880"/>
            <a:ext cx="3108960" cy="2331720"/>
          </a:xfrm>
          <a:prstGeom prst="roundRect">
            <a:avLst>
              <a:gd name="adj" fmla="val 4706"/>
            </a:avLst>
          </a:prstGeom>
          <a:solidFill>
            <a:srgbClr val="DBEAFE"/>
          </a:solidFill>
          <a:ln w="12700">
            <a:solidFill>
              <a:srgbClr val="DBEAFE"/>
            </a:solidFill>
            <a:prstDash val="solid"/>
          </a:ln>
        </p:spPr>
      </p:sp>
      <p:sp>
        <p:nvSpPr>
          <p:cNvPr id="11" name="dot"/>
          <p:cNvSpPr/>
          <p:nvPr/>
        </p:nvSpPr>
        <p:spPr>
          <a:xfrm>
            <a:off x="5349240" y="1554480"/>
            <a:ext cx="548640" cy="548640"/>
          </a:xfrm>
          <a:prstGeom prst="ellipse">
            <a:avLst/>
          </a:prstGeom>
          <a:solidFill>
            <a:srgbClr val="2563EB"/>
          </a:solidFill>
          <a:ln w="12700">
            <a:solidFill>
              <a:srgbClr val="2563EB"/>
            </a:solidFill>
            <a:prstDash val="solid"/>
          </a:ln>
        </p:spPr>
      </p:sp>
      <p:sp>
        <p:nvSpPr>
          <p:cNvPr id="12" name="Text 9"/>
          <p:cNvSpPr txBox="1"/>
          <p:nvPr/>
        </p:nvSpPr>
        <p:spPr>
          <a:xfrm>
            <a:off x="5349240" y="155448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13" name="Text 10"/>
          <p:cNvSpPr txBox="1"/>
          <p:nvPr/>
        </p:nvSpPr>
        <p:spPr>
          <a:xfrm>
            <a:off x="6035040" y="1527048"/>
            <a:ext cx="2103120" cy="320040"/>
          </a:xfrm>
          <a:prstGeom prst="rect">
            <a:avLst/>
          </a:prstGeom>
          <a:noFill/>
          <a:ln/>
        </p:spPr>
        <p:txBody>
          <a:bodyPr wrap="square" lIns="0" tIns="0" rIns="0" bIns="0" rtlCol="0" anchor="ctr"/>
          <a:lstStyle/>
          <a:p>
            <a:pPr indent="0" marL="0">
              <a:buNone/>
            </a:pPr>
            <a:r>
              <a:rPr lang="en-US" sz="1600" b="1" dirty="0">
                <a:solidFill>
                  <a:srgbClr val="2563EB"/>
                </a:solidFill>
              </a:rPr>
              <a:t>Book Service</a:t>
            </a:r>
            <a:endParaRPr lang="en-US" sz="1600" dirty="0"/>
          </a:p>
        </p:txBody>
      </p:sp>
      <p:sp>
        <p:nvSpPr>
          <p:cNvPr id="14" name="Text 11"/>
          <p:cNvSpPr txBox="1"/>
          <p:nvPr/>
        </p:nvSpPr>
        <p:spPr>
          <a:xfrm>
            <a:off x="6035040" y="1828800"/>
            <a:ext cx="2103120" cy="274320"/>
          </a:xfrm>
          <a:prstGeom prst="rect">
            <a:avLst/>
          </a:prstGeom>
          <a:noFill/>
          <a:ln/>
        </p:spPr>
        <p:txBody>
          <a:bodyPr wrap="square" lIns="0" tIns="0" rIns="0" bIns="0" rtlCol="0" anchor="ctr"/>
          <a:lstStyle/>
          <a:p>
            <a:pPr indent="0" marL="0">
              <a:buNone/>
            </a:pPr>
            <a:r>
              <a:rPr lang="en-US" sz="1200" dirty="0">
                <a:solidFill>
                  <a:schemeClr val="tx2"/>
                </a:solidFill>
              </a:rPr>
              <a:t>port 8001</a:t>
            </a:r>
            <a:endParaRPr lang="en-US" sz="1200" dirty="0"/>
          </a:p>
        </p:txBody>
      </p:sp>
      <p:sp>
        <p:nvSpPr>
          <p:cNvPr id="15" name="Text 12"/>
          <p:cNvSpPr txBox="1"/>
          <p:nvPr/>
        </p:nvSpPr>
        <p:spPr>
          <a:xfrm>
            <a:off x="5349240" y="2286000"/>
            <a:ext cx="2697480" cy="822960"/>
          </a:xfrm>
          <a:prstGeom prst="rect">
            <a:avLst/>
          </a:prstGeom>
          <a:noFill/>
          <a:ln/>
        </p:spPr>
        <p:txBody>
          <a:bodyPr wrap="square" lIns="0" tIns="0" rIns="0" bIns="0" rtlCol="0" anchor="t"/>
          <a:lstStyle/>
          <a:p>
            <a:pPr indent="0" marL="0">
              <a:buNone/>
            </a:pPr>
            <a:r>
              <a:rPr lang="en-US" sz="1400" dirty="0">
                <a:solidFill>
                  <a:schemeClr val="tx1"/>
                </a:solidFill>
              </a:rPr>
              <a:t>Book catalogue and availability</a:t>
            </a:r>
            <a:endParaRPr lang="en-US" sz="1400" dirty="0"/>
          </a:p>
        </p:txBody>
      </p:sp>
      <p:sp>
        <p:nvSpPr>
          <p:cNvPr id="16" name="Text 13"/>
          <p:cNvSpPr txBox="1"/>
          <p:nvPr/>
        </p:nvSpPr>
        <p:spPr>
          <a:xfrm>
            <a:off x="5349240" y="3154680"/>
            <a:ext cx="2697480" cy="320040"/>
          </a:xfrm>
          <a:prstGeom prst="rect">
            <a:avLst/>
          </a:prstGeom>
          <a:noFill/>
          <a:ln/>
        </p:spPr>
        <p:txBody>
          <a:bodyPr wrap="square" lIns="0" tIns="0" rIns="0" bIns="0" rtlCol="0" anchor="ctr"/>
          <a:lstStyle/>
          <a:p>
            <a:pPr indent="0" marL="0">
              <a:buNone/>
            </a:pPr>
            <a:r>
              <a:rPr lang="en-US" sz="1200" dirty="0">
                <a:solidFill>
                  <a:srgbClr val="2563EB"/>
                </a:solidFill>
                <a:latin typeface="Consolas" pitchFamily="34" charset="0"/>
                <a:ea typeface="Consolas" pitchFamily="34" charset="-122"/>
                <a:cs typeface="Consolas" pitchFamily="34" charset="-120"/>
              </a:rPr>
              <a:t>own DB: books.db</a:t>
            </a:r>
            <a:endParaRPr lang="en-US" sz="1200" dirty="0"/>
          </a:p>
        </p:txBody>
      </p:sp>
      <p:sp>
        <p:nvSpPr>
          <p:cNvPr id="17" name="card"/>
          <p:cNvSpPr/>
          <p:nvPr/>
        </p:nvSpPr>
        <p:spPr>
          <a:xfrm>
            <a:off x="8412480" y="1325880"/>
            <a:ext cx="3108960" cy="2331720"/>
          </a:xfrm>
          <a:prstGeom prst="roundRect">
            <a:avLst>
              <a:gd name="adj" fmla="val 4706"/>
            </a:avLst>
          </a:prstGeom>
          <a:solidFill>
            <a:srgbClr val="DCFCE7"/>
          </a:solidFill>
          <a:ln w="12700">
            <a:solidFill>
              <a:srgbClr val="DCFCE7"/>
            </a:solidFill>
            <a:prstDash val="solid"/>
          </a:ln>
        </p:spPr>
      </p:sp>
      <p:sp>
        <p:nvSpPr>
          <p:cNvPr id="18" name="dot"/>
          <p:cNvSpPr/>
          <p:nvPr/>
        </p:nvSpPr>
        <p:spPr>
          <a:xfrm>
            <a:off x="8641080" y="1554480"/>
            <a:ext cx="548640" cy="548640"/>
          </a:xfrm>
          <a:prstGeom prst="ellipse">
            <a:avLst/>
          </a:prstGeom>
          <a:solidFill>
            <a:srgbClr val="16A34A"/>
          </a:solidFill>
          <a:ln w="12700">
            <a:solidFill>
              <a:srgbClr val="16A34A"/>
            </a:solidFill>
            <a:prstDash val="solid"/>
          </a:ln>
        </p:spPr>
      </p:sp>
      <p:sp>
        <p:nvSpPr>
          <p:cNvPr id="19" name="Text 16"/>
          <p:cNvSpPr txBox="1"/>
          <p:nvPr/>
        </p:nvSpPr>
        <p:spPr>
          <a:xfrm>
            <a:off x="8641080" y="155448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20" name="Text 17"/>
          <p:cNvSpPr txBox="1"/>
          <p:nvPr/>
        </p:nvSpPr>
        <p:spPr>
          <a:xfrm>
            <a:off x="9326880" y="1527048"/>
            <a:ext cx="2103120" cy="320040"/>
          </a:xfrm>
          <a:prstGeom prst="rect">
            <a:avLst/>
          </a:prstGeom>
          <a:noFill/>
          <a:ln/>
        </p:spPr>
        <p:txBody>
          <a:bodyPr wrap="square" lIns="0" tIns="0" rIns="0" bIns="0" rtlCol="0" anchor="ctr"/>
          <a:lstStyle/>
          <a:p>
            <a:pPr indent="0" marL="0">
              <a:buNone/>
            </a:pPr>
            <a:r>
              <a:rPr lang="en-US" sz="1600" b="1" dirty="0">
                <a:solidFill>
                  <a:srgbClr val="16A34A"/>
                </a:solidFill>
              </a:rPr>
              <a:t>Member Service</a:t>
            </a:r>
            <a:endParaRPr lang="en-US" sz="1600" dirty="0"/>
          </a:p>
        </p:txBody>
      </p:sp>
      <p:sp>
        <p:nvSpPr>
          <p:cNvPr id="21" name="Text 18"/>
          <p:cNvSpPr txBox="1"/>
          <p:nvPr/>
        </p:nvSpPr>
        <p:spPr>
          <a:xfrm>
            <a:off x="9326880" y="1828800"/>
            <a:ext cx="2103120" cy="274320"/>
          </a:xfrm>
          <a:prstGeom prst="rect">
            <a:avLst/>
          </a:prstGeom>
          <a:noFill/>
          <a:ln/>
        </p:spPr>
        <p:txBody>
          <a:bodyPr wrap="square" lIns="0" tIns="0" rIns="0" bIns="0" rtlCol="0" anchor="ctr"/>
          <a:lstStyle/>
          <a:p>
            <a:pPr indent="0" marL="0">
              <a:buNone/>
            </a:pPr>
            <a:r>
              <a:rPr lang="en-US" sz="1200" dirty="0">
                <a:solidFill>
                  <a:schemeClr val="tx2"/>
                </a:solidFill>
              </a:rPr>
              <a:t>port 8002</a:t>
            </a:r>
            <a:endParaRPr lang="en-US" sz="1200" dirty="0"/>
          </a:p>
        </p:txBody>
      </p:sp>
      <p:sp>
        <p:nvSpPr>
          <p:cNvPr id="22" name="Text 19"/>
          <p:cNvSpPr txBox="1"/>
          <p:nvPr/>
        </p:nvSpPr>
        <p:spPr>
          <a:xfrm>
            <a:off x="8641080" y="2286000"/>
            <a:ext cx="2697480" cy="822960"/>
          </a:xfrm>
          <a:prstGeom prst="rect">
            <a:avLst/>
          </a:prstGeom>
          <a:noFill/>
          <a:ln/>
        </p:spPr>
        <p:txBody>
          <a:bodyPr wrap="square" lIns="0" tIns="0" rIns="0" bIns="0" rtlCol="0" anchor="t"/>
          <a:lstStyle/>
          <a:p>
            <a:pPr indent="0" marL="0">
              <a:buNone/>
            </a:pPr>
            <a:r>
              <a:rPr lang="en-US" sz="1400" dirty="0">
                <a:solidFill>
                  <a:schemeClr val="tx1"/>
                </a:solidFill>
              </a:rPr>
              <a:t>Library members (active or not)</a:t>
            </a:r>
            <a:endParaRPr lang="en-US" sz="1400" dirty="0"/>
          </a:p>
        </p:txBody>
      </p:sp>
      <p:sp>
        <p:nvSpPr>
          <p:cNvPr id="23" name="Text 20"/>
          <p:cNvSpPr txBox="1"/>
          <p:nvPr/>
        </p:nvSpPr>
        <p:spPr>
          <a:xfrm>
            <a:off x="8641080" y="3154680"/>
            <a:ext cx="2697480" cy="320040"/>
          </a:xfrm>
          <a:prstGeom prst="rect">
            <a:avLst/>
          </a:prstGeom>
          <a:noFill/>
          <a:ln/>
        </p:spPr>
        <p:txBody>
          <a:bodyPr wrap="square" lIns="0" tIns="0" rIns="0" bIns="0" rtlCol="0" anchor="ctr"/>
          <a:lstStyle/>
          <a:p>
            <a:pPr indent="0" marL="0">
              <a:buNone/>
            </a:pPr>
            <a:r>
              <a:rPr lang="en-US" sz="1200" dirty="0">
                <a:solidFill>
                  <a:srgbClr val="16A34A"/>
                </a:solidFill>
                <a:latin typeface="Consolas" pitchFamily="34" charset="0"/>
                <a:ea typeface="Consolas" pitchFamily="34" charset="-122"/>
                <a:cs typeface="Consolas" pitchFamily="34" charset="-120"/>
              </a:rPr>
              <a:t>own DB: members.db</a:t>
            </a:r>
            <a:endParaRPr lang="en-US" sz="1200" dirty="0"/>
          </a:p>
        </p:txBody>
      </p:sp>
      <p:sp>
        <p:nvSpPr>
          <p:cNvPr id="24" name="card"/>
          <p:cNvSpPr/>
          <p:nvPr/>
        </p:nvSpPr>
        <p:spPr>
          <a:xfrm>
            <a:off x="5120640" y="3840480"/>
            <a:ext cx="3108960" cy="2331720"/>
          </a:xfrm>
          <a:prstGeom prst="roundRect">
            <a:avLst>
              <a:gd name="adj" fmla="val 4706"/>
            </a:avLst>
          </a:prstGeom>
          <a:solidFill>
            <a:srgbClr val="EDE9FE"/>
          </a:solidFill>
          <a:ln w="12700">
            <a:solidFill>
              <a:srgbClr val="EDE9FE"/>
            </a:solidFill>
            <a:prstDash val="solid"/>
          </a:ln>
        </p:spPr>
      </p:sp>
      <p:sp>
        <p:nvSpPr>
          <p:cNvPr id="25" name="dot"/>
          <p:cNvSpPr/>
          <p:nvPr/>
        </p:nvSpPr>
        <p:spPr>
          <a:xfrm>
            <a:off x="5349240" y="4069080"/>
            <a:ext cx="548640" cy="548640"/>
          </a:xfrm>
          <a:prstGeom prst="ellipse">
            <a:avLst/>
          </a:prstGeom>
          <a:solidFill>
            <a:srgbClr val="7C3AED"/>
          </a:solidFill>
          <a:ln w="12700">
            <a:solidFill>
              <a:srgbClr val="7C3AED"/>
            </a:solidFill>
            <a:prstDash val="solid"/>
          </a:ln>
        </p:spPr>
      </p:sp>
      <p:sp>
        <p:nvSpPr>
          <p:cNvPr id="26" name="Text 23"/>
          <p:cNvSpPr txBox="1"/>
          <p:nvPr/>
        </p:nvSpPr>
        <p:spPr>
          <a:xfrm>
            <a:off x="5349240" y="406908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27" name="Text 24"/>
          <p:cNvSpPr txBox="1"/>
          <p:nvPr/>
        </p:nvSpPr>
        <p:spPr>
          <a:xfrm>
            <a:off x="6035040" y="4041648"/>
            <a:ext cx="2103120" cy="320040"/>
          </a:xfrm>
          <a:prstGeom prst="rect">
            <a:avLst/>
          </a:prstGeom>
          <a:noFill/>
          <a:ln/>
        </p:spPr>
        <p:txBody>
          <a:bodyPr wrap="square" lIns="0" tIns="0" rIns="0" bIns="0" rtlCol="0" anchor="ctr"/>
          <a:lstStyle/>
          <a:p>
            <a:pPr indent="0" marL="0">
              <a:buNone/>
            </a:pPr>
            <a:r>
              <a:rPr lang="en-US" sz="1600" b="1" dirty="0">
                <a:solidFill>
                  <a:srgbClr val="7C3AED"/>
                </a:solidFill>
              </a:rPr>
              <a:t>Borrow Service</a:t>
            </a:r>
            <a:endParaRPr lang="en-US" sz="1600" dirty="0"/>
          </a:p>
        </p:txBody>
      </p:sp>
      <p:sp>
        <p:nvSpPr>
          <p:cNvPr id="28" name="Text 25"/>
          <p:cNvSpPr txBox="1"/>
          <p:nvPr/>
        </p:nvSpPr>
        <p:spPr>
          <a:xfrm>
            <a:off x="6035040" y="4343400"/>
            <a:ext cx="2103120" cy="274320"/>
          </a:xfrm>
          <a:prstGeom prst="rect">
            <a:avLst/>
          </a:prstGeom>
          <a:noFill/>
          <a:ln/>
        </p:spPr>
        <p:txBody>
          <a:bodyPr wrap="square" lIns="0" tIns="0" rIns="0" bIns="0" rtlCol="0" anchor="ctr"/>
          <a:lstStyle/>
          <a:p>
            <a:pPr indent="0" marL="0">
              <a:buNone/>
            </a:pPr>
            <a:r>
              <a:rPr lang="en-US" sz="1200" dirty="0">
                <a:solidFill>
                  <a:schemeClr val="tx2"/>
                </a:solidFill>
              </a:rPr>
              <a:t>port 8003</a:t>
            </a:r>
            <a:endParaRPr lang="en-US" sz="1200" dirty="0"/>
          </a:p>
        </p:txBody>
      </p:sp>
      <p:sp>
        <p:nvSpPr>
          <p:cNvPr id="29" name="Text 26"/>
          <p:cNvSpPr txBox="1"/>
          <p:nvPr/>
        </p:nvSpPr>
        <p:spPr>
          <a:xfrm>
            <a:off x="5349240" y="4800600"/>
            <a:ext cx="2697480" cy="822960"/>
          </a:xfrm>
          <a:prstGeom prst="rect">
            <a:avLst/>
          </a:prstGeom>
          <a:noFill/>
          <a:ln/>
        </p:spPr>
        <p:txBody>
          <a:bodyPr wrap="square" lIns="0" tIns="0" rIns="0" bIns="0" rtlCol="0" anchor="t"/>
          <a:lstStyle/>
          <a:p>
            <a:pPr indent="0" marL="0">
              <a:buNone/>
            </a:pPr>
            <a:r>
              <a:rPr lang="en-US" sz="1400" dirty="0">
                <a:solidFill>
                  <a:schemeClr val="tx1"/>
                </a:solidFill>
              </a:rPr>
              <a:t>Issue / return books — entry point, calls the other three</a:t>
            </a:r>
            <a:endParaRPr lang="en-US" sz="1400" dirty="0"/>
          </a:p>
        </p:txBody>
      </p:sp>
      <p:sp>
        <p:nvSpPr>
          <p:cNvPr id="30" name="Text 27"/>
          <p:cNvSpPr txBox="1"/>
          <p:nvPr/>
        </p:nvSpPr>
        <p:spPr>
          <a:xfrm>
            <a:off x="5349240" y="5669280"/>
            <a:ext cx="2697480" cy="320040"/>
          </a:xfrm>
          <a:prstGeom prst="rect">
            <a:avLst/>
          </a:prstGeom>
          <a:noFill/>
          <a:ln/>
        </p:spPr>
        <p:txBody>
          <a:bodyPr wrap="square" lIns="0" tIns="0" rIns="0" bIns="0" rtlCol="0" anchor="ctr"/>
          <a:lstStyle/>
          <a:p>
            <a:pPr indent="0" marL="0">
              <a:buNone/>
            </a:pPr>
            <a:r>
              <a:rPr lang="en-US" sz="1200" dirty="0">
                <a:solidFill>
                  <a:srgbClr val="7C3AED"/>
                </a:solidFill>
                <a:latin typeface="Consolas" pitchFamily="34" charset="0"/>
                <a:ea typeface="Consolas" pitchFamily="34" charset="-122"/>
                <a:cs typeface="Consolas" pitchFamily="34" charset="-120"/>
              </a:rPr>
              <a:t>own DB: borrows.db</a:t>
            </a:r>
            <a:endParaRPr lang="en-US" sz="1200" dirty="0"/>
          </a:p>
        </p:txBody>
      </p:sp>
      <p:sp>
        <p:nvSpPr>
          <p:cNvPr id="31" name="card"/>
          <p:cNvSpPr/>
          <p:nvPr/>
        </p:nvSpPr>
        <p:spPr>
          <a:xfrm>
            <a:off x="8412480" y="3840480"/>
            <a:ext cx="3108960" cy="2331720"/>
          </a:xfrm>
          <a:prstGeom prst="roundRect">
            <a:avLst>
              <a:gd name="adj" fmla="val 4706"/>
            </a:avLst>
          </a:prstGeom>
          <a:solidFill>
            <a:srgbClr val="FFEDD5"/>
          </a:solidFill>
          <a:ln w="12700">
            <a:solidFill>
              <a:srgbClr val="FFEDD5"/>
            </a:solidFill>
            <a:prstDash val="solid"/>
          </a:ln>
        </p:spPr>
      </p:sp>
      <p:sp>
        <p:nvSpPr>
          <p:cNvPr id="32" name="dot"/>
          <p:cNvSpPr/>
          <p:nvPr/>
        </p:nvSpPr>
        <p:spPr>
          <a:xfrm>
            <a:off x="8641080" y="4069080"/>
            <a:ext cx="548640" cy="548640"/>
          </a:xfrm>
          <a:prstGeom prst="ellipse">
            <a:avLst/>
          </a:prstGeom>
          <a:solidFill>
            <a:srgbClr val="EA580C"/>
          </a:solidFill>
          <a:ln w="12700">
            <a:solidFill>
              <a:srgbClr val="EA580C"/>
            </a:solidFill>
            <a:prstDash val="solid"/>
          </a:ln>
        </p:spPr>
      </p:sp>
      <p:sp>
        <p:nvSpPr>
          <p:cNvPr id="33" name="Text 30"/>
          <p:cNvSpPr txBox="1"/>
          <p:nvPr/>
        </p:nvSpPr>
        <p:spPr>
          <a:xfrm>
            <a:off x="8641080" y="406908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rPr>
              <a:t>4</a:t>
            </a:r>
            <a:endParaRPr lang="en-US" sz="1600" dirty="0"/>
          </a:p>
        </p:txBody>
      </p:sp>
      <p:sp>
        <p:nvSpPr>
          <p:cNvPr id="34" name="Text 31"/>
          <p:cNvSpPr txBox="1"/>
          <p:nvPr/>
        </p:nvSpPr>
        <p:spPr>
          <a:xfrm>
            <a:off x="9326880" y="4041648"/>
            <a:ext cx="2103120" cy="320040"/>
          </a:xfrm>
          <a:prstGeom prst="rect">
            <a:avLst/>
          </a:prstGeom>
          <a:noFill/>
          <a:ln/>
        </p:spPr>
        <p:txBody>
          <a:bodyPr wrap="square" lIns="0" tIns="0" rIns="0" bIns="0" rtlCol="0" anchor="ctr"/>
          <a:lstStyle/>
          <a:p>
            <a:pPr indent="0" marL="0">
              <a:buNone/>
            </a:pPr>
            <a:r>
              <a:rPr lang="en-US" sz="1600" b="1" dirty="0">
                <a:solidFill>
                  <a:srgbClr val="EA580C"/>
                </a:solidFill>
              </a:rPr>
              <a:t>Notification Service</a:t>
            </a:r>
            <a:endParaRPr lang="en-US" sz="1600" dirty="0"/>
          </a:p>
        </p:txBody>
      </p:sp>
      <p:sp>
        <p:nvSpPr>
          <p:cNvPr id="35" name="Text 32"/>
          <p:cNvSpPr txBox="1"/>
          <p:nvPr/>
        </p:nvSpPr>
        <p:spPr>
          <a:xfrm>
            <a:off x="9326880" y="4343400"/>
            <a:ext cx="2103120" cy="274320"/>
          </a:xfrm>
          <a:prstGeom prst="rect">
            <a:avLst/>
          </a:prstGeom>
          <a:noFill/>
          <a:ln/>
        </p:spPr>
        <p:txBody>
          <a:bodyPr wrap="square" lIns="0" tIns="0" rIns="0" bIns="0" rtlCol="0" anchor="ctr"/>
          <a:lstStyle/>
          <a:p>
            <a:pPr indent="0" marL="0">
              <a:buNone/>
            </a:pPr>
            <a:r>
              <a:rPr lang="en-US" sz="1200" dirty="0">
                <a:solidFill>
                  <a:schemeClr val="tx2"/>
                </a:solidFill>
              </a:rPr>
              <a:t>port 8004</a:t>
            </a:r>
            <a:endParaRPr lang="en-US" sz="1200" dirty="0"/>
          </a:p>
        </p:txBody>
      </p:sp>
      <p:sp>
        <p:nvSpPr>
          <p:cNvPr id="36" name="Text 33"/>
          <p:cNvSpPr txBox="1"/>
          <p:nvPr/>
        </p:nvSpPr>
        <p:spPr>
          <a:xfrm>
            <a:off x="8641080" y="4800600"/>
            <a:ext cx="2697480" cy="822960"/>
          </a:xfrm>
          <a:prstGeom prst="rect">
            <a:avLst/>
          </a:prstGeom>
          <a:noFill/>
          <a:ln/>
        </p:spPr>
        <p:txBody>
          <a:bodyPr wrap="square" lIns="0" tIns="0" rIns="0" bIns="0" rtlCol="0" anchor="t"/>
          <a:lstStyle/>
          <a:p>
            <a:pPr indent="0" marL="0">
              <a:buNone/>
            </a:pPr>
            <a:r>
              <a:rPr lang="en-US" sz="1400" dirty="0">
                <a:solidFill>
                  <a:schemeClr val="tx1"/>
                </a:solidFill>
              </a:rPr>
              <a:t>Stores messages sent to members</a:t>
            </a:r>
            <a:endParaRPr lang="en-US" sz="1400" dirty="0"/>
          </a:p>
        </p:txBody>
      </p:sp>
      <p:sp>
        <p:nvSpPr>
          <p:cNvPr id="37" name="Text 34"/>
          <p:cNvSpPr txBox="1"/>
          <p:nvPr/>
        </p:nvSpPr>
        <p:spPr>
          <a:xfrm>
            <a:off x="8641080" y="5669280"/>
            <a:ext cx="2697480" cy="320040"/>
          </a:xfrm>
          <a:prstGeom prst="rect">
            <a:avLst/>
          </a:prstGeom>
          <a:noFill/>
          <a:ln/>
        </p:spPr>
        <p:txBody>
          <a:bodyPr wrap="square" lIns="0" tIns="0" rIns="0" bIns="0" rtlCol="0" anchor="ctr"/>
          <a:lstStyle/>
          <a:p>
            <a:pPr indent="0" marL="0">
              <a:buNone/>
            </a:pPr>
            <a:r>
              <a:rPr lang="en-US" sz="1200" dirty="0">
                <a:solidFill>
                  <a:srgbClr val="EA580C"/>
                </a:solidFill>
                <a:latin typeface="Consolas" pitchFamily="34" charset="0"/>
                <a:ea typeface="Consolas" pitchFamily="34" charset="-122"/>
                <a:cs typeface="Consolas" pitchFamily="34" charset="-120"/>
              </a:rPr>
              <a:t>own DB: notifications.db</a:t>
            </a:r>
            <a:endParaRPr lang="en-US" sz="1200" dirty="0"/>
          </a:p>
        </p:txBody>
      </p:sp>
      <p:sp>
        <p:nvSpPr>
          <p:cNvPr id="25" name="Slide Number Placeholder 0"/>
          <p:cNvSpPr>
            <a:spLocks noGrp="1"/>
          </p:cNvSpPr>
          <p:nvPr>
            <p:ph type="sldNum" sz="quarter" idx="4294967295"/>
          </p:nvPr>
        </p:nvSpPr>
        <p:spPr>
          <a:xfrm>
            <a:off x="1115568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235440" cy="777240"/>
          </a:xfrm>
          <a:prstGeom prst="rect">
            <a:avLst/>
          </a:prstGeom>
          <a:noFill/>
          <a:ln/>
        </p:spPr>
        <p:txBody>
          <a:bodyPr wrap="square" lIns="0" tIns="0" rIns="0" bIns="0" rtlCol="0" anchor="ctr"/>
          <a:lstStyle/>
          <a:p>
            <a:pPr algn="l" indent="0" marL="0">
              <a:buNone/>
            </a:pPr>
            <a:r>
              <a:rPr lang="en-US" sz="2800" b="1" dirty="0">
                <a:solidFill>
                  <a:schemeClr val="tx1"/>
                </a:solidFill>
              </a:rPr>
              <a:t>Architecture: one entry point, three services behind it</a:t>
            </a:r>
            <a:endParaRPr lang="en-US" sz="2800" dirty="0"/>
          </a:p>
        </p:txBody>
      </p:sp>
      <p:sp>
        <p:nvSpPr>
          <p:cNvPr id="4" name="docker network"/>
          <p:cNvSpPr/>
          <p:nvPr/>
        </p:nvSpPr>
        <p:spPr>
          <a:xfrm>
            <a:off x="3337560" y="1280160"/>
            <a:ext cx="8321040" cy="4983480"/>
          </a:xfrm>
          <a:prstGeom prst="roundRect">
            <a:avLst>
              <a:gd name="adj" fmla="val 3670"/>
            </a:avLst>
          </a:prstGeom>
          <a:solidFill>
            <a:srgbClr val="F0F9FF"/>
          </a:solidFill>
          <a:ln w="19050">
            <a:solidFill>
              <a:srgbClr val="0284C7"/>
            </a:solidFill>
            <a:prstDash val="dash"/>
          </a:ln>
        </p:spPr>
      </p:sp>
      <p:sp>
        <p:nvSpPr>
          <p:cNvPr id="5" name="Text 2"/>
          <p:cNvSpPr txBox="1"/>
          <p:nvPr/>
        </p:nvSpPr>
        <p:spPr>
          <a:xfrm>
            <a:off x="3566160" y="1371600"/>
            <a:ext cx="7863840" cy="320040"/>
          </a:xfrm>
          <a:prstGeom prst="rect">
            <a:avLst/>
          </a:prstGeom>
          <a:noFill/>
          <a:ln/>
        </p:spPr>
        <p:txBody>
          <a:bodyPr wrap="square" lIns="0" tIns="0" rIns="0" bIns="0" rtlCol="0" anchor="ctr"/>
          <a:lstStyle/>
          <a:p>
            <a:pPr indent="0" marL="0">
              <a:buNone/>
            </a:pPr>
            <a:r>
              <a:rPr lang="en-US" sz="1200" b="1" dirty="0">
                <a:solidFill>
                  <a:srgbClr val="0369A1"/>
                </a:solidFill>
              </a:rPr>
              <a:t>Docker network  library-net  (bridge, 172.18.0.0/16)  ·  DNS by service name</a:t>
            </a:r>
            <a:endParaRPr lang="en-US" sz="1200" dirty="0"/>
          </a:p>
        </p:txBody>
      </p:sp>
      <p:sp>
        <p:nvSpPr>
          <p:cNvPr id="6" name="card"/>
          <p:cNvSpPr/>
          <p:nvPr/>
        </p:nvSpPr>
        <p:spPr>
          <a:xfrm>
            <a:off x="548640" y="1965960"/>
            <a:ext cx="2286000" cy="1051560"/>
          </a:xfrm>
          <a:prstGeom prst="roundRect">
            <a:avLst>
              <a:gd name="adj" fmla="val 10435"/>
            </a:avLst>
          </a:prstGeom>
          <a:solidFill>
            <a:srgbClr val="CCFBF1"/>
          </a:solidFill>
          <a:ln w="12700">
            <a:solidFill>
              <a:srgbClr val="CCFBF1"/>
            </a:solidFill>
            <a:prstDash val="solid"/>
          </a:ln>
        </p:spPr>
      </p:sp>
      <p:sp>
        <p:nvSpPr>
          <p:cNvPr id="7" name="Text 4"/>
          <p:cNvSpPr txBox="1"/>
          <p:nvPr/>
        </p:nvSpPr>
        <p:spPr>
          <a:xfrm>
            <a:off x="640080" y="1965960"/>
            <a:ext cx="2103120" cy="1051560"/>
          </a:xfrm>
          <a:prstGeom prst="rect">
            <a:avLst/>
          </a:prstGeom>
          <a:noFill/>
          <a:ln/>
        </p:spPr>
        <p:txBody>
          <a:bodyPr wrap="square" lIns="0" tIns="0" rIns="0" bIns="0" rtlCol="0" anchor="ctr"/>
          <a:lstStyle/>
          <a:p>
            <a:pPr algn="ctr" indent="0" marL="0">
              <a:buNone/>
            </a:pPr>
            <a:r>
              <a:rPr lang="en-US" sz="1500" b="1" dirty="0">
                <a:solidFill>
                  <a:schemeClr val="tx1"/>
                </a:solidFill>
              </a:rPr>
              <a:t>Streamlit client</a:t>
            </a:r>
            <a:endParaRPr lang="en-US" sz="1500" dirty="0"/>
          </a:p>
          <a:p>
            <a:pPr algn="ctr" indent="0" marL="0">
              <a:buNone/>
            </a:pPr>
            <a:r>
              <a:rPr lang="en-US" sz="1150" dirty="0">
                <a:solidFill>
                  <a:srgbClr val="334155"/>
                </a:solidFill>
              </a:rPr>
              <a:t>browser :8501 → Borrow :8003</a:t>
            </a:r>
            <a:endParaRPr lang="en-US" sz="1500" dirty="0"/>
          </a:p>
        </p:txBody>
      </p:sp>
      <p:sp>
        <p:nvSpPr>
          <p:cNvPr id="8" name="card"/>
          <p:cNvSpPr/>
          <p:nvPr/>
        </p:nvSpPr>
        <p:spPr>
          <a:xfrm>
            <a:off x="548640" y="4160520"/>
            <a:ext cx="2286000" cy="1051560"/>
          </a:xfrm>
          <a:prstGeom prst="roundRect">
            <a:avLst>
              <a:gd name="adj" fmla="val 10435"/>
            </a:avLst>
          </a:prstGeom>
          <a:solidFill>
            <a:srgbClr val="FEF3C7"/>
          </a:solidFill>
          <a:ln w="12700">
            <a:solidFill>
              <a:srgbClr val="FEF3C7"/>
            </a:solidFill>
            <a:prstDash val="solid"/>
          </a:ln>
        </p:spPr>
      </p:sp>
      <p:sp>
        <p:nvSpPr>
          <p:cNvPr id="9" name="Text 6"/>
          <p:cNvSpPr txBox="1"/>
          <p:nvPr/>
        </p:nvSpPr>
        <p:spPr>
          <a:xfrm>
            <a:off x="640080" y="4160520"/>
            <a:ext cx="2103120" cy="1051560"/>
          </a:xfrm>
          <a:prstGeom prst="rect">
            <a:avLst/>
          </a:prstGeom>
          <a:noFill/>
          <a:ln/>
        </p:spPr>
        <p:txBody>
          <a:bodyPr wrap="square" lIns="0" tIns="0" rIns="0" bIns="0" rtlCol="0" anchor="ctr"/>
          <a:lstStyle/>
          <a:p>
            <a:pPr algn="ctr" indent="0" marL="0">
              <a:buNone/>
            </a:pPr>
            <a:r>
              <a:rPr lang="en-US" sz="1500" b="1" dirty="0">
                <a:solidFill>
                  <a:schemeClr val="tx1"/>
                </a:solidFill>
              </a:rPr>
              <a:t>Locust</a:t>
            </a:r>
            <a:endParaRPr lang="en-US" sz="1500" dirty="0"/>
          </a:p>
          <a:p>
            <a:pPr algn="ctr" indent="0" marL="0">
              <a:buNone/>
            </a:pPr>
            <a:r>
              <a:rPr lang="en-US" sz="1150" dirty="0">
                <a:solidFill>
                  <a:srgbClr val="334155"/>
                </a:solidFill>
              </a:rPr>
              <a:t>load generator → :8003</a:t>
            </a:r>
            <a:endParaRPr lang="en-US" sz="1500" dirty="0"/>
          </a:p>
        </p:txBody>
      </p:sp>
      <p:sp>
        <p:nvSpPr>
          <p:cNvPr id="10" name="Borrow Service"/>
          <p:cNvSpPr/>
          <p:nvPr/>
        </p:nvSpPr>
        <p:spPr>
          <a:xfrm>
            <a:off x="3794760" y="2971800"/>
            <a:ext cx="2377440" cy="1188720"/>
          </a:xfrm>
          <a:prstGeom prst="roundRect">
            <a:avLst>
              <a:gd name="adj" fmla="val 9231"/>
            </a:avLst>
          </a:prstGeom>
          <a:solidFill>
            <a:srgbClr val="EDE9FE"/>
          </a:solidFill>
          <a:ln w="25400">
            <a:solidFill>
              <a:srgbClr val="7C3AED"/>
            </a:solidFill>
            <a:prstDash val="solid"/>
          </a:ln>
          <a:effectLst>
            <a:outerShdw sx="100000" sy="100000" kx="0" ky="0" algn="bl" rotWithShape="0" blurRad="76200" dist="25400" dir="5400000">
              <a:srgbClr val="000000">
                <a:alpha val="18000"/>
              </a:srgbClr>
            </a:outerShdw>
          </a:effectLst>
        </p:spPr>
      </p:sp>
      <p:sp>
        <p:nvSpPr>
          <p:cNvPr id="11" name="Text 8"/>
          <p:cNvSpPr txBox="1"/>
          <p:nvPr/>
        </p:nvSpPr>
        <p:spPr>
          <a:xfrm>
            <a:off x="3794760" y="2971800"/>
            <a:ext cx="2377440" cy="1188720"/>
          </a:xfrm>
          <a:prstGeom prst="rect">
            <a:avLst/>
          </a:prstGeom>
          <a:noFill/>
          <a:ln/>
        </p:spPr>
        <p:txBody>
          <a:bodyPr wrap="square" lIns="0" tIns="0" rIns="0" bIns="0" rtlCol="0" anchor="ctr"/>
          <a:lstStyle/>
          <a:p>
            <a:pPr algn="ctr" indent="0" marL="0">
              <a:buNone/>
            </a:pPr>
            <a:r>
              <a:rPr lang="en-US" sz="1500" b="1" dirty="0">
                <a:solidFill>
                  <a:srgbClr val="7C3AED"/>
                </a:solidFill>
              </a:rPr>
              <a:t>Borrow Service</a:t>
            </a:r>
            <a:endParaRPr lang="en-US" sz="1500" dirty="0"/>
          </a:p>
          <a:p>
            <a:pPr algn="ctr" indent="0" marL="0">
              <a:buNone/>
            </a:pPr>
            <a:r>
              <a:rPr lang="en-US" sz="1100" dirty="0">
                <a:solidFill>
                  <a:srgbClr val="334155"/>
                </a:solidFill>
              </a:rPr>
              <a:t>borrow-service:8003 · borrows.db</a:t>
            </a:r>
            <a:endParaRPr lang="en-US" sz="1500" dirty="0"/>
          </a:p>
        </p:txBody>
      </p:sp>
      <p:sp>
        <p:nvSpPr>
          <p:cNvPr id="12" name="Member Service"/>
          <p:cNvSpPr/>
          <p:nvPr/>
        </p:nvSpPr>
        <p:spPr>
          <a:xfrm>
            <a:off x="8778240" y="1828800"/>
            <a:ext cx="2468880" cy="960120"/>
          </a:xfrm>
          <a:prstGeom prst="roundRect">
            <a:avLst>
              <a:gd name="adj" fmla="val 11429"/>
            </a:avLst>
          </a:prstGeom>
          <a:solidFill>
            <a:srgbClr val="DCFCE7"/>
          </a:solidFill>
          <a:ln w="25400">
            <a:solidFill>
              <a:srgbClr val="16A34A"/>
            </a:solidFill>
            <a:prstDash val="solid"/>
          </a:ln>
          <a:effectLst>
            <a:outerShdw sx="100000" sy="100000" kx="0" ky="0" algn="bl" rotWithShape="0" blurRad="76200" dist="25400" dir="5400000">
              <a:srgbClr val="000000">
                <a:alpha val="18000"/>
              </a:srgbClr>
            </a:outerShdw>
          </a:effectLst>
        </p:spPr>
      </p:sp>
      <p:sp>
        <p:nvSpPr>
          <p:cNvPr id="13" name="Text 10"/>
          <p:cNvSpPr txBox="1"/>
          <p:nvPr/>
        </p:nvSpPr>
        <p:spPr>
          <a:xfrm>
            <a:off x="8778240" y="1828800"/>
            <a:ext cx="2468880" cy="960120"/>
          </a:xfrm>
          <a:prstGeom prst="rect">
            <a:avLst/>
          </a:prstGeom>
          <a:noFill/>
          <a:ln/>
        </p:spPr>
        <p:txBody>
          <a:bodyPr wrap="square" lIns="0" tIns="0" rIns="0" bIns="0" rtlCol="0" anchor="ctr"/>
          <a:lstStyle/>
          <a:p>
            <a:pPr algn="ctr" indent="0" marL="0">
              <a:buNone/>
            </a:pPr>
            <a:r>
              <a:rPr lang="en-US" sz="1500" b="1" dirty="0">
                <a:solidFill>
                  <a:srgbClr val="16A34A"/>
                </a:solidFill>
              </a:rPr>
              <a:t>Member Service</a:t>
            </a:r>
            <a:endParaRPr lang="en-US" sz="1500" dirty="0"/>
          </a:p>
          <a:p>
            <a:pPr algn="ctr" indent="0" marL="0">
              <a:buNone/>
            </a:pPr>
            <a:r>
              <a:rPr lang="en-US" sz="1100" dirty="0">
                <a:solidFill>
                  <a:srgbClr val="334155"/>
                </a:solidFill>
              </a:rPr>
              <a:t>member-service:8002 · members.db</a:t>
            </a:r>
            <a:endParaRPr lang="en-US" sz="1500" dirty="0"/>
          </a:p>
        </p:txBody>
      </p:sp>
      <p:sp>
        <p:nvSpPr>
          <p:cNvPr id="14" name="Book Service"/>
          <p:cNvSpPr/>
          <p:nvPr/>
        </p:nvSpPr>
        <p:spPr>
          <a:xfrm>
            <a:off x="8778240" y="3291840"/>
            <a:ext cx="2468880" cy="960120"/>
          </a:xfrm>
          <a:prstGeom prst="roundRect">
            <a:avLst>
              <a:gd name="adj" fmla="val 11429"/>
            </a:avLst>
          </a:prstGeom>
          <a:solidFill>
            <a:srgbClr val="DBEAFE"/>
          </a:solidFill>
          <a:ln w="25400">
            <a:solidFill>
              <a:srgbClr val="2563EB"/>
            </a:solidFill>
            <a:prstDash val="solid"/>
          </a:ln>
          <a:effectLst>
            <a:outerShdw sx="100000" sy="100000" kx="0" ky="0" algn="bl" rotWithShape="0" blurRad="76200" dist="25400" dir="5400000">
              <a:srgbClr val="000000">
                <a:alpha val="18000"/>
              </a:srgbClr>
            </a:outerShdw>
          </a:effectLst>
        </p:spPr>
      </p:sp>
      <p:sp>
        <p:nvSpPr>
          <p:cNvPr id="15" name="Text 12"/>
          <p:cNvSpPr txBox="1"/>
          <p:nvPr/>
        </p:nvSpPr>
        <p:spPr>
          <a:xfrm>
            <a:off x="8778240" y="3291840"/>
            <a:ext cx="2468880" cy="960120"/>
          </a:xfrm>
          <a:prstGeom prst="rect">
            <a:avLst/>
          </a:prstGeom>
          <a:noFill/>
          <a:ln/>
        </p:spPr>
        <p:txBody>
          <a:bodyPr wrap="square" lIns="0" tIns="0" rIns="0" bIns="0" rtlCol="0" anchor="ctr"/>
          <a:lstStyle/>
          <a:p>
            <a:pPr algn="ctr" indent="0" marL="0">
              <a:buNone/>
            </a:pPr>
            <a:r>
              <a:rPr lang="en-US" sz="1500" b="1" dirty="0">
                <a:solidFill>
                  <a:srgbClr val="2563EB"/>
                </a:solidFill>
              </a:rPr>
              <a:t>Book Service</a:t>
            </a:r>
            <a:endParaRPr lang="en-US" sz="1500" dirty="0"/>
          </a:p>
          <a:p>
            <a:pPr algn="ctr" indent="0" marL="0">
              <a:buNone/>
            </a:pPr>
            <a:r>
              <a:rPr lang="en-US" sz="1100" dirty="0">
                <a:solidFill>
                  <a:srgbClr val="334155"/>
                </a:solidFill>
              </a:rPr>
              <a:t>book-service:8001 · books.db</a:t>
            </a:r>
            <a:endParaRPr lang="en-US" sz="1500" dirty="0"/>
          </a:p>
        </p:txBody>
      </p:sp>
      <p:sp>
        <p:nvSpPr>
          <p:cNvPr id="16" name="Notification Service"/>
          <p:cNvSpPr/>
          <p:nvPr/>
        </p:nvSpPr>
        <p:spPr>
          <a:xfrm>
            <a:off x="8778240" y="4754880"/>
            <a:ext cx="2468880" cy="960120"/>
          </a:xfrm>
          <a:prstGeom prst="roundRect">
            <a:avLst>
              <a:gd name="adj" fmla="val 11429"/>
            </a:avLst>
          </a:prstGeom>
          <a:solidFill>
            <a:srgbClr val="FFEDD5"/>
          </a:solidFill>
          <a:ln w="25400">
            <a:solidFill>
              <a:srgbClr val="EA580C"/>
            </a:solidFill>
            <a:prstDash val="solid"/>
          </a:ln>
          <a:effectLst>
            <a:outerShdw sx="100000" sy="100000" kx="0" ky="0" algn="bl" rotWithShape="0" blurRad="76200" dist="25400" dir="5400000">
              <a:srgbClr val="000000">
                <a:alpha val="18000"/>
              </a:srgbClr>
            </a:outerShdw>
          </a:effectLst>
        </p:spPr>
      </p:sp>
      <p:sp>
        <p:nvSpPr>
          <p:cNvPr id="17" name="Text 14"/>
          <p:cNvSpPr txBox="1"/>
          <p:nvPr/>
        </p:nvSpPr>
        <p:spPr>
          <a:xfrm>
            <a:off x="8778240" y="4754880"/>
            <a:ext cx="2468880" cy="960120"/>
          </a:xfrm>
          <a:prstGeom prst="rect">
            <a:avLst/>
          </a:prstGeom>
          <a:noFill/>
          <a:ln/>
        </p:spPr>
        <p:txBody>
          <a:bodyPr wrap="square" lIns="0" tIns="0" rIns="0" bIns="0" rtlCol="0" anchor="ctr"/>
          <a:lstStyle/>
          <a:p>
            <a:pPr algn="ctr" indent="0" marL="0">
              <a:buNone/>
            </a:pPr>
            <a:r>
              <a:rPr lang="en-US" sz="1500" b="1" dirty="0">
                <a:solidFill>
                  <a:srgbClr val="EA580C"/>
                </a:solidFill>
              </a:rPr>
              <a:t>Notification Service</a:t>
            </a:r>
            <a:endParaRPr lang="en-US" sz="1500" dirty="0"/>
          </a:p>
          <a:p>
            <a:pPr algn="ctr" indent="0" marL="0">
              <a:buNone/>
            </a:pPr>
            <a:r>
              <a:rPr lang="en-US" sz="1100" dirty="0">
                <a:solidFill>
                  <a:srgbClr val="334155"/>
                </a:solidFill>
              </a:rPr>
              <a:t>notification-service:8004 · notifications.db</a:t>
            </a:r>
            <a:endParaRPr lang="en-US" sz="1500" dirty="0"/>
          </a:p>
        </p:txBody>
      </p:sp>
      <p:sp>
        <p:nvSpPr>
          <p:cNvPr id="18" name="arrow"/>
          <p:cNvSpPr/>
          <p:nvPr/>
        </p:nvSpPr>
        <p:spPr>
          <a:xfrm>
            <a:off x="2834640" y="2487168"/>
            <a:ext cx="960120" cy="804672"/>
          </a:xfrm>
          <a:prstGeom prst="line">
            <a:avLst/>
          </a:prstGeom>
          <a:noFill/>
          <a:ln w="25400">
            <a:solidFill>
              <a:srgbClr val="0F766E"/>
            </a:solidFill>
            <a:prstDash val="solid"/>
            <a:tailEnd type="triangle"/>
          </a:ln>
        </p:spPr>
      </p:sp>
      <p:sp>
        <p:nvSpPr>
          <p:cNvPr id="19" name="arrow"/>
          <p:cNvSpPr/>
          <p:nvPr/>
        </p:nvSpPr>
        <p:spPr>
          <a:xfrm flipV="1">
            <a:off x="2834640" y="3840480"/>
            <a:ext cx="960120" cy="841248"/>
          </a:xfrm>
          <a:prstGeom prst="line">
            <a:avLst/>
          </a:prstGeom>
          <a:noFill/>
          <a:ln w="25400">
            <a:solidFill>
              <a:srgbClr val="B45309"/>
            </a:solidFill>
            <a:prstDash val="solid"/>
            <a:tailEnd type="triangle"/>
          </a:ln>
        </p:spPr>
      </p:sp>
      <p:sp>
        <p:nvSpPr>
          <p:cNvPr id="20" name="Text 17"/>
          <p:cNvSpPr txBox="1"/>
          <p:nvPr/>
        </p:nvSpPr>
        <p:spPr>
          <a:xfrm>
            <a:off x="6217920" y="1783080"/>
            <a:ext cx="2468880" cy="685800"/>
          </a:xfrm>
          <a:prstGeom prst="rect">
            <a:avLst/>
          </a:prstGeom>
          <a:noFill/>
          <a:ln/>
        </p:spPr>
        <p:txBody>
          <a:bodyPr wrap="square" lIns="0" tIns="0" rIns="0" bIns="0" rtlCol="0" anchor="ctr"/>
          <a:lstStyle/>
          <a:p>
            <a:pPr indent="0" marL="0">
              <a:buNone/>
            </a:pPr>
            <a:r>
              <a:rPr lang="en-US" sz="1100" i="1" dirty="0">
                <a:solidFill>
                  <a:srgbClr val="0369A1"/>
                </a:solidFill>
              </a:rPr>
              <a:t>Borrow calls the others by service name (http://book-service:8001 …), never by IP</a:t>
            </a:r>
            <a:endParaRPr lang="en-US" sz="1100" dirty="0"/>
          </a:p>
        </p:txBody>
      </p:sp>
      <p:sp>
        <p:nvSpPr>
          <p:cNvPr id="21" name="arrow"/>
          <p:cNvSpPr/>
          <p:nvPr/>
        </p:nvSpPr>
        <p:spPr>
          <a:xfrm flipV="1">
            <a:off x="6172200" y="2331720"/>
            <a:ext cx="2606040" cy="914400"/>
          </a:xfrm>
          <a:prstGeom prst="line">
            <a:avLst/>
          </a:prstGeom>
          <a:noFill/>
          <a:ln w="25400">
            <a:solidFill>
              <a:srgbClr val="16A34A"/>
            </a:solidFill>
            <a:prstDash val="solid"/>
            <a:tailEnd type="triangle"/>
          </a:ln>
        </p:spPr>
      </p:sp>
      <p:sp>
        <p:nvSpPr>
          <p:cNvPr id="22" name="arrow"/>
          <p:cNvSpPr/>
          <p:nvPr/>
        </p:nvSpPr>
        <p:spPr>
          <a:xfrm>
            <a:off x="6172200" y="3611880"/>
            <a:ext cx="2606040" cy="155448"/>
          </a:xfrm>
          <a:prstGeom prst="line">
            <a:avLst/>
          </a:prstGeom>
          <a:noFill/>
          <a:ln w="25400">
            <a:solidFill>
              <a:srgbClr val="2563EB"/>
            </a:solidFill>
            <a:prstDash val="solid"/>
            <a:tailEnd type="triangle"/>
          </a:ln>
        </p:spPr>
      </p:sp>
      <p:sp>
        <p:nvSpPr>
          <p:cNvPr id="23" name="arrow"/>
          <p:cNvSpPr/>
          <p:nvPr/>
        </p:nvSpPr>
        <p:spPr>
          <a:xfrm>
            <a:off x="6172200" y="3977640"/>
            <a:ext cx="2606040" cy="1234440"/>
          </a:xfrm>
          <a:prstGeom prst="line">
            <a:avLst/>
          </a:prstGeom>
          <a:noFill/>
          <a:ln w="25400">
            <a:solidFill>
              <a:srgbClr val="EA580C"/>
            </a:solidFill>
            <a:prstDash val="solid"/>
            <a:tailEnd type="triangle"/>
          </a:ln>
        </p:spPr>
      </p:sp>
      <p:sp>
        <p:nvSpPr>
          <p:cNvPr id="24" name="Text 21"/>
          <p:cNvSpPr txBox="1"/>
          <p:nvPr/>
        </p:nvSpPr>
        <p:spPr>
          <a:xfrm>
            <a:off x="3657600" y="5760720"/>
            <a:ext cx="4937760" cy="320040"/>
          </a:xfrm>
          <a:prstGeom prst="rect">
            <a:avLst/>
          </a:prstGeom>
          <a:noFill/>
          <a:ln/>
        </p:spPr>
        <p:txBody>
          <a:bodyPr wrap="square" lIns="0" tIns="0" rIns="0" bIns="0" rtlCol="0" anchor="ctr"/>
          <a:lstStyle/>
          <a:p>
            <a:pPr indent="0" marL="0">
              <a:buNone/>
            </a:pPr>
            <a:r>
              <a:rPr lang="en-US" sz="1200" i="1" dirty="0">
                <a:solidFill>
                  <a:srgbClr val="334155"/>
                </a:solidFill>
              </a:rPr>
              <a:t>Load test path (3 services): Locust → Borrow → Member + Book</a:t>
            </a:r>
            <a:endParaRPr lang="en-US" sz="1200" dirty="0"/>
          </a:p>
        </p:txBody>
      </p:sp>
      <p:sp>
        <p:nvSpPr>
          <p:cNvPr id="25" name="Slide Number Placeholder 0"/>
          <p:cNvSpPr>
            <a:spLocks noGrp="1"/>
          </p:cNvSpPr>
          <p:nvPr>
            <p:ph type="sldNum" sz="quarter" idx="4294967295"/>
          </p:nvPr>
        </p:nvSpPr>
        <p:spPr>
          <a:xfrm>
            <a:off x="1115568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235440" cy="777240"/>
          </a:xfrm>
          <a:prstGeom prst="rect">
            <a:avLst/>
          </a:prstGeom>
          <a:noFill/>
          <a:ln/>
        </p:spPr>
        <p:txBody>
          <a:bodyPr wrap="square" lIns="0" tIns="0" rIns="0" bIns="0" rtlCol="0" anchor="ctr"/>
          <a:lstStyle/>
          <a:p>
            <a:pPr algn="l" indent="0" marL="0">
              <a:buNone/>
            </a:pPr>
            <a:r>
              <a:rPr lang="en-US" sz="2800" b="1" dirty="0">
                <a:solidFill>
                  <a:schemeClr val="tx1"/>
                </a:solidFill>
              </a:rPr>
              <a:t>Each service runs and answers on its own</a:t>
            </a:r>
            <a:endParaRPr lang="en-US" sz="2800" dirty="0"/>
          </a:p>
        </p:txBody>
      </p:sp>
      <p:sp>
        <p:nvSpPr>
          <p:cNvPr id="3" name="cp badge"/>
          <p:cNvSpPr/>
          <p:nvPr/>
        </p:nvSpPr>
        <p:spPr>
          <a:xfrm>
            <a:off x="9921240" y="457200"/>
            <a:ext cx="1737360" cy="438912"/>
          </a:xfrm>
          <a:prstGeom prst="roundRect">
            <a:avLst>
              <a:gd name="adj" fmla="val 50000"/>
            </a:avLst>
          </a:prstGeom>
          <a:solidFill>
            <a:srgbClr val="0D9488"/>
          </a:solidFill>
          <a:ln w="12700">
            <a:solidFill>
              <a:srgbClr val="0D9488"/>
            </a:solidFill>
            <a:prstDash val="solid"/>
          </a:ln>
        </p:spPr>
      </p:sp>
      <p:sp>
        <p:nvSpPr>
          <p:cNvPr id="4" name="Text 2"/>
          <p:cNvSpPr txBox="1"/>
          <p:nvPr/>
        </p:nvSpPr>
        <p:spPr>
          <a:xfrm>
            <a:off x="9921240" y="457200"/>
            <a:ext cx="1737360" cy="438912"/>
          </a:xfrm>
          <a:prstGeom prst="rect">
            <a:avLst/>
          </a:prstGeom>
          <a:noFill/>
          <a:ln/>
        </p:spPr>
        <p:txBody>
          <a:bodyPr wrap="square" lIns="0" tIns="0" rIns="0" bIns="0" rtlCol="0" anchor="ctr"/>
          <a:lstStyle/>
          <a:p>
            <a:pPr algn="ctr" indent="0" marL="0">
              <a:buNone/>
            </a:pPr>
            <a:r>
              <a:rPr lang="en-US" sz="1150" b="1" spc="100" kern="0" dirty="0">
                <a:solidFill>
                  <a:schemeClr val="bg1"/>
                </a:solidFill>
              </a:rPr>
              <a:t>CP1 · SERVICES</a:t>
            </a:r>
            <a:endParaRPr lang="en-US" sz="11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6035040" cy="914400"/>
        </p:xfrm>
        <a:graphic>
          <a:graphicData uri="http://schemas.openxmlformats.org/drawingml/2006/table">
            <a:tbl>
              <a:tblPr/>
              <a:tblGrid>
                <a:gridCol w="1600200"/>
                <a:gridCol w="4434840"/>
              </a:tblGrid>
              <a:tr h="566928">
                <a:tc>
                  <a:txBody>
                    <a:bodyPr/>
                    <a:lstStyle/>
                    <a:p>
                      <a:pPr algn="ctr" indent="0" marL="0">
                        <a:buNone/>
                      </a:pPr>
                      <a:r>
                        <a:rPr lang="en-US" sz="1200" b="1" dirty="0">
                          <a:solidFill>
                            <a:srgbClr val="FFFFFF"/>
                          </a:solidFill>
                          <a:latin typeface="Segoe UI" pitchFamily="34" charset="0"/>
                          <a:ea typeface="Segoe UI" pitchFamily="34" charset="-122"/>
                          <a:cs typeface="Segoe UI" pitchFamily="34" charset="-120"/>
                        </a:rPr>
                        <a:t>Service</a:t>
                      </a:r>
                      <a:endParaRPr lang="en-US" sz="1200" dirty="0">
                        <a:latin typeface="Segoe UI" charset="0"/>
                        <a:ea typeface="Segoe UI" charset="0"/>
                        <a:cs typeface="Segoe UI" charset="0"/>
                      </a:endParaRPr>
                    </a:p>
                  </a:txBody>
                  <a:tcPr marL="63500" marR="635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172A"/>
                    </a:solidFill>
                  </a:tcPr>
                </a:tc>
                <a:tc>
                  <a:txBody>
                    <a:bodyPr/>
                    <a:lstStyle/>
                    <a:p>
                      <a:pPr algn="ctr" indent="0" marL="0">
                        <a:buNone/>
                      </a:pPr>
                      <a:r>
                        <a:rPr lang="en-US" sz="1200" b="1" dirty="0">
                          <a:solidFill>
                            <a:srgbClr val="FFFFFF"/>
                          </a:solidFill>
                          <a:latin typeface="Segoe UI" pitchFamily="34" charset="0"/>
                          <a:ea typeface="Segoe UI" pitchFamily="34" charset="-122"/>
                          <a:cs typeface="Segoe UI" pitchFamily="34" charset="-120"/>
                        </a:rPr>
                        <a:t>Endpoints (REST)</a:t>
                      </a:r>
                      <a:endParaRPr lang="en-US" sz="1200" dirty="0">
                        <a:latin typeface="Segoe UI" charset="0"/>
                        <a:ea typeface="Segoe UI" charset="0"/>
                        <a:cs typeface="Segoe UI" charset="0"/>
                      </a:endParaRPr>
                    </a:p>
                  </a:txBody>
                  <a:tcPr marL="63500" marR="635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172A"/>
                    </a:solidFill>
                  </a:tcPr>
                </a:tc>
              </a:tr>
              <a:tr h="566928">
                <a:tc>
                  <a:txBody>
                    <a:bodyPr/>
                    <a:lstStyle/>
                    <a:p>
                      <a:pPr algn="ctr" indent="0" marL="0">
                        <a:buNone/>
                      </a:pPr>
                      <a:r>
                        <a:rPr lang="en-US" sz="1200" b="1" dirty="0">
                          <a:solidFill>
                            <a:srgbClr val="2563EB"/>
                          </a:solidFill>
                          <a:latin typeface="Segoe UI" pitchFamily="34" charset="0"/>
                          <a:ea typeface="Segoe UI" pitchFamily="34" charset="-122"/>
                          <a:cs typeface="Segoe UI" pitchFamily="34" charset="-120"/>
                        </a:rPr>
                        <a:t>Book :8001</a:t>
                      </a:r>
                      <a:endParaRPr lang="en-US" sz="1200" dirty="0">
                        <a:latin typeface="Segoe UI" charset="0"/>
                        <a:ea typeface="Segoe UI" charset="0"/>
                        <a:cs typeface="Segoe UI" charset="0"/>
                      </a:endParaRPr>
                    </a:p>
                  </a:txBody>
                  <a:tcPr marL="63500" marR="635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r>
                        <a:rPr lang="en-US" sz="1200" dirty="0">
                          <a:solidFill>
                            <a:srgbClr val="0F172A"/>
                          </a:solidFill>
                          <a:latin typeface="Segoe UI" pitchFamily="34" charset="0"/>
                          <a:ea typeface="Segoe UI" pitchFamily="34" charset="-122"/>
                          <a:cs typeface="Segoe UI" pitchFamily="34" charset="-120"/>
                        </a:rPr>
                        <a:t>GET /books · GET /books/{id} · POST /books · PATCH /books/{id}/availability</a:t>
                      </a:r>
                      <a:endParaRPr lang="en-US" sz="1200" dirty="0">
                        <a:latin typeface="Segoe UI" charset="0"/>
                        <a:ea typeface="Segoe UI" charset="0"/>
                        <a:cs typeface="Segoe UI" charset="0"/>
                      </a:endParaRPr>
                    </a:p>
                  </a:txBody>
                  <a:tcPr marL="63500" marR="635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66928">
                <a:tc>
                  <a:txBody>
                    <a:bodyPr/>
                    <a:lstStyle/>
                    <a:p>
                      <a:pPr algn="ctr" indent="0" marL="0">
                        <a:buNone/>
                      </a:pPr>
                      <a:r>
                        <a:rPr lang="en-US" sz="1200" b="1" dirty="0">
                          <a:solidFill>
                            <a:srgbClr val="16A34A"/>
                          </a:solidFill>
                          <a:latin typeface="Segoe UI" pitchFamily="34" charset="0"/>
                          <a:ea typeface="Segoe UI" pitchFamily="34" charset="-122"/>
                          <a:cs typeface="Segoe UI" pitchFamily="34" charset="-120"/>
                        </a:rPr>
                        <a:t>Member :8002</a:t>
                      </a:r>
                      <a:endParaRPr lang="en-US" sz="1200" dirty="0">
                        <a:latin typeface="Segoe UI" charset="0"/>
                        <a:ea typeface="Segoe UI" charset="0"/>
                        <a:cs typeface="Segoe UI" charset="0"/>
                      </a:endParaRPr>
                    </a:p>
                  </a:txBody>
                  <a:tcPr marL="63500" marR="635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algn="l" indent="0" marL="0">
                        <a:buNone/>
                      </a:pPr>
                      <a:r>
                        <a:rPr lang="en-US" sz="1200" dirty="0">
                          <a:solidFill>
                            <a:srgbClr val="0F172A"/>
                          </a:solidFill>
                          <a:latin typeface="Segoe UI" pitchFamily="34" charset="0"/>
                          <a:ea typeface="Segoe UI" pitchFamily="34" charset="-122"/>
                          <a:cs typeface="Segoe UI" pitchFamily="34" charset="-120"/>
                        </a:rPr>
                        <a:t>GET /members · GET /members/{id} · POST /members</a:t>
                      </a:r>
                      <a:endParaRPr lang="en-US" sz="1200" dirty="0">
                        <a:latin typeface="Segoe UI" charset="0"/>
                        <a:ea typeface="Segoe UI" charset="0"/>
                        <a:cs typeface="Segoe UI" charset="0"/>
                      </a:endParaRPr>
                    </a:p>
                  </a:txBody>
                  <a:tcPr marL="63500" marR="635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r>
              <a:tr h="566928">
                <a:tc>
                  <a:txBody>
                    <a:bodyPr/>
                    <a:lstStyle/>
                    <a:p>
                      <a:pPr algn="ctr" indent="0" marL="0">
                        <a:buNone/>
                      </a:pPr>
                      <a:r>
                        <a:rPr lang="en-US" sz="1200" b="1" dirty="0">
                          <a:solidFill>
                            <a:srgbClr val="7C3AED"/>
                          </a:solidFill>
                          <a:latin typeface="Segoe UI" pitchFamily="34" charset="0"/>
                          <a:ea typeface="Segoe UI" pitchFamily="34" charset="-122"/>
                          <a:cs typeface="Segoe UI" pitchFamily="34" charset="-120"/>
                        </a:rPr>
                        <a:t>Borrow :8003</a:t>
                      </a:r>
                      <a:endParaRPr lang="en-US" sz="1200" dirty="0">
                        <a:latin typeface="Segoe UI" charset="0"/>
                        <a:ea typeface="Segoe UI" charset="0"/>
                        <a:cs typeface="Segoe UI" charset="0"/>
                      </a:endParaRPr>
                    </a:p>
                  </a:txBody>
                  <a:tcPr marL="63500" marR="635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r>
                        <a:rPr lang="en-US" sz="1200" dirty="0">
                          <a:solidFill>
                            <a:srgbClr val="0F172A"/>
                          </a:solidFill>
                          <a:latin typeface="Segoe UI" pitchFamily="34" charset="0"/>
                          <a:ea typeface="Segoe UI" pitchFamily="34" charset="-122"/>
                          <a:cs typeface="Segoe UI" pitchFamily="34" charset="-120"/>
                        </a:rPr>
                        <a:t>GET /services/status · GET /borrow/check · POST /borrow · POST /return/{id} · GET /borrows</a:t>
                      </a:r>
                      <a:endParaRPr lang="en-US" sz="1200" dirty="0">
                        <a:latin typeface="Segoe UI" charset="0"/>
                        <a:ea typeface="Segoe UI" charset="0"/>
                        <a:cs typeface="Segoe UI" charset="0"/>
                      </a:endParaRPr>
                    </a:p>
                  </a:txBody>
                  <a:tcPr marL="63500" marR="635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66928">
                <a:tc>
                  <a:txBody>
                    <a:bodyPr/>
                    <a:lstStyle/>
                    <a:p>
                      <a:pPr algn="ctr" indent="0" marL="0">
                        <a:buNone/>
                      </a:pPr>
                      <a:r>
                        <a:rPr lang="en-US" sz="1200" b="1" dirty="0">
                          <a:solidFill>
                            <a:srgbClr val="EA580C"/>
                          </a:solidFill>
                          <a:latin typeface="Segoe UI" pitchFamily="34" charset="0"/>
                          <a:ea typeface="Segoe UI" pitchFamily="34" charset="-122"/>
                          <a:cs typeface="Segoe UI" pitchFamily="34" charset="-120"/>
                        </a:rPr>
                        <a:t>Notification :8004</a:t>
                      </a:r>
                      <a:endParaRPr lang="en-US" sz="1200" dirty="0">
                        <a:latin typeface="Segoe UI" charset="0"/>
                        <a:ea typeface="Segoe UI" charset="0"/>
                        <a:cs typeface="Segoe UI" charset="0"/>
                      </a:endParaRPr>
                    </a:p>
                  </a:txBody>
                  <a:tcPr marL="63500" marR="635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algn="l" indent="0" marL="0">
                        <a:buNone/>
                      </a:pPr>
                      <a:r>
                        <a:rPr lang="en-US" sz="1200" dirty="0">
                          <a:solidFill>
                            <a:srgbClr val="0F172A"/>
                          </a:solidFill>
                          <a:latin typeface="Segoe UI" pitchFamily="34" charset="0"/>
                          <a:ea typeface="Segoe UI" pitchFamily="34" charset="-122"/>
                          <a:cs typeface="Segoe UI" pitchFamily="34" charset="-120"/>
                        </a:rPr>
                        <a:t>POST /notifications · GET /notifications</a:t>
                      </a:r>
                      <a:endParaRPr lang="en-US" sz="1200" dirty="0">
                        <a:latin typeface="Segoe UI" charset="0"/>
                        <a:ea typeface="Segoe UI" charset="0"/>
                        <a:cs typeface="Segoe UI" charset="0"/>
                      </a:endParaRPr>
                    </a:p>
                  </a:txBody>
                  <a:tcPr marL="63500" marR="635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r>
            </a:tbl>
          </a:graphicData>
        </a:graphic>
      </p:graphicFrame>
      <p:sp>
        <p:nvSpPr>
          <p:cNvPr id="7" name="Text 3"/>
          <p:cNvSpPr txBox="1"/>
          <p:nvPr/>
        </p:nvSpPr>
        <p:spPr>
          <a:xfrm>
            <a:off x="548640" y="4343400"/>
            <a:ext cx="6035040" cy="274320"/>
          </a:xfrm>
          <a:prstGeom prst="rect">
            <a:avLst/>
          </a:prstGeom>
          <a:noFill/>
          <a:ln/>
        </p:spPr>
        <p:txBody>
          <a:bodyPr wrap="square" lIns="0" tIns="0" rIns="0" bIns="0" rtlCol="0" anchor="ctr"/>
          <a:lstStyle/>
          <a:p>
            <a:pPr indent="0" marL="0">
              <a:buNone/>
            </a:pPr>
            <a:r>
              <a:rPr lang="en-US" sz="1200" i="1" dirty="0">
                <a:solidFill>
                  <a:schemeClr val="tx2"/>
                </a:solidFill>
              </a:rPr>
              <a:t>Every service also has GET /health</a:t>
            </a:r>
            <a:endParaRPr lang="en-US" sz="1200" dirty="0"/>
          </a:p>
        </p:txBody>
      </p:sp>
      <p:sp>
        <p:nvSpPr>
          <p:cNvPr id="8" name="code bg"/>
          <p:cNvSpPr/>
          <p:nvPr/>
        </p:nvSpPr>
        <p:spPr>
          <a:xfrm>
            <a:off x="548640" y="4754880"/>
            <a:ext cx="6035040" cy="1417320"/>
          </a:xfrm>
          <a:prstGeom prst="roundRect">
            <a:avLst>
              <a:gd name="adj" fmla="val 6452"/>
            </a:avLst>
          </a:prstGeom>
          <a:solidFill>
            <a:srgbClr val="1E293B"/>
          </a:solidFill>
          <a:ln w="12700">
            <a:solidFill>
              <a:srgbClr val="1E293B"/>
            </a:solidFill>
            <a:prstDash val="solid"/>
          </a:ln>
        </p:spPr>
      </p:sp>
      <p:sp>
        <p:nvSpPr>
          <p:cNvPr id="9" name="Text 5"/>
          <p:cNvSpPr txBox="1"/>
          <p:nvPr/>
        </p:nvSpPr>
        <p:spPr>
          <a:xfrm>
            <a:off x="731520" y="4892040"/>
            <a:ext cx="5669280" cy="1143000"/>
          </a:xfrm>
          <a:prstGeom prst="rect">
            <a:avLst/>
          </a:prstGeom>
          <a:noFill/>
          <a:ln/>
        </p:spPr>
        <p:txBody>
          <a:bodyPr wrap="square" lIns="0" tIns="0" rIns="0" bIns="0" rtlCol="0" anchor="t"/>
          <a:lstStyle/>
          <a:p>
            <a:pPr indent="0" marL="0">
              <a:buNone/>
            </a:pPr>
            <a:r>
              <a:rPr lang="en-US" sz="1300" dirty="0">
                <a:solidFill>
                  <a:srgbClr val="E2E8F0"/>
                </a:solidFill>
                <a:latin typeface="Consolas" pitchFamily="34" charset="0"/>
                <a:ea typeface="Consolas" pitchFamily="34" charset="-122"/>
                <a:cs typeface="Consolas" pitchFamily="34" charset="-120"/>
              </a:rPr>
              <a:t>cd services\book_service</a:t>
            </a:r>
            <a:endParaRPr lang="en-US" sz="1300" dirty="0"/>
          </a:p>
          <a:p>
            <a:pPr indent="0" marL="0">
              <a:buNone/>
            </a:pPr>
            <a:r>
              <a:rPr lang="en-US" sz="1300" dirty="0">
                <a:solidFill>
                  <a:srgbClr val="E2E8F0"/>
                </a:solidFill>
                <a:latin typeface="Consolas" pitchFamily="34" charset="0"/>
                <a:ea typeface="Consolas" pitchFamily="34" charset="-122"/>
                <a:cs typeface="Consolas" pitchFamily="34" charset="-120"/>
              </a:rPr>
              <a:t>python -m uvicorn main:app --port 8001</a:t>
            </a:r>
            <a:endParaRPr lang="en-US" sz="1300" dirty="0"/>
          </a:p>
          <a:p>
            <a:pPr indent="0" marL="0">
              <a:buNone/>
            </a:pPr>
            <a:endParaRPr lang="en-US" sz="1300" dirty="0"/>
          </a:p>
          <a:p>
            <a:pPr indent="0" marL="0">
              <a:buNone/>
            </a:pPr>
            <a:r>
              <a:rPr lang="en-US" sz="1300" dirty="0">
                <a:solidFill>
                  <a:srgbClr val="E2E8F0"/>
                </a:solidFill>
                <a:latin typeface="Consolas" pitchFamily="34" charset="0"/>
                <a:ea typeface="Consolas" pitchFamily="34" charset="-122"/>
                <a:cs typeface="Consolas" pitchFamily="34" charset="-120"/>
              </a:rPr>
              <a:t>python scripts\test_services.py   → ALL CHECKS PASSED</a:t>
            </a:r>
            <a:endParaRPr lang="en-US" sz="1300" dirty="0"/>
          </a:p>
        </p:txBody>
      </p:sp>
      <p:sp>
        <p:nvSpPr>
          <p:cNvPr id="10" name="frame"/>
          <p:cNvSpPr/>
          <p:nvPr/>
        </p:nvSpPr>
        <p:spPr>
          <a:xfrm>
            <a:off x="6848856" y="1362456"/>
            <a:ext cx="4864608" cy="2766086"/>
          </a:xfrm>
          <a:prstGeom prst="roundRect">
            <a:avLst>
              <a:gd name="adj" fmla="val 1983"/>
            </a:avLst>
          </a:prstGeom>
          <a:solidFill>
            <a:srgbClr val="FFFFFF"/>
          </a:solidFill>
          <a:ln w="9525">
            <a:solidFill>
              <a:srgbClr val="CBD5E1"/>
            </a:solidFill>
            <a:prstDash val="solid"/>
          </a:ln>
          <a:effectLst>
            <a:outerShdw sx="100000" sy="100000" kx="0" ky="0" algn="bl" rotWithShape="0" blurRad="76200" dist="25400" dir="5400000">
              <a:srgbClr val="000000">
                <a:alpha val="18000"/>
              </a:srgbClr>
            </a:outerShdw>
          </a:effectLst>
        </p:spPr>
      </p:sp>
      <p:pic>
        <p:nvPicPr>
          <p:cNvPr id="11" name="16_borrow_swagger_endpoints.png" descr="C:/Users/Asus/Desktop/Cloud_computing/PGC/PGC_lab/CC_github/CC_lab_evaluation/screenshots/CP1_Microservices/16_borrow_swagger_endpoints.png">    </p:cNvPr>
          <p:cNvPicPr>
            <a:picLocks noChangeAspect="1"/>
          </p:cNvPicPr>
          <p:nvPr/>
        </p:nvPicPr>
        <p:blipFill>
          <a:blip r:embed="rId1"/>
          <a:stretch>
            <a:fillRect/>
          </a:stretch>
        </p:blipFill>
        <p:spPr>
          <a:xfrm>
            <a:off x="6903720" y="1417320"/>
            <a:ext cx="4754880" cy="2656358"/>
          </a:xfrm>
          <a:prstGeom prst="rect">
            <a:avLst/>
          </a:prstGeom>
        </p:spPr>
      </p:pic>
      <p:sp>
        <p:nvSpPr>
          <p:cNvPr id="12" name="Text 7"/>
          <p:cNvSpPr txBox="1"/>
          <p:nvPr/>
        </p:nvSpPr>
        <p:spPr>
          <a:xfrm>
            <a:off x="6812280" y="4165118"/>
            <a:ext cx="4937760" cy="292608"/>
          </a:xfrm>
          <a:prstGeom prst="rect">
            <a:avLst/>
          </a:prstGeom>
          <a:noFill/>
          <a:ln/>
        </p:spPr>
        <p:txBody>
          <a:bodyPr wrap="square" lIns="0" tIns="0" rIns="0" bIns="0" rtlCol="0" anchor="ctr"/>
          <a:lstStyle/>
          <a:p>
            <a:pPr algn="ctr" indent="0" marL="0">
              <a:buNone/>
            </a:pPr>
            <a:r>
              <a:rPr lang="en-US" sz="1100" i="1" dirty="0">
                <a:solidFill>
                  <a:schemeClr val="tx2"/>
                </a:solidFill>
              </a:rPr>
              <a:t>Swagger UI of the Borrow Service (screenshot 16)</a:t>
            </a:r>
            <a:endParaRPr lang="en-US" sz="1100" dirty="0"/>
          </a:p>
        </p:txBody>
      </p:sp>
      <p:sp>
        <p:nvSpPr>
          <p:cNvPr id="25" name="Slide Number Placeholder 0"/>
          <p:cNvSpPr>
            <a:spLocks noGrp="1"/>
          </p:cNvSpPr>
          <p:nvPr>
            <p:ph type="sldNum" sz="quarter" idx="4294967295"/>
          </p:nvPr>
        </p:nvSpPr>
        <p:spPr>
          <a:xfrm>
            <a:off x="1115568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235440" cy="777240"/>
          </a:xfrm>
          <a:prstGeom prst="rect">
            <a:avLst/>
          </a:prstGeom>
          <a:noFill/>
          <a:ln/>
        </p:spPr>
        <p:txBody>
          <a:bodyPr wrap="square" lIns="0" tIns="0" rIns="0" bIns="0" rtlCol="0" anchor="ctr"/>
          <a:lstStyle/>
          <a:p>
            <a:pPr algn="l" indent="0" marL="0">
              <a:buNone/>
            </a:pPr>
            <a:r>
              <a:rPr lang="en-US" sz="2800" b="1" dirty="0">
                <a:solidFill>
                  <a:schemeClr val="tx1"/>
                </a:solidFill>
              </a:rPr>
              <a:t>One borrow request touches all four services</a:t>
            </a:r>
            <a:endParaRPr lang="en-US" sz="2800" dirty="0"/>
          </a:p>
        </p:txBody>
      </p:sp>
      <p:sp>
        <p:nvSpPr>
          <p:cNvPr id="3" name="cp badge"/>
          <p:cNvSpPr/>
          <p:nvPr/>
        </p:nvSpPr>
        <p:spPr>
          <a:xfrm>
            <a:off x="9921240" y="457200"/>
            <a:ext cx="1737360" cy="438912"/>
          </a:xfrm>
          <a:prstGeom prst="roundRect">
            <a:avLst>
              <a:gd name="adj" fmla="val 50000"/>
            </a:avLst>
          </a:prstGeom>
          <a:solidFill>
            <a:srgbClr val="0D9488"/>
          </a:solidFill>
          <a:ln w="12700">
            <a:solidFill>
              <a:srgbClr val="0D9488"/>
            </a:solidFill>
            <a:prstDash val="solid"/>
          </a:ln>
        </p:spPr>
      </p:sp>
      <p:sp>
        <p:nvSpPr>
          <p:cNvPr id="4" name="Text 2"/>
          <p:cNvSpPr txBox="1"/>
          <p:nvPr/>
        </p:nvSpPr>
        <p:spPr>
          <a:xfrm>
            <a:off x="9921240" y="457200"/>
            <a:ext cx="1737360" cy="438912"/>
          </a:xfrm>
          <a:prstGeom prst="rect">
            <a:avLst/>
          </a:prstGeom>
          <a:noFill/>
          <a:ln/>
        </p:spPr>
        <p:txBody>
          <a:bodyPr wrap="square" lIns="0" tIns="0" rIns="0" bIns="0" rtlCol="0" anchor="ctr"/>
          <a:lstStyle/>
          <a:p>
            <a:pPr algn="ctr" indent="0" marL="0">
              <a:buNone/>
            </a:pPr>
            <a:r>
              <a:rPr lang="en-US" sz="1150" b="1" spc="100" kern="0" dirty="0">
                <a:solidFill>
                  <a:schemeClr val="bg1"/>
                </a:solidFill>
              </a:rPr>
              <a:t>CP1 · SERVICES</a:t>
            </a:r>
            <a:endParaRPr lang="en-US" sz="1150" dirty="0"/>
          </a:p>
        </p:txBody>
      </p:sp>
      <p:sp>
        <p:nvSpPr>
          <p:cNvPr id="6" name="dot"/>
          <p:cNvSpPr/>
          <p:nvPr/>
        </p:nvSpPr>
        <p:spPr>
          <a:xfrm>
            <a:off x="548640" y="1325880"/>
            <a:ext cx="548640" cy="548640"/>
          </a:xfrm>
          <a:prstGeom prst="ellipse">
            <a:avLst/>
          </a:prstGeom>
          <a:solidFill>
            <a:srgbClr val="7C3AED"/>
          </a:solidFill>
          <a:ln w="12700">
            <a:solidFill>
              <a:srgbClr val="7C3AED"/>
            </a:solidFill>
            <a:prstDash val="solid"/>
          </a:ln>
        </p:spPr>
      </p:sp>
      <p:sp>
        <p:nvSpPr>
          <p:cNvPr id="7" name="Text 4"/>
          <p:cNvSpPr txBox="1"/>
          <p:nvPr/>
        </p:nvSpPr>
        <p:spPr>
          <a:xfrm>
            <a:off x="548640" y="132588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8" name="Text 5"/>
          <p:cNvSpPr txBox="1"/>
          <p:nvPr/>
        </p:nvSpPr>
        <p:spPr>
          <a:xfrm>
            <a:off x="1280160" y="1289304"/>
            <a:ext cx="4937760" cy="310896"/>
          </a:xfrm>
          <a:prstGeom prst="rect">
            <a:avLst/>
          </a:prstGeom>
          <a:noFill/>
          <a:ln/>
        </p:spPr>
        <p:txBody>
          <a:bodyPr wrap="square" lIns="0" tIns="0" rIns="0" bIns="0" rtlCol="0" anchor="ctr"/>
          <a:lstStyle/>
          <a:p>
            <a:pPr indent="0" marL="0">
              <a:buNone/>
            </a:pPr>
            <a:r>
              <a:rPr lang="en-US" sz="1500" b="1" dirty="0">
                <a:solidFill>
                  <a:srgbClr val="7C3AED"/>
                </a:solidFill>
              </a:rPr>
              <a:t>Client → Borrow</a:t>
            </a:r>
            <a:endParaRPr lang="en-US" sz="1500" dirty="0"/>
          </a:p>
        </p:txBody>
      </p:sp>
      <p:sp>
        <p:nvSpPr>
          <p:cNvPr id="9" name="Text 6"/>
          <p:cNvSpPr txBox="1"/>
          <p:nvPr/>
        </p:nvSpPr>
        <p:spPr>
          <a:xfrm>
            <a:off x="1280160" y="1600200"/>
            <a:ext cx="4937760" cy="292608"/>
          </a:xfrm>
          <a:prstGeom prst="rect">
            <a:avLst/>
          </a:prstGeom>
          <a:noFill/>
          <a:ln/>
        </p:spPr>
        <p:txBody>
          <a:bodyPr wrap="square" lIns="0" tIns="0" rIns="0" bIns="0" rtlCol="0" anchor="ctr"/>
          <a:lstStyle/>
          <a:p>
            <a:pPr indent="0" marL="0">
              <a:buNone/>
            </a:pPr>
            <a:r>
              <a:rPr lang="en-US" sz="1300" dirty="0">
                <a:solidFill>
                  <a:schemeClr val="tx2"/>
                </a:solidFill>
                <a:latin typeface="Consolas" pitchFamily="34" charset="0"/>
                <a:ea typeface="Consolas" pitchFamily="34" charset="-122"/>
                <a:cs typeface="Consolas" pitchFamily="34" charset="-120"/>
              </a:rPr>
              <a:t>POST /borrow {member_id, book_id}</a:t>
            </a:r>
            <a:endParaRPr lang="en-US" sz="1300" dirty="0"/>
          </a:p>
        </p:txBody>
      </p:sp>
      <p:sp>
        <p:nvSpPr>
          <p:cNvPr id="10" name="dot"/>
          <p:cNvSpPr/>
          <p:nvPr/>
        </p:nvSpPr>
        <p:spPr>
          <a:xfrm>
            <a:off x="548640" y="2057400"/>
            <a:ext cx="548640" cy="548640"/>
          </a:xfrm>
          <a:prstGeom prst="ellipse">
            <a:avLst/>
          </a:prstGeom>
          <a:solidFill>
            <a:srgbClr val="16A34A"/>
          </a:solidFill>
          <a:ln w="12700">
            <a:solidFill>
              <a:srgbClr val="16A34A"/>
            </a:solidFill>
            <a:prstDash val="solid"/>
          </a:ln>
        </p:spPr>
      </p:sp>
      <p:sp>
        <p:nvSpPr>
          <p:cNvPr id="11" name="Text 8"/>
          <p:cNvSpPr txBox="1"/>
          <p:nvPr/>
        </p:nvSpPr>
        <p:spPr>
          <a:xfrm>
            <a:off x="548640" y="205740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12" name="Text 9"/>
          <p:cNvSpPr txBox="1"/>
          <p:nvPr/>
        </p:nvSpPr>
        <p:spPr>
          <a:xfrm>
            <a:off x="1280160" y="2020824"/>
            <a:ext cx="4937760" cy="310896"/>
          </a:xfrm>
          <a:prstGeom prst="rect">
            <a:avLst/>
          </a:prstGeom>
          <a:noFill/>
          <a:ln/>
        </p:spPr>
        <p:txBody>
          <a:bodyPr wrap="square" lIns="0" tIns="0" rIns="0" bIns="0" rtlCol="0" anchor="ctr"/>
          <a:lstStyle/>
          <a:p>
            <a:pPr indent="0" marL="0">
              <a:buNone/>
            </a:pPr>
            <a:r>
              <a:rPr lang="en-US" sz="1500" b="1" dirty="0">
                <a:solidFill>
                  <a:srgbClr val="16A34A"/>
                </a:solidFill>
              </a:rPr>
              <a:t>Borrow → Member</a:t>
            </a:r>
            <a:endParaRPr lang="en-US" sz="1500" dirty="0"/>
          </a:p>
        </p:txBody>
      </p:sp>
      <p:sp>
        <p:nvSpPr>
          <p:cNvPr id="13" name="Text 10"/>
          <p:cNvSpPr txBox="1"/>
          <p:nvPr/>
        </p:nvSpPr>
        <p:spPr>
          <a:xfrm>
            <a:off x="1280160" y="2331720"/>
            <a:ext cx="4937760" cy="292608"/>
          </a:xfrm>
          <a:prstGeom prst="rect">
            <a:avLst/>
          </a:prstGeom>
          <a:noFill/>
          <a:ln/>
        </p:spPr>
        <p:txBody>
          <a:bodyPr wrap="square" lIns="0" tIns="0" rIns="0" bIns="0" rtlCol="0" anchor="ctr"/>
          <a:lstStyle/>
          <a:p>
            <a:pPr indent="0" marL="0">
              <a:buNone/>
            </a:pPr>
            <a:r>
              <a:rPr lang="en-US" sz="1300" dirty="0">
                <a:solidFill>
                  <a:schemeClr val="tx2"/>
                </a:solidFill>
                <a:latin typeface="Consolas" pitchFamily="34" charset="0"/>
                <a:ea typeface="Consolas" pitchFamily="34" charset="-122"/>
                <a:cs typeface="Consolas" pitchFamily="34" charset="-120"/>
              </a:rPr>
              <a:t>GET /members/{id} — exists and active?</a:t>
            </a:r>
            <a:endParaRPr lang="en-US" sz="1300" dirty="0"/>
          </a:p>
        </p:txBody>
      </p:sp>
      <p:sp>
        <p:nvSpPr>
          <p:cNvPr id="14" name="dot"/>
          <p:cNvSpPr/>
          <p:nvPr/>
        </p:nvSpPr>
        <p:spPr>
          <a:xfrm>
            <a:off x="548640" y="2788920"/>
            <a:ext cx="548640" cy="548640"/>
          </a:xfrm>
          <a:prstGeom prst="ellipse">
            <a:avLst/>
          </a:prstGeom>
          <a:solidFill>
            <a:srgbClr val="2563EB"/>
          </a:solidFill>
          <a:ln w="12700">
            <a:solidFill>
              <a:srgbClr val="2563EB"/>
            </a:solidFill>
            <a:prstDash val="solid"/>
          </a:ln>
        </p:spPr>
      </p:sp>
      <p:sp>
        <p:nvSpPr>
          <p:cNvPr id="15" name="Text 12"/>
          <p:cNvSpPr txBox="1"/>
          <p:nvPr/>
        </p:nvSpPr>
        <p:spPr>
          <a:xfrm>
            <a:off x="548640" y="278892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16" name="Text 13"/>
          <p:cNvSpPr txBox="1"/>
          <p:nvPr/>
        </p:nvSpPr>
        <p:spPr>
          <a:xfrm>
            <a:off x="1280160" y="2752344"/>
            <a:ext cx="4937760" cy="310896"/>
          </a:xfrm>
          <a:prstGeom prst="rect">
            <a:avLst/>
          </a:prstGeom>
          <a:noFill/>
          <a:ln/>
        </p:spPr>
        <p:txBody>
          <a:bodyPr wrap="square" lIns="0" tIns="0" rIns="0" bIns="0" rtlCol="0" anchor="ctr"/>
          <a:lstStyle/>
          <a:p>
            <a:pPr indent="0" marL="0">
              <a:buNone/>
            </a:pPr>
            <a:r>
              <a:rPr lang="en-US" sz="1500" b="1" dirty="0">
                <a:solidFill>
                  <a:srgbClr val="2563EB"/>
                </a:solidFill>
              </a:rPr>
              <a:t>Borrow → Book</a:t>
            </a:r>
            <a:endParaRPr lang="en-US" sz="1500" dirty="0"/>
          </a:p>
        </p:txBody>
      </p:sp>
      <p:sp>
        <p:nvSpPr>
          <p:cNvPr id="17" name="Text 14"/>
          <p:cNvSpPr txBox="1"/>
          <p:nvPr/>
        </p:nvSpPr>
        <p:spPr>
          <a:xfrm>
            <a:off x="1280160" y="3063240"/>
            <a:ext cx="4937760" cy="292608"/>
          </a:xfrm>
          <a:prstGeom prst="rect">
            <a:avLst/>
          </a:prstGeom>
          <a:noFill/>
          <a:ln/>
        </p:spPr>
        <p:txBody>
          <a:bodyPr wrap="square" lIns="0" tIns="0" rIns="0" bIns="0" rtlCol="0" anchor="ctr"/>
          <a:lstStyle/>
          <a:p>
            <a:pPr indent="0" marL="0">
              <a:buNone/>
            </a:pPr>
            <a:r>
              <a:rPr lang="en-US" sz="1300" dirty="0">
                <a:solidFill>
                  <a:schemeClr val="tx2"/>
                </a:solidFill>
                <a:latin typeface="Consolas" pitchFamily="34" charset="0"/>
                <a:ea typeface="Consolas" pitchFamily="34" charset="-122"/>
                <a:cs typeface="Consolas" pitchFamily="34" charset="-120"/>
              </a:rPr>
              <a:t>GET /books/{id} — exists and available?</a:t>
            </a:r>
            <a:endParaRPr lang="en-US" sz="1300" dirty="0"/>
          </a:p>
        </p:txBody>
      </p:sp>
      <p:sp>
        <p:nvSpPr>
          <p:cNvPr id="18" name="dot"/>
          <p:cNvSpPr/>
          <p:nvPr/>
        </p:nvSpPr>
        <p:spPr>
          <a:xfrm>
            <a:off x="548640" y="3520440"/>
            <a:ext cx="548640" cy="548640"/>
          </a:xfrm>
          <a:prstGeom prst="ellipse">
            <a:avLst/>
          </a:prstGeom>
          <a:solidFill>
            <a:srgbClr val="2563EB"/>
          </a:solidFill>
          <a:ln w="12700">
            <a:solidFill>
              <a:srgbClr val="2563EB"/>
            </a:solidFill>
            <a:prstDash val="solid"/>
          </a:ln>
        </p:spPr>
      </p:sp>
      <p:sp>
        <p:nvSpPr>
          <p:cNvPr id="19" name="Text 16"/>
          <p:cNvSpPr txBox="1"/>
          <p:nvPr/>
        </p:nvSpPr>
        <p:spPr>
          <a:xfrm>
            <a:off x="548640" y="352044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rPr>
              <a:t>4</a:t>
            </a:r>
            <a:endParaRPr lang="en-US" sz="1600" dirty="0"/>
          </a:p>
        </p:txBody>
      </p:sp>
      <p:sp>
        <p:nvSpPr>
          <p:cNvPr id="20" name="Text 17"/>
          <p:cNvSpPr txBox="1"/>
          <p:nvPr/>
        </p:nvSpPr>
        <p:spPr>
          <a:xfrm>
            <a:off x="1280160" y="3483864"/>
            <a:ext cx="4937760" cy="310896"/>
          </a:xfrm>
          <a:prstGeom prst="rect">
            <a:avLst/>
          </a:prstGeom>
          <a:noFill/>
          <a:ln/>
        </p:spPr>
        <p:txBody>
          <a:bodyPr wrap="square" lIns="0" tIns="0" rIns="0" bIns="0" rtlCol="0" anchor="ctr"/>
          <a:lstStyle/>
          <a:p>
            <a:pPr indent="0" marL="0">
              <a:buNone/>
            </a:pPr>
            <a:r>
              <a:rPr lang="en-US" sz="1500" b="1" dirty="0">
                <a:solidFill>
                  <a:srgbClr val="2563EB"/>
                </a:solidFill>
              </a:rPr>
              <a:t>Borrow → Book</a:t>
            </a:r>
            <a:endParaRPr lang="en-US" sz="1500" dirty="0"/>
          </a:p>
        </p:txBody>
      </p:sp>
      <p:sp>
        <p:nvSpPr>
          <p:cNvPr id="21" name="Text 18"/>
          <p:cNvSpPr txBox="1"/>
          <p:nvPr/>
        </p:nvSpPr>
        <p:spPr>
          <a:xfrm>
            <a:off x="1280160" y="3794760"/>
            <a:ext cx="4937760" cy="292608"/>
          </a:xfrm>
          <a:prstGeom prst="rect">
            <a:avLst/>
          </a:prstGeom>
          <a:noFill/>
          <a:ln/>
        </p:spPr>
        <p:txBody>
          <a:bodyPr wrap="square" lIns="0" tIns="0" rIns="0" bIns="0" rtlCol="0" anchor="ctr"/>
          <a:lstStyle/>
          <a:p>
            <a:pPr indent="0" marL="0">
              <a:buNone/>
            </a:pPr>
            <a:r>
              <a:rPr lang="en-US" sz="1300" dirty="0">
                <a:solidFill>
                  <a:schemeClr val="tx2"/>
                </a:solidFill>
                <a:latin typeface="Consolas" pitchFamily="34" charset="0"/>
                <a:ea typeface="Consolas" pitchFamily="34" charset="-122"/>
                <a:cs typeface="Consolas" pitchFamily="34" charset="-120"/>
              </a:rPr>
              <a:t>PATCH availability = false</a:t>
            </a:r>
            <a:endParaRPr lang="en-US" sz="1300" dirty="0"/>
          </a:p>
        </p:txBody>
      </p:sp>
      <p:sp>
        <p:nvSpPr>
          <p:cNvPr id="22" name="dot"/>
          <p:cNvSpPr/>
          <p:nvPr/>
        </p:nvSpPr>
        <p:spPr>
          <a:xfrm>
            <a:off x="548640" y="4251960"/>
            <a:ext cx="548640" cy="548640"/>
          </a:xfrm>
          <a:prstGeom prst="ellipse">
            <a:avLst/>
          </a:prstGeom>
          <a:solidFill>
            <a:srgbClr val="7C3AED"/>
          </a:solidFill>
          <a:ln w="12700">
            <a:solidFill>
              <a:srgbClr val="7C3AED"/>
            </a:solidFill>
            <a:prstDash val="solid"/>
          </a:ln>
        </p:spPr>
      </p:sp>
      <p:sp>
        <p:nvSpPr>
          <p:cNvPr id="23" name="Text 20"/>
          <p:cNvSpPr txBox="1"/>
          <p:nvPr/>
        </p:nvSpPr>
        <p:spPr>
          <a:xfrm>
            <a:off x="548640" y="425196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rPr>
              <a:t>5</a:t>
            </a:r>
            <a:endParaRPr lang="en-US" sz="1600" dirty="0"/>
          </a:p>
        </p:txBody>
      </p:sp>
      <p:sp>
        <p:nvSpPr>
          <p:cNvPr id="24" name="Text 21"/>
          <p:cNvSpPr txBox="1"/>
          <p:nvPr/>
        </p:nvSpPr>
        <p:spPr>
          <a:xfrm>
            <a:off x="1280160" y="4215384"/>
            <a:ext cx="4937760" cy="310896"/>
          </a:xfrm>
          <a:prstGeom prst="rect">
            <a:avLst/>
          </a:prstGeom>
          <a:noFill/>
          <a:ln/>
        </p:spPr>
        <p:txBody>
          <a:bodyPr wrap="square" lIns="0" tIns="0" rIns="0" bIns="0" rtlCol="0" anchor="ctr"/>
          <a:lstStyle/>
          <a:p>
            <a:pPr indent="0" marL="0">
              <a:buNone/>
            </a:pPr>
            <a:r>
              <a:rPr lang="en-US" sz="1500" b="1" dirty="0">
                <a:solidFill>
                  <a:srgbClr val="7C3AED"/>
                </a:solidFill>
              </a:rPr>
              <a:t>Borrow (own DB)</a:t>
            </a:r>
            <a:endParaRPr lang="en-US" sz="1500" dirty="0"/>
          </a:p>
        </p:txBody>
      </p:sp>
      <p:sp>
        <p:nvSpPr>
          <p:cNvPr id="25" name="Text 22"/>
          <p:cNvSpPr txBox="1"/>
          <p:nvPr/>
        </p:nvSpPr>
        <p:spPr>
          <a:xfrm>
            <a:off x="1280160" y="4526280"/>
            <a:ext cx="4937760" cy="292608"/>
          </a:xfrm>
          <a:prstGeom prst="rect">
            <a:avLst/>
          </a:prstGeom>
          <a:noFill/>
          <a:ln/>
        </p:spPr>
        <p:txBody>
          <a:bodyPr wrap="square" lIns="0" tIns="0" rIns="0" bIns="0" rtlCol="0" anchor="ctr"/>
          <a:lstStyle/>
          <a:p>
            <a:pPr indent="0" marL="0">
              <a:buNone/>
            </a:pPr>
            <a:r>
              <a:rPr lang="en-US" sz="1300" dirty="0">
                <a:solidFill>
                  <a:schemeClr val="tx2"/>
                </a:solidFill>
                <a:latin typeface="Consolas" pitchFamily="34" charset="0"/>
                <a:ea typeface="Consolas" pitchFamily="34" charset="-122"/>
                <a:cs typeface="Consolas" pitchFamily="34" charset="-120"/>
              </a:rPr>
              <a:t>INSERT row into borrows.db</a:t>
            </a:r>
            <a:endParaRPr lang="en-US" sz="1300" dirty="0"/>
          </a:p>
        </p:txBody>
      </p:sp>
      <p:sp>
        <p:nvSpPr>
          <p:cNvPr id="26" name="dot"/>
          <p:cNvSpPr/>
          <p:nvPr/>
        </p:nvSpPr>
        <p:spPr>
          <a:xfrm>
            <a:off x="548640" y="4983480"/>
            <a:ext cx="548640" cy="548640"/>
          </a:xfrm>
          <a:prstGeom prst="ellipse">
            <a:avLst/>
          </a:prstGeom>
          <a:solidFill>
            <a:srgbClr val="EA580C"/>
          </a:solidFill>
          <a:ln w="12700">
            <a:solidFill>
              <a:srgbClr val="EA580C"/>
            </a:solidFill>
            <a:prstDash val="solid"/>
          </a:ln>
        </p:spPr>
      </p:sp>
      <p:sp>
        <p:nvSpPr>
          <p:cNvPr id="27" name="Text 24"/>
          <p:cNvSpPr txBox="1"/>
          <p:nvPr/>
        </p:nvSpPr>
        <p:spPr>
          <a:xfrm>
            <a:off x="548640" y="498348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rPr>
              <a:t>6</a:t>
            </a:r>
            <a:endParaRPr lang="en-US" sz="1600" dirty="0"/>
          </a:p>
        </p:txBody>
      </p:sp>
      <p:sp>
        <p:nvSpPr>
          <p:cNvPr id="28" name="Text 25"/>
          <p:cNvSpPr txBox="1"/>
          <p:nvPr/>
        </p:nvSpPr>
        <p:spPr>
          <a:xfrm>
            <a:off x="1280160" y="4946904"/>
            <a:ext cx="4937760" cy="310896"/>
          </a:xfrm>
          <a:prstGeom prst="rect">
            <a:avLst/>
          </a:prstGeom>
          <a:noFill/>
          <a:ln/>
        </p:spPr>
        <p:txBody>
          <a:bodyPr wrap="square" lIns="0" tIns="0" rIns="0" bIns="0" rtlCol="0" anchor="ctr"/>
          <a:lstStyle/>
          <a:p>
            <a:pPr indent="0" marL="0">
              <a:buNone/>
            </a:pPr>
            <a:r>
              <a:rPr lang="en-US" sz="1500" b="1" dirty="0">
                <a:solidFill>
                  <a:srgbClr val="EA580C"/>
                </a:solidFill>
              </a:rPr>
              <a:t>Borrow → Notification</a:t>
            </a:r>
            <a:endParaRPr lang="en-US" sz="1500" dirty="0"/>
          </a:p>
        </p:txBody>
      </p:sp>
      <p:sp>
        <p:nvSpPr>
          <p:cNvPr id="29" name="Text 26"/>
          <p:cNvSpPr txBox="1"/>
          <p:nvPr/>
        </p:nvSpPr>
        <p:spPr>
          <a:xfrm>
            <a:off x="1280160" y="5257800"/>
            <a:ext cx="4937760" cy="292608"/>
          </a:xfrm>
          <a:prstGeom prst="rect">
            <a:avLst/>
          </a:prstGeom>
          <a:noFill/>
          <a:ln/>
        </p:spPr>
        <p:txBody>
          <a:bodyPr wrap="square" lIns="0" tIns="0" rIns="0" bIns="0" rtlCol="0" anchor="ctr"/>
          <a:lstStyle/>
          <a:p>
            <a:pPr indent="0" marL="0">
              <a:buNone/>
            </a:pPr>
            <a:r>
              <a:rPr lang="en-US" sz="1300" dirty="0">
                <a:solidFill>
                  <a:schemeClr val="tx2"/>
                </a:solidFill>
                <a:latin typeface="Consolas" pitchFamily="34" charset="0"/>
                <a:ea typeface="Consolas" pitchFamily="34" charset="-122"/>
                <a:cs typeface="Consolas" pitchFamily="34" charset="-120"/>
              </a:rPr>
              <a:t>POST /notifications — message saved</a:t>
            </a:r>
            <a:endParaRPr lang="en-US" sz="1300" dirty="0"/>
          </a:p>
        </p:txBody>
      </p:sp>
      <p:sp>
        <p:nvSpPr>
          <p:cNvPr id="30" name="card"/>
          <p:cNvSpPr/>
          <p:nvPr/>
        </p:nvSpPr>
        <p:spPr>
          <a:xfrm>
            <a:off x="548640" y="5760720"/>
            <a:ext cx="5669280" cy="411480"/>
          </a:xfrm>
          <a:prstGeom prst="roundRect">
            <a:avLst>
              <a:gd name="adj" fmla="val 26667"/>
            </a:avLst>
          </a:prstGeom>
          <a:solidFill>
            <a:srgbClr val="DCFCE7"/>
          </a:solidFill>
          <a:ln w="12700">
            <a:solidFill>
              <a:srgbClr val="DCFCE7"/>
            </a:solidFill>
            <a:prstDash val="solid"/>
          </a:ln>
        </p:spPr>
      </p:sp>
      <p:sp>
        <p:nvSpPr>
          <p:cNvPr id="31" name="Text 28"/>
          <p:cNvSpPr txBox="1"/>
          <p:nvPr/>
        </p:nvSpPr>
        <p:spPr>
          <a:xfrm>
            <a:off x="685800" y="5779008"/>
            <a:ext cx="5486400" cy="365760"/>
          </a:xfrm>
          <a:prstGeom prst="rect">
            <a:avLst/>
          </a:prstGeom>
          <a:noFill/>
          <a:ln/>
        </p:spPr>
        <p:txBody>
          <a:bodyPr wrap="square" lIns="0" tIns="0" rIns="0" bIns="0" rtlCol="0" anchor="ctr"/>
          <a:lstStyle/>
          <a:p>
            <a:pPr indent="0" marL="0">
              <a:buNone/>
            </a:pPr>
            <a:r>
              <a:rPr lang="en-US" sz="1250" b="1" dirty="0">
                <a:solidFill>
                  <a:srgbClr val="166534"/>
                </a:solidFill>
              </a:rPr>
              <a:t>Reply: 201 Created  {borrow_id, member, book, notification}</a:t>
            </a:r>
            <a:endParaRPr lang="en-US" sz="1250" dirty="0"/>
          </a:p>
        </p:txBody>
      </p:sp>
      <p:sp>
        <p:nvSpPr>
          <p:cNvPr id="32" name="frame"/>
          <p:cNvSpPr/>
          <p:nvPr/>
        </p:nvSpPr>
        <p:spPr>
          <a:xfrm>
            <a:off x="6620256" y="1316736"/>
            <a:ext cx="5093208" cy="3828743"/>
          </a:xfrm>
          <a:prstGeom prst="roundRect">
            <a:avLst>
              <a:gd name="adj" fmla="val 1433"/>
            </a:avLst>
          </a:prstGeom>
          <a:solidFill>
            <a:srgbClr val="FFFFFF"/>
          </a:solidFill>
          <a:ln w="9525">
            <a:solidFill>
              <a:srgbClr val="CBD5E1"/>
            </a:solidFill>
            <a:prstDash val="solid"/>
          </a:ln>
          <a:effectLst>
            <a:outerShdw sx="100000" sy="100000" kx="0" ky="0" algn="bl" rotWithShape="0" blurRad="76200" dist="25400" dir="5400000">
              <a:srgbClr val="000000">
                <a:alpha val="18000"/>
              </a:srgbClr>
            </a:outerShdw>
          </a:effectLst>
        </p:spPr>
      </p:sp>
      <p:pic>
        <p:nvPicPr>
          <p:cNvPr id="33" name="20_borrow_post_borrow.png" descr="C:/Users/Asus/Desktop/Cloud_computing/PGC/PGC_lab/CC_github/CC_lab_evaluation/screenshots/CP1_Microservices/20_borrow_post_borrow.png">    </p:cNvPr>
          <p:cNvPicPr>
            <a:picLocks noChangeAspect="1"/>
          </p:cNvPicPr>
          <p:nvPr/>
        </p:nvPicPr>
        <p:blipFill>
          <a:blip r:embed="rId1"/>
          <a:stretch>
            <a:fillRect/>
          </a:stretch>
        </p:blipFill>
        <p:spPr>
          <a:xfrm>
            <a:off x="6675120" y="1371600"/>
            <a:ext cx="4983480" cy="3719015"/>
          </a:xfrm>
          <a:prstGeom prst="rect">
            <a:avLst/>
          </a:prstGeom>
        </p:spPr>
      </p:pic>
      <p:sp>
        <p:nvSpPr>
          <p:cNvPr id="34" name="Text 30"/>
          <p:cNvSpPr txBox="1"/>
          <p:nvPr/>
        </p:nvSpPr>
        <p:spPr>
          <a:xfrm>
            <a:off x="6583680" y="5182055"/>
            <a:ext cx="5166360" cy="292608"/>
          </a:xfrm>
          <a:prstGeom prst="rect">
            <a:avLst/>
          </a:prstGeom>
          <a:noFill/>
          <a:ln/>
        </p:spPr>
        <p:txBody>
          <a:bodyPr wrap="square" lIns="0" tIns="0" rIns="0" bIns="0" rtlCol="0" anchor="ctr"/>
          <a:lstStyle/>
          <a:p>
            <a:pPr algn="ctr" indent="0" marL="0">
              <a:buNone/>
            </a:pPr>
            <a:r>
              <a:rPr lang="en-US" sz="1100" i="1" dirty="0">
                <a:solidFill>
                  <a:schemeClr val="tx2"/>
                </a:solidFill>
              </a:rPr>
              <a:t>POST /borrow in Swagger → 201 (screenshot 20)</a:t>
            </a:r>
            <a:endParaRPr lang="en-US" sz="1100" dirty="0"/>
          </a:p>
        </p:txBody>
      </p:sp>
      <p:sp>
        <p:nvSpPr>
          <p:cNvPr id="25" name="Slide Number Placeholder 0"/>
          <p:cNvSpPr>
            <a:spLocks noGrp="1"/>
          </p:cNvSpPr>
          <p:nvPr>
            <p:ph type="sldNum" sz="quarter" idx="4294967295"/>
          </p:nvPr>
        </p:nvSpPr>
        <p:spPr>
          <a:xfrm>
            <a:off x="1115568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235440" cy="777240"/>
          </a:xfrm>
          <a:prstGeom prst="rect">
            <a:avLst/>
          </a:prstGeom>
          <a:noFill/>
          <a:ln/>
        </p:spPr>
        <p:txBody>
          <a:bodyPr wrap="square" lIns="0" tIns="0" rIns="0" bIns="0" rtlCol="0" anchor="ctr"/>
          <a:lstStyle/>
          <a:p>
            <a:pPr algn="l" indent="0" marL="0">
              <a:buNone/>
            </a:pPr>
            <a:r>
              <a:rPr lang="en-US" sz="2800" b="1" dirty="0">
                <a:solidFill>
                  <a:schemeClr val="tx1"/>
                </a:solidFill>
              </a:rPr>
              <a:t>A Dockerfile packages each service into an image</a:t>
            </a:r>
            <a:endParaRPr lang="en-US" sz="2800" dirty="0"/>
          </a:p>
        </p:txBody>
      </p:sp>
      <p:sp>
        <p:nvSpPr>
          <p:cNvPr id="3" name="cp badge"/>
          <p:cNvSpPr/>
          <p:nvPr/>
        </p:nvSpPr>
        <p:spPr>
          <a:xfrm>
            <a:off x="9921240" y="457200"/>
            <a:ext cx="1737360" cy="438912"/>
          </a:xfrm>
          <a:prstGeom prst="roundRect">
            <a:avLst>
              <a:gd name="adj" fmla="val 50000"/>
            </a:avLst>
          </a:prstGeom>
          <a:solidFill>
            <a:srgbClr val="2563EB"/>
          </a:solidFill>
          <a:ln w="12700">
            <a:solidFill>
              <a:srgbClr val="2563EB"/>
            </a:solidFill>
            <a:prstDash val="solid"/>
          </a:ln>
        </p:spPr>
      </p:sp>
      <p:sp>
        <p:nvSpPr>
          <p:cNvPr id="4" name="Text 2"/>
          <p:cNvSpPr txBox="1"/>
          <p:nvPr/>
        </p:nvSpPr>
        <p:spPr>
          <a:xfrm>
            <a:off x="9921240" y="457200"/>
            <a:ext cx="1737360" cy="438912"/>
          </a:xfrm>
          <a:prstGeom prst="rect">
            <a:avLst/>
          </a:prstGeom>
          <a:noFill/>
          <a:ln/>
        </p:spPr>
        <p:txBody>
          <a:bodyPr wrap="square" lIns="0" tIns="0" rIns="0" bIns="0" rtlCol="0" anchor="ctr"/>
          <a:lstStyle/>
          <a:p>
            <a:pPr algn="ctr" indent="0" marL="0">
              <a:buNone/>
            </a:pPr>
            <a:r>
              <a:rPr lang="en-US" sz="1150" b="1" spc="100" kern="0" dirty="0">
                <a:solidFill>
                  <a:schemeClr val="bg1"/>
                </a:solidFill>
              </a:rPr>
              <a:t>CP2 · DOCKER</a:t>
            </a:r>
            <a:endParaRPr lang="en-US" sz="1150" dirty="0"/>
          </a:p>
        </p:txBody>
      </p:sp>
      <p:sp>
        <p:nvSpPr>
          <p:cNvPr id="6" name="code bg"/>
          <p:cNvSpPr/>
          <p:nvPr/>
        </p:nvSpPr>
        <p:spPr>
          <a:xfrm>
            <a:off x="548640" y="1325880"/>
            <a:ext cx="4846320" cy="4892040"/>
          </a:xfrm>
          <a:prstGeom prst="roundRect">
            <a:avLst>
              <a:gd name="adj" fmla="val 1887"/>
            </a:avLst>
          </a:prstGeom>
          <a:solidFill>
            <a:srgbClr val="1E293B"/>
          </a:solidFill>
          <a:ln w="12700">
            <a:solidFill>
              <a:srgbClr val="1E293B"/>
            </a:solidFill>
            <a:prstDash val="solid"/>
          </a:ln>
        </p:spPr>
      </p:sp>
      <p:sp>
        <p:nvSpPr>
          <p:cNvPr id="7" name="Text 4"/>
          <p:cNvSpPr txBox="1"/>
          <p:nvPr/>
        </p:nvSpPr>
        <p:spPr>
          <a:xfrm>
            <a:off x="731520" y="1463040"/>
            <a:ext cx="4480560" cy="4617720"/>
          </a:xfrm>
          <a:prstGeom prst="rect">
            <a:avLst/>
          </a:prstGeom>
          <a:noFill/>
          <a:ln/>
        </p:spPr>
        <p:txBody>
          <a:bodyPr wrap="square" lIns="0" tIns="0" rIns="0" bIns="0" rtlCol="0" anchor="t"/>
          <a:lstStyle/>
          <a:p>
            <a:pPr indent="0" marL="0">
              <a:buNone/>
            </a:pPr>
            <a:r>
              <a:rPr lang="en-US" sz="1500" dirty="0">
                <a:solidFill>
                  <a:srgbClr val="E2E8F0"/>
                </a:solidFill>
                <a:latin typeface="Consolas" pitchFamily="34" charset="0"/>
                <a:ea typeface="Consolas" pitchFamily="34" charset="-122"/>
                <a:cs typeface="Consolas" pitchFamily="34" charset="-120"/>
              </a:rPr>
              <a:t>FROM python:3.12-slim</a:t>
            </a:r>
            <a:endParaRPr lang="en-US" sz="1500" dirty="0"/>
          </a:p>
          <a:p>
            <a:pPr indent="0" marL="0">
              <a:buNone/>
            </a:pPr>
            <a:r>
              <a:rPr lang="en-US" sz="1500" dirty="0">
                <a:solidFill>
                  <a:srgbClr val="E2E8F0"/>
                </a:solidFill>
                <a:latin typeface="Consolas" pitchFamily="34" charset="0"/>
                <a:ea typeface="Consolas" pitchFamily="34" charset="-122"/>
                <a:cs typeface="Consolas" pitchFamily="34" charset="-120"/>
              </a:rPr>
              <a:t>WORKDIR /app</a:t>
            </a:r>
            <a:endParaRPr lang="en-US" sz="1500" dirty="0"/>
          </a:p>
          <a:p>
            <a:pPr indent="0" marL="0">
              <a:buNone/>
            </a:pPr>
            <a:r>
              <a:rPr lang="en-US" sz="1500" dirty="0">
                <a:solidFill>
                  <a:srgbClr val="E2E8F0"/>
                </a:solidFill>
                <a:latin typeface="Consolas" pitchFamily="34" charset="0"/>
                <a:ea typeface="Consolas" pitchFamily="34" charset="-122"/>
                <a:cs typeface="Consolas" pitchFamily="34" charset="-120"/>
              </a:rPr>
              <a:t>ENV PYTHONDONTWRITEBYTECODE=1 \</a:t>
            </a:r>
            <a:endParaRPr lang="en-US" sz="1500" dirty="0"/>
          </a:p>
          <a:p>
            <a:pPr indent="0" marL="0">
              <a:buNone/>
            </a:pPr>
            <a:r>
              <a:rPr lang="en-US" sz="1500" dirty="0">
                <a:solidFill>
                  <a:srgbClr val="E2E8F0"/>
                </a:solidFill>
                <a:latin typeface="Consolas" pitchFamily="34" charset="0"/>
                <a:ea typeface="Consolas" pitchFamily="34" charset="-122"/>
                <a:cs typeface="Consolas" pitchFamily="34" charset="-120"/>
              </a:rPr>
              <a:t>    PYTHONUNBUFFERED=1</a:t>
            </a:r>
            <a:endParaRPr lang="en-US" sz="1500" dirty="0"/>
          </a:p>
          <a:p>
            <a:pPr indent="0" marL="0">
              <a:buNone/>
            </a:pPr>
            <a:r>
              <a:rPr lang="en-US" sz="1500" dirty="0">
                <a:solidFill>
                  <a:srgbClr val="E2E8F0"/>
                </a:solidFill>
                <a:latin typeface="Consolas" pitchFamily="34" charset="0"/>
                <a:ea typeface="Consolas" pitchFamily="34" charset="-122"/>
                <a:cs typeface="Consolas" pitchFamily="34" charset="-120"/>
              </a:rPr>
              <a:t>COPY requirements.txt .</a:t>
            </a:r>
            <a:endParaRPr lang="en-US" sz="1500" dirty="0"/>
          </a:p>
          <a:p>
            <a:pPr indent="0" marL="0">
              <a:buNone/>
            </a:pPr>
            <a:r>
              <a:rPr lang="en-US" sz="1500" dirty="0">
                <a:solidFill>
                  <a:srgbClr val="E2E8F0"/>
                </a:solidFill>
                <a:latin typeface="Consolas" pitchFamily="34" charset="0"/>
                <a:ea typeface="Consolas" pitchFamily="34" charset="-122"/>
                <a:cs typeface="Consolas" pitchFamily="34" charset="-120"/>
              </a:rPr>
              <a:t>RUN pip install --no-cache-dir \</a:t>
            </a:r>
            <a:endParaRPr lang="en-US" sz="1500" dirty="0"/>
          </a:p>
          <a:p>
            <a:pPr indent="0" marL="0">
              <a:buNone/>
            </a:pPr>
            <a:r>
              <a:rPr lang="en-US" sz="1500" dirty="0">
                <a:solidFill>
                  <a:srgbClr val="E2E8F0"/>
                </a:solidFill>
                <a:latin typeface="Consolas" pitchFamily="34" charset="0"/>
                <a:ea typeface="Consolas" pitchFamily="34" charset="-122"/>
                <a:cs typeface="Consolas" pitchFamily="34" charset="-120"/>
              </a:rPr>
              <a:t>    -r requirements.txt</a:t>
            </a:r>
            <a:endParaRPr lang="en-US" sz="1500" dirty="0"/>
          </a:p>
          <a:p>
            <a:pPr indent="0" marL="0">
              <a:buNone/>
            </a:pPr>
            <a:r>
              <a:rPr lang="en-US" sz="1500" dirty="0">
                <a:solidFill>
                  <a:srgbClr val="E2E8F0"/>
                </a:solidFill>
                <a:latin typeface="Consolas" pitchFamily="34" charset="0"/>
                <a:ea typeface="Consolas" pitchFamily="34" charset="-122"/>
                <a:cs typeface="Consolas" pitchFamily="34" charset="-120"/>
              </a:rPr>
              <a:t>COPY main.py .</a:t>
            </a:r>
            <a:endParaRPr lang="en-US" sz="1500" dirty="0"/>
          </a:p>
          <a:p>
            <a:pPr indent="0" marL="0">
              <a:buNone/>
            </a:pPr>
            <a:r>
              <a:rPr lang="en-US" sz="1500" dirty="0">
                <a:solidFill>
                  <a:srgbClr val="E2E8F0"/>
                </a:solidFill>
                <a:latin typeface="Consolas" pitchFamily="34" charset="0"/>
                <a:ea typeface="Consolas" pitchFamily="34" charset="-122"/>
                <a:cs typeface="Consolas" pitchFamily="34" charset="-120"/>
              </a:rPr>
              <a:t>EXPOSE 8001</a:t>
            </a:r>
            <a:endParaRPr lang="en-US" sz="1500" dirty="0"/>
          </a:p>
          <a:p>
            <a:pPr indent="0" marL="0">
              <a:buNone/>
            </a:pPr>
            <a:r>
              <a:rPr lang="en-US" sz="1500" dirty="0">
                <a:solidFill>
                  <a:srgbClr val="E2E8F0"/>
                </a:solidFill>
                <a:latin typeface="Consolas" pitchFamily="34" charset="0"/>
                <a:ea typeface="Consolas" pitchFamily="34" charset="-122"/>
                <a:cs typeface="Consolas" pitchFamily="34" charset="-120"/>
              </a:rPr>
              <a:t>CMD ["uvicorn", "main:app",</a:t>
            </a:r>
            <a:endParaRPr lang="en-US" sz="1500" dirty="0"/>
          </a:p>
          <a:p>
            <a:pPr indent="0" marL="0">
              <a:buNone/>
            </a:pPr>
            <a:r>
              <a:rPr lang="en-US" sz="1500" dirty="0">
                <a:solidFill>
                  <a:srgbClr val="E2E8F0"/>
                </a:solidFill>
                <a:latin typeface="Consolas" pitchFamily="34" charset="0"/>
                <a:ea typeface="Consolas" pitchFamily="34" charset="-122"/>
                <a:cs typeface="Consolas" pitchFamily="34" charset="-120"/>
              </a:rPr>
              <a:t>     "--host", "0.0.0.0",</a:t>
            </a:r>
            <a:endParaRPr lang="en-US" sz="1500" dirty="0"/>
          </a:p>
          <a:p>
            <a:pPr indent="0" marL="0">
              <a:buNone/>
            </a:pPr>
            <a:r>
              <a:rPr lang="en-US" sz="1500" dirty="0">
                <a:solidFill>
                  <a:srgbClr val="E2E8F0"/>
                </a:solidFill>
                <a:latin typeface="Consolas" pitchFamily="34" charset="0"/>
                <a:ea typeface="Consolas" pitchFamily="34" charset="-122"/>
                <a:cs typeface="Consolas" pitchFamily="34" charset="-120"/>
              </a:rPr>
              <a:t>     "--port", "8001"]</a:t>
            </a:r>
            <a:endParaRPr lang="en-US" sz="1500" dirty="0"/>
          </a:p>
        </p:txBody>
      </p:sp>
      <p:sp>
        <p:nvSpPr>
          <p:cNvPr id="8" name="card"/>
          <p:cNvSpPr/>
          <p:nvPr/>
        </p:nvSpPr>
        <p:spPr>
          <a:xfrm>
            <a:off x="5669280" y="1325880"/>
            <a:ext cx="5989320" cy="694944"/>
          </a:xfrm>
          <a:prstGeom prst="roundRect">
            <a:avLst>
              <a:gd name="adj" fmla="val 15789"/>
            </a:avLst>
          </a:prstGeom>
          <a:solidFill>
            <a:srgbClr val="F1F5F9"/>
          </a:solidFill>
          <a:ln w="12700">
            <a:solidFill>
              <a:srgbClr val="F1F5F9"/>
            </a:solidFill>
            <a:prstDash val="solid"/>
          </a:ln>
        </p:spPr>
      </p:sp>
      <p:sp>
        <p:nvSpPr>
          <p:cNvPr id="9" name="dot"/>
          <p:cNvSpPr/>
          <p:nvPr/>
        </p:nvSpPr>
        <p:spPr>
          <a:xfrm>
            <a:off x="5806440" y="1490472"/>
            <a:ext cx="365760" cy="365760"/>
          </a:xfrm>
          <a:prstGeom prst="ellipse">
            <a:avLst/>
          </a:prstGeom>
          <a:solidFill>
            <a:srgbClr val="2563EB"/>
          </a:solidFill>
          <a:ln w="12700">
            <a:solidFill>
              <a:srgbClr val="2563EB"/>
            </a:solidFill>
            <a:prstDash val="solid"/>
          </a:ln>
        </p:spPr>
      </p:sp>
      <p:sp>
        <p:nvSpPr>
          <p:cNvPr id="10" name="Text 7"/>
          <p:cNvSpPr txBox="1"/>
          <p:nvPr/>
        </p:nvSpPr>
        <p:spPr>
          <a:xfrm>
            <a:off x="6355080" y="1325880"/>
            <a:ext cx="5212080" cy="694944"/>
          </a:xfrm>
          <a:prstGeom prst="rect">
            <a:avLst/>
          </a:prstGeom>
          <a:noFill/>
          <a:ln/>
        </p:spPr>
        <p:txBody>
          <a:bodyPr wrap="square" lIns="0" tIns="0" rIns="0" bIns="0" rtlCol="0" anchor="ctr"/>
          <a:lstStyle/>
          <a:p>
            <a:pPr indent="0" marL="0">
              <a:buNone/>
            </a:pPr>
            <a:r>
              <a:rPr lang="en-US" sz="1300" b="1" dirty="0">
                <a:solidFill>
                  <a:srgbClr val="2563EB"/>
                </a:solidFill>
              </a:rPr>
              <a:t>Small base  </a:t>
            </a:r>
            <a:pPr indent="0" marL="0">
              <a:buNone/>
            </a:pPr>
            <a:r>
              <a:rPr lang="en-US" sz="1300" dirty="0">
                <a:solidFill>
                  <a:srgbClr val="0F172A"/>
                </a:solidFill>
              </a:rPr>
              <a:t>python:3.12-slim — Python on a small Debian Linux</a:t>
            </a:r>
            <a:endParaRPr lang="en-US" sz="1300" dirty="0"/>
          </a:p>
        </p:txBody>
      </p:sp>
      <p:sp>
        <p:nvSpPr>
          <p:cNvPr id="11" name="card"/>
          <p:cNvSpPr/>
          <p:nvPr/>
        </p:nvSpPr>
        <p:spPr>
          <a:xfrm>
            <a:off x="5669280" y="2112264"/>
            <a:ext cx="5989320" cy="694944"/>
          </a:xfrm>
          <a:prstGeom prst="roundRect">
            <a:avLst>
              <a:gd name="adj" fmla="val 15789"/>
            </a:avLst>
          </a:prstGeom>
          <a:solidFill>
            <a:srgbClr val="F1F5F9"/>
          </a:solidFill>
          <a:ln w="12700">
            <a:solidFill>
              <a:srgbClr val="F1F5F9"/>
            </a:solidFill>
            <a:prstDash val="solid"/>
          </a:ln>
        </p:spPr>
      </p:sp>
      <p:sp>
        <p:nvSpPr>
          <p:cNvPr id="12" name="dot"/>
          <p:cNvSpPr/>
          <p:nvPr/>
        </p:nvSpPr>
        <p:spPr>
          <a:xfrm>
            <a:off x="5806440" y="2276856"/>
            <a:ext cx="365760" cy="365760"/>
          </a:xfrm>
          <a:prstGeom prst="ellipse">
            <a:avLst/>
          </a:prstGeom>
          <a:solidFill>
            <a:srgbClr val="7C3AED"/>
          </a:solidFill>
          <a:ln w="12700">
            <a:solidFill>
              <a:srgbClr val="7C3AED"/>
            </a:solidFill>
            <a:prstDash val="solid"/>
          </a:ln>
        </p:spPr>
      </p:sp>
      <p:sp>
        <p:nvSpPr>
          <p:cNvPr id="13" name="Text 10"/>
          <p:cNvSpPr txBox="1"/>
          <p:nvPr/>
        </p:nvSpPr>
        <p:spPr>
          <a:xfrm>
            <a:off x="6355080" y="2112264"/>
            <a:ext cx="5212080" cy="694944"/>
          </a:xfrm>
          <a:prstGeom prst="rect">
            <a:avLst/>
          </a:prstGeom>
          <a:noFill/>
          <a:ln/>
        </p:spPr>
        <p:txBody>
          <a:bodyPr wrap="square" lIns="0" tIns="0" rIns="0" bIns="0" rtlCol="0" anchor="ctr"/>
          <a:lstStyle/>
          <a:p>
            <a:pPr indent="0" marL="0">
              <a:buNone/>
            </a:pPr>
            <a:r>
              <a:rPr lang="en-US" sz="1300" b="1" dirty="0">
                <a:solidFill>
                  <a:srgbClr val="7C3AED"/>
                </a:solidFill>
              </a:rPr>
              <a:t>Layer cache  </a:t>
            </a:r>
            <a:pPr indent="0" marL="0">
              <a:buNone/>
            </a:pPr>
            <a:r>
              <a:rPr lang="en-US" sz="1300" dirty="0">
                <a:solidFill>
                  <a:srgbClr val="0F172A"/>
                </a:solidFill>
              </a:rPr>
              <a:t>requirements.txt is copied and installed before main.py, so a code change rebuilds in seconds</a:t>
            </a:r>
            <a:endParaRPr lang="en-US" sz="1300" dirty="0"/>
          </a:p>
        </p:txBody>
      </p:sp>
      <p:sp>
        <p:nvSpPr>
          <p:cNvPr id="14" name="card"/>
          <p:cNvSpPr/>
          <p:nvPr/>
        </p:nvSpPr>
        <p:spPr>
          <a:xfrm>
            <a:off x="5669280" y="2898648"/>
            <a:ext cx="5989320" cy="694944"/>
          </a:xfrm>
          <a:prstGeom prst="roundRect">
            <a:avLst>
              <a:gd name="adj" fmla="val 15789"/>
            </a:avLst>
          </a:prstGeom>
          <a:solidFill>
            <a:srgbClr val="F1F5F9"/>
          </a:solidFill>
          <a:ln w="12700">
            <a:solidFill>
              <a:srgbClr val="F1F5F9"/>
            </a:solidFill>
            <a:prstDash val="solid"/>
          </a:ln>
        </p:spPr>
      </p:sp>
      <p:sp>
        <p:nvSpPr>
          <p:cNvPr id="15" name="dot"/>
          <p:cNvSpPr/>
          <p:nvPr/>
        </p:nvSpPr>
        <p:spPr>
          <a:xfrm>
            <a:off x="5806440" y="3063240"/>
            <a:ext cx="365760" cy="365760"/>
          </a:xfrm>
          <a:prstGeom prst="ellipse">
            <a:avLst/>
          </a:prstGeom>
          <a:solidFill>
            <a:srgbClr val="16A34A"/>
          </a:solidFill>
          <a:ln w="12700">
            <a:solidFill>
              <a:srgbClr val="16A34A"/>
            </a:solidFill>
            <a:prstDash val="solid"/>
          </a:ln>
        </p:spPr>
      </p:sp>
      <p:sp>
        <p:nvSpPr>
          <p:cNvPr id="16" name="Text 13"/>
          <p:cNvSpPr txBox="1"/>
          <p:nvPr/>
        </p:nvSpPr>
        <p:spPr>
          <a:xfrm>
            <a:off x="6355080" y="2898648"/>
            <a:ext cx="5212080" cy="694944"/>
          </a:xfrm>
          <a:prstGeom prst="rect">
            <a:avLst/>
          </a:prstGeom>
          <a:noFill/>
          <a:ln/>
        </p:spPr>
        <p:txBody>
          <a:bodyPr wrap="square" lIns="0" tIns="0" rIns="0" bIns="0" rtlCol="0" anchor="ctr"/>
          <a:lstStyle/>
          <a:p>
            <a:pPr indent="0" marL="0">
              <a:buNone/>
            </a:pPr>
            <a:r>
              <a:rPr lang="en-US" sz="1300" b="1" dirty="0">
                <a:solidFill>
                  <a:srgbClr val="16A34A"/>
                </a:solidFill>
              </a:rPr>
              <a:t>Logs in real time  </a:t>
            </a:r>
            <a:pPr indent="0" marL="0">
              <a:buNone/>
            </a:pPr>
            <a:r>
              <a:rPr lang="en-US" sz="1300" dirty="0">
                <a:solidFill>
                  <a:srgbClr val="0F172A"/>
                </a:solidFill>
              </a:rPr>
              <a:t>PYTHONUNBUFFERED=1 → docker logs shows lines immediately</a:t>
            </a:r>
            <a:endParaRPr lang="en-US" sz="1300" dirty="0"/>
          </a:p>
        </p:txBody>
      </p:sp>
      <p:sp>
        <p:nvSpPr>
          <p:cNvPr id="17" name="card"/>
          <p:cNvSpPr/>
          <p:nvPr/>
        </p:nvSpPr>
        <p:spPr>
          <a:xfrm>
            <a:off x="5669280" y="3685032"/>
            <a:ext cx="5989320" cy="694944"/>
          </a:xfrm>
          <a:prstGeom prst="roundRect">
            <a:avLst>
              <a:gd name="adj" fmla="val 15789"/>
            </a:avLst>
          </a:prstGeom>
          <a:solidFill>
            <a:srgbClr val="F1F5F9"/>
          </a:solidFill>
          <a:ln w="12700">
            <a:solidFill>
              <a:srgbClr val="F1F5F9"/>
            </a:solidFill>
            <a:prstDash val="solid"/>
          </a:ln>
        </p:spPr>
      </p:sp>
      <p:sp>
        <p:nvSpPr>
          <p:cNvPr id="18" name="dot"/>
          <p:cNvSpPr/>
          <p:nvPr/>
        </p:nvSpPr>
        <p:spPr>
          <a:xfrm>
            <a:off x="5806440" y="3849624"/>
            <a:ext cx="365760" cy="365760"/>
          </a:xfrm>
          <a:prstGeom prst="ellipse">
            <a:avLst/>
          </a:prstGeom>
          <a:solidFill>
            <a:srgbClr val="EA580C"/>
          </a:solidFill>
          <a:ln w="12700">
            <a:solidFill>
              <a:srgbClr val="EA580C"/>
            </a:solidFill>
            <a:prstDash val="solid"/>
          </a:ln>
        </p:spPr>
      </p:sp>
      <p:sp>
        <p:nvSpPr>
          <p:cNvPr id="19" name="Text 16"/>
          <p:cNvSpPr txBox="1"/>
          <p:nvPr/>
        </p:nvSpPr>
        <p:spPr>
          <a:xfrm>
            <a:off x="6355080" y="3685032"/>
            <a:ext cx="5212080" cy="694944"/>
          </a:xfrm>
          <a:prstGeom prst="rect">
            <a:avLst/>
          </a:prstGeom>
          <a:noFill/>
          <a:ln/>
        </p:spPr>
        <p:txBody>
          <a:bodyPr wrap="square" lIns="0" tIns="0" rIns="0" bIns="0" rtlCol="0" anchor="ctr"/>
          <a:lstStyle/>
          <a:p>
            <a:pPr indent="0" marL="0">
              <a:buNone/>
            </a:pPr>
            <a:r>
              <a:rPr lang="en-US" sz="1300" b="1" dirty="0">
                <a:solidFill>
                  <a:srgbClr val="EA580C"/>
                </a:solidFill>
              </a:rPr>
              <a:t>Listen on 0.0.0.0  </a:t>
            </a:r>
            <a:pPr indent="0" marL="0">
              <a:buNone/>
            </a:pPr>
            <a:r>
              <a:rPr lang="en-US" sz="1300" dirty="0">
                <a:solidFill>
                  <a:srgbClr val="0F172A"/>
                </a:solidFill>
              </a:rPr>
              <a:t>Inside a container 127.0.0.1 is only the container itself; 0.0.0.0 lets port-mapped traffic in</a:t>
            </a:r>
            <a:endParaRPr lang="en-US" sz="1300" dirty="0"/>
          </a:p>
        </p:txBody>
      </p:sp>
      <p:sp>
        <p:nvSpPr>
          <p:cNvPr id="20" name="card"/>
          <p:cNvSpPr/>
          <p:nvPr/>
        </p:nvSpPr>
        <p:spPr>
          <a:xfrm>
            <a:off x="5669280" y="4471416"/>
            <a:ext cx="5989320" cy="694944"/>
          </a:xfrm>
          <a:prstGeom prst="roundRect">
            <a:avLst>
              <a:gd name="adj" fmla="val 15789"/>
            </a:avLst>
          </a:prstGeom>
          <a:solidFill>
            <a:srgbClr val="F1F5F9"/>
          </a:solidFill>
          <a:ln w="12700">
            <a:solidFill>
              <a:srgbClr val="F1F5F9"/>
            </a:solidFill>
            <a:prstDash val="solid"/>
          </a:ln>
        </p:spPr>
      </p:sp>
      <p:sp>
        <p:nvSpPr>
          <p:cNvPr id="21" name="dot"/>
          <p:cNvSpPr/>
          <p:nvPr/>
        </p:nvSpPr>
        <p:spPr>
          <a:xfrm>
            <a:off x="5806440" y="4636008"/>
            <a:ext cx="365760" cy="365760"/>
          </a:xfrm>
          <a:prstGeom prst="ellipse">
            <a:avLst/>
          </a:prstGeom>
          <a:solidFill>
            <a:srgbClr val="0D9488"/>
          </a:solidFill>
          <a:ln w="12700">
            <a:solidFill>
              <a:srgbClr val="0D9488"/>
            </a:solidFill>
            <a:prstDash val="solid"/>
          </a:ln>
        </p:spPr>
      </p:sp>
      <p:sp>
        <p:nvSpPr>
          <p:cNvPr id="22" name="Text 19"/>
          <p:cNvSpPr txBox="1"/>
          <p:nvPr/>
        </p:nvSpPr>
        <p:spPr>
          <a:xfrm>
            <a:off x="6355080" y="4471416"/>
            <a:ext cx="5212080" cy="694944"/>
          </a:xfrm>
          <a:prstGeom prst="rect">
            <a:avLst/>
          </a:prstGeom>
          <a:noFill/>
          <a:ln/>
        </p:spPr>
        <p:txBody>
          <a:bodyPr wrap="square" lIns="0" tIns="0" rIns="0" bIns="0" rtlCol="0" anchor="ctr"/>
          <a:lstStyle/>
          <a:p>
            <a:pPr indent="0" marL="0">
              <a:buNone/>
            </a:pPr>
            <a:r>
              <a:rPr lang="en-US" sz="1300" b="1" dirty="0">
                <a:solidFill>
                  <a:srgbClr val="0D9488"/>
                </a:solidFill>
              </a:rPr>
              <a:t>EXPOSE ≠ publish  </a:t>
            </a:r>
            <a:pPr indent="0" marL="0">
              <a:buNone/>
            </a:pPr>
            <a:r>
              <a:rPr lang="en-US" sz="1300" dirty="0">
                <a:solidFill>
                  <a:srgbClr val="0F172A"/>
                </a:solidFill>
              </a:rPr>
              <a:t>EXPOSE only documents the port; ports: "8001:8001" in Compose publishes it</a:t>
            </a:r>
            <a:endParaRPr lang="en-US" sz="1300" dirty="0"/>
          </a:p>
        </p:txBody>
      </p:sp>
      <p:sp>
        <p:nvSpPr>
          <p:cNvPr id="23" name="code bg"/>
          <p:cNvSpPr/>
          <p:nvPr/>
        </p:nvSpPr>
        <p:spPr>
          <a:xfrm>
            <a:off x="5669280" y="5349240"/>
            <a:ext cx="5989320" cy="868680"/>
          </a:xfrm>
          <a:prstGeom prst="roundRect">
            <a:avLst>
              <a:gd name="adj" fmla="val 10526"/>
            </a:avLst>
          </a:prstGeom>
          <a:solidFill>
            <a:srgbClr val="1E293B"/>
          </a:solidFill>
          <a:ln w="12700">
            <a:solidFill>
              <a:srgbClr val="1E293B"/>
            </a:solidFill>
            <a:prstDash val="solid"/>
          </a:ln>
        </p:spPr>
      </p:sp>
      <p:sp>
        <p:nvSpPr>
          <p:cNvPr id="24" name="Text 21"/>
          <p:cNvSpPr txBox="1"/>
          <p:nvPr/>
        </p:nvSpPr>
        <p:spPr>
          <a:xfrm>
            <a:off x="5852160" y="5486400"/>
            <a:ext cx="5623560" cy="594360"/>
          </a:xfrm>
          <a:prstGeom prst="rect">
            <a:avLst/>
          </a:prstGeom>
          <a:noFill/>
          <a:ln/>
        </p:spPr>
        <p:txBody>
          <a:bodyPr wrap="square" lIns="0" tIns="0" rIns="0" bIns="0" rtlCol="0" anchor="t"/>
          <a:lstStyle/>
          <a:p>
            <a:pPr indent="0" marL="0">
              <a:buNone/>
            </a:pPr>
            <a:r>
              <a:rPr lang="en-US" sz="1250" dirty="0">
                <a:solidFill>
                  <a:srgbClr val="E2E8F0"/>
                </a:solidFill>
                <a:latin typeface="Consolas" pitchFamily="34" charset="0"/>
                <a:ea typeface="Consolas" pitchFamily="34" charset="-122"/>
                <a:cs typeface="Consolas" pitchFamily="34" charset="-120"/>
              </a:rPr>
              <a:t>docker compose build</a:t>
            </a:r>
            <a:endParaRPr lang="en-US" sz="1250" dirty="0"/>
          </a:p>
          <a:p>
            <a:pPr indent="0" marL="0">
              <a:buNone/>
            </a:pPr>
            <a:r>
              <a:rPr lang="en-US" sz="1250" dirty="0">
                <a:solidFill>
                  <a:srgbClr val="E2E8F0"/>
                </a:solidFill>
                <a:latin typeface="Consolas" pitchFamily="34" charset="0"/>
                <a:ea typeface="Consolas" pitchFamily="34" charset="-122"/>
                <a:cs typeface="Consolas" pitchFamily="34" charset="-120"/>
              </a:rPr>
              <a:t>docker images "library-app/*"   → 5 images, services ≈ 212 MB</a:t>
            </a:r>
            <a:endParaRPr lang="en-US" sz="1250" dirty="0"/>
          </a:p>
        </p:txBody>
      </p:sp>
      <p:sp>
        <p:nvSpPr>
          <p:cNvPr id="25" name="Slide Number Placeholder 0"/>
          <p:cNvSpPr>
            <a:spLocks noGrp="1"/>
          </p:cNvSpPr>
          <p:nvPr>
            <p:ph type="sldNum" sz="quarter" idx="4294967295"/>
          </p:nvPr>
        </p:nvSpPr>
        <p:spPr>
          <a:xfrm>
            <a:off x="1115568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235440" cy="777240"/>
          </a:xfrm>
          <a:prstGeom prst="rect">
            <a:avLst/>
          </a:prstGeom>
          <a:noFill/>
          <a:ln/>
        </p:spPr>
        <p:txBody>
          <a:bodyPr wrap="square" lIns="0" tIns="0" rIns="0" bIns="0" rtlCol="0" anchor="ctr"/>
          <a:lstStyle/>
          <a:p>
            <a:pPr algn="l" indent="0" marL="0">
              <a:buNone/>
            </a:pPr>
            <a:r>
              <a:rPr lang="en-US" sz="2800" b="1" dirty="0">
                <a:solidFill>
                  <a:schemeClr val="tx1"/>
                </a:solidFill>
              </a:rPr>
              <a:t>Docker Compose deploys all five containers</a:t>
            </a:r>
            <a:endParaRPr lang="en-US" sz="2800" dirty="0"/>
          </a:p>
        </p:txBody>
      </p:sp>
      <p:sp>
        <p:nvSpPr>
          <p:cNvPr id="3" name="cp badge"/>
          <p:cNvSpPr/>
          <p:nvPr/>
        </p:nvSpPr>
        <p:spPr>
          <a:xfrm>
            <a:off x="9921240" y="457200"/>
            <a:ext cx="1737360" cy="438912"/>
          </a:xfrm>
          <a:prstGeom prst="roundRect">
            <a:avLst>
              <a:gd name="adj" fmla="val 50000"/>
            </a:avLst>
          </a:prstGeom>
          <a:solidFill>
            <a:srgbClr val="2563EB"/>
          </a:solidFill>
          <a:ln w="12700">
            <a:solidFill>
              <a:srgbClr val="2563EB"/>
            </a:solidFill>
            <a:prstDash val="solid"/>
          </a:ln>
        </p:spPr>
      </p:sp>
      <p:sp>
        <p:nvSpPr>
          <p:cNvPr id="4" name="Text 2"/>
          <p:cNvSpPr txBox="1"/>
          <p:nvPr/>
        </p:nvSpPr>
        <p:spPr>
          <a:xfrm>
            <a:off x="9921240" y="457200"/>
            <a:ext cx="1737360" cy="438912"/>
          </a:xfrm>
          <a:prstGeom prst="rect">
            <a:avLst/>
          </a:prstGeom>
          <a:noFill/>
          <a:ln/>
        </p:spPr>
        <p:txBody>
          <a:bodyPr wrap="square" lIns="0" tIns="0" rIns="0" bIns="0" rtlCol="0" anchor="ctr"/>
          <a:lstStyle/>
          <a:p>
            <a:pPr algn="ctr" indent="0" marL="0">
              <a:buNone/>
            </a:pPr>
            <a:r>
              <a:rPr lang="en-US" sz="1150" b="1" spc="100" kern="0" dirty="0">
                <a:solidFill>
                  <a:schemeClr val="bg1"/>
                </a:solidFill>
              </a:rPr>
              <a:t>CP2 · DOCKER</a:t>
            </a:r>
            <a:endParaRPr lang="en-US" sz="1150" dirty="0"/>
          </a:p>
        </p:txBody>
      </p:sp>
      <p:sp>
        <p:nvSpPr>
          <p:cNvPr id="6" name="card"/>
          <p:cNvSpPr/>
          <p:nvPr/>
        </p:nvSpPr>
        <p:spPr>
          <a:xfrm>
            <a:off x="548640" y="1325880"/>
            <a:ext cx="3566160" cy="960120"/>
          </a:xfrm>
          <a:prstGeom prst="roundRect">
            <a:avLst>
              <a:gd name="adj" fmla="val 11429"/>
            </a:avLst>
          </a:prstGeom>
          <a:solidFill>
            <a:srgbClr val="F1F5F9"/>
          </a:solidFill>
          <a:ln w="12700">
            <a:solidFill>
              <a:srgbClr val="F1F5F9"/>
            </a:solidFill>
            <a:prstDash val="solid"/>
          </a:ln>
        </p:spPr>
      </p:sp>
      <p:sp>
        <p:nvSpPr>
          <p:cNvPr id="7" name="Text 4"/>
          <p:cNvSpPr txBox="1"/>
          <p:nvPr/>
        </p:nvSpPr>
        <p:spPr>
          <a:xfrm>
            <a:off x="731520" y="1417320"/>
            <a:ext cx="3200400" cy="320040"/>
          </a:xfrm>
          <a:prstGeom prst="rect">
            <a:avLst/>
          </a:prstGeom>
          <a:noFill/>
          <a:ln/>
        </p:spPr>
        <p:txBody>
          <a:bodyPr wrap="square" lIns="0" tIns="0" rIns="0" bIns="0" rtlCol="0" anchor="ctr"/>
          <a:lstStyle/>
          <a:p>
            <a:pPr indent="0" marL="0">
              <a:buNone/>
            </a:pPr>
            <a:r>
              <a:rPr lang="en-US" sz="1500" b="1" dirty="0">
                <a:solidFill>
                  <a:srgbClr val="2563EB"/>
                </a:solidFill>
                <a:latin typeface="Consolas" pitchFamily="34" charset="0"/>
                <a:ea typeface="Consolas" pitchFamily="34" charset="-122"/>
                <a:cs typeface="Consolas" pitchFamily="34" charset="-120"/>
              </a:rPr>
              <a:t>ports</a:t>
            </a:r>
            <a:endParaRPr lang="en-US" sz="1500" dirty="0"/>
          </a:p>
        </p:txBody>
      </p:sp>
      <p:sp>
        <p:nvSpPr>
          <p:cNvPr id="8" name="Text 5"/>
          <p:cNvSpPr txBox="1"/>
          <p:nvPr/>
        </p:nvSpPr>
        <p:spPr>
          <a:xfrm>
            <a:off x="731520" y="1764792"/>
            <a:ext cx="3291840" cy="457200"/>
          </a:xfrm>
          <a:prstGeom prst="rect">
            <a:avLst/>
          </a:prstGeom>
          <a:noFill/>
          <a:ln/>
        </p:spPr>
        <p:txBody>
          <a:bodyPr wrap="square" lIns="0" tIns="0" rIns="0" bIns="0" rtlCol="0" anchor="t"/>
          <a:lstStyle/>
          <a:p>
            <a:pPr indent="0" marL="0">
              <a:buNone/>
            </a:pPr>
            <a:r>
              <a:rPr lang="en-US" sz="1250" dirty="0">
                <a:solidFill>
                  <a:schemeClr val="tx1"/>
                </a:solidFill>
              </a:rPr>
              <a:t>"8003:8003" laptop → container</a:t>
            </a:r>
            <a:endParaRPr lang="en-US" sz="1250" dirty="0"/>
          </a:p>
        </p:txBody>
      </p:sp>
      <p:sp>
        <p:nvSpPr>
          <p:cNvPr id="9" name="card"/>
          <p:cNvSpPr/>
          <p:nvPr/>
        </p:nvSpPr>
        <p:spPr>
          <a:xfrm>
            <a:off x="4297680" y="1325880"/>
            <a:ext cx="3566160" cy="960120"/>
          </a:xfrm>
          <a:prstGeom prst="roundRect">
            <a:avLst>
              <a:gd name="adj" fmla="val 11429"/>
            </a:avLst>
          </a:prstGeom>
          <a:solidFill>
            <a:srgbClr val="F1F5F9"/>
          </a:solidFill>
          <a:ln w="12700">
            <a:solidFill>
              <a:srgbClr val="F1F5F9"/>
            </a:solidFill>
            <a:prstDash val="solid"/>
          </a:ln>
        </p:spPr>
      </p:sp>
      <p:sp>
        <p:nvSpPr>
          <p:cNvPr id="10" name="Text 7"/>
          <p:cNvSpPr txBox="1"/>
          <p:nvPr/>
        </p:nvSpPr>
        <p:spPr>
          <a:xfrm>
            <a:off x="4480560" y="1417320"/>
            <a:ext cx="3200400" cy="320040"/>
          </a:xfrm>
          <a:prstGeom prst="rect">
            <a:avLst/>
          </a:prstGeom>
          <a:noFill/>
          <a:ln/>
        </p:spPr>
        <p:txBody>
          <a:bodyPr wrap="square" lIns="0" tIns="0" rIns="0" bIns="0" rtlCol="0" anchor="ctr"/>
          <a:lstStyle/>
          <a:p>
            <a:pPr indent="0" marL="0">
              <a:buNone/>
            </a:pPr>
            <a:r>
              <a:rPr lang="en-US" sz="1500" b="1" dirty="0">
                <a:solidFill>
                  <a:srgbClr val="7C3AED"/>
                </a:solidFill>
                <a:latin typeface="Consolas" pitchFamily="34" charset="0"/>
                <a:ea typeface="Consolas" pitchFamily="34" charset="-122"/>
                <a:cs typeface="Consolas" pitchFamily="34" charset="-120"/>
              </a:rPr>
              <a:t>environment</a:t>
            </a:r>
            <a:endParaRPr lang="en-US" sz="1500" dirty="0"/>
          </a:p>
        </p:txBody>
      </p:sp>
      <p:sp>
        <p:nvSpPr>
          <p:cNvPr id="11" name="Text 8"/>
          <p:cNvSpPr txBox="1"/>
          <p:nvPr/>
        </p:nvSpPr>
        <p:spPr>
          <a:xfrm>
            <a:off x="4480560" y="1764792"/>
            <a:ext cx="3291840" cy="457200"/>
          </a:xfrm>
          <a:prstGeom prst="rect">
            <a:avLst/>
          </a:prstGeom>
          <a:noFill/>
          <a:ln/>
        </p:spPr>
        <p:txBody>
          <a:bodyPr wrap="square" lIns="0" tIns="0" rIns="0" bIns="0" rtlCol="0" anchor="t"/>
          <a:lstStyle/>
          <a:p>
            <a:pPr indent="0" marL="0">
              <a:buNone/>
            </a:pPr>
            <a:r>
              <a:rPr lang="en-US" sz="1250" dirty="0">
                <a:solidFill>
                  <a:schemeClr val="tx1"/>
                </a:solidFill>
              </a:rPr>
              <a:t>BOOK_SERVICE_URL=http://book-service:8001</a:t>
            </a:r>
            <a:endParaRPr lang="en-US" sz="1250" dirty="0"/>
          </a:p>
        </p:txBody>
      </p:sp>
      <p:sp>
        <p:nvSpPr>
          <p:cNvPr id="12" name="card"/>
          <p:cNvSpPr/>
          <p:nvPr/>
        </p:nvSpPr>
        <p:spPr>
          <a:xfrm>
            <a:off x="8046720" y="1325880"/>
            <a:ext cx="3566160" cy="960120"/>
          </a:xfrm>
          <a:prstGeom prst="roundRect">
            <a:avLst>
              <a:gd name="adj" fmla="val 11429"/>
            </a:avLst>
          </a:prstGeom>
          <a:solidFill>
            <a:srgbClr val="F1F5F9"/>
          </a:solidFill>
          <a:ln w="12700">
            <a:solidFill>
              <a:srgbClr val="F1F5F9"/>
            </a:solidFill>
            <a:prstDash val="solid"/>
          </a:ln>
        </p:spPr>
      </p:sp>
      <p:sp>
        <p:nvSpPr>
          <p:cNvPr id="13" name="Text 10"/>
          <p:cNvSpPr txBox="1"/>
          <p:nvPr/>
        </p:nvSpPr>
        <p:spPr>
          <a:xfrm>
            <a:off x="8229600" y="1417320"/>
            <a:ext cx="3200400" cy="320040"/>
          </a:xfrm>
          <a:prstGeom prst="rect">
            <a:avLst/>
          </a:prstGeom>
          <a:noFill/>
          <a:ln/>
        </p:spPr>
        <p:txBody>
          <a:bodyPr wrap="square" lIns="0" tIns="0" rIns="0" bIns="0" rtlCol="0" anchor="ctr"/>
          <a:lstStyle/>
          <a:p>
            <a:pPr indent="0" marL="0">
              <a:buNone/>
            </a:pPr>
            <a:r>
              <a:rPr lang="en-US" sz="1500" b="1" dirty="0">
                <a:solidFill>
                  <a:srgbClr val="16A34A"/>
                </a:solidFill>
                <a:latin typeface="Consolas" pitchFamily="34" charset="0"/>
                <a:ea typeface="Consolas" pitchFamily="34" charset="-122"/>
                <a:cs typeface="Consolas" pitchFamily="34" charset="-120"/>
              </a:rPr>
              <a:t>volumes</a:t>
            </a:r>
            <a:endParaRPr lang="en-US" sz="1500" dirty="0"/>
          </a:p>
        </p:txBody>
      </p:sp>
      <p:sp>
        <p:nvSpPr>
          <p:cNvPr id="14" name="Text 11"/>
          <p:cNvSpPr txBox="1"/>
          <p:nvPr/>
        </p:nvSpPr>
        <p:spPr>
          <a:xfrm>
            <a:off x="8229600" y="1764792"/>
            <a:ext cx="3291840" cy="457200"/>
          </a:xfrm>
          <a:prstGeom prst="rect">
            <a:avLst/>
          </a:prstGeom>
          <a:noFill/>
          <a:ln/>
        </p:spPr>
        <p:txBody>
          <a:bodyPr wrap="square" lIns="0" tIns="0" rIns="0" bIns="0" rtlCol="0" anchor="t"/>
          <a:lstStyle/>
          <a:p>
            <a:pPr indent="0" marL="0">
              <a:buNone/>
            </a:pPr>
            <a:r>
              <a:rPr lang="en-US" sz="1250" dirty="0">
                <a:solidFill>
                  <a:schemeClr val="tx1"/>
                </a:solidFill>
              </a:rPr>
              <a:t>borrow-data:/data — DB survives rebuilds</a:t>
            </a:r>
            <a:endParaRPr lang="en-US" sz="1250" dirty="0"/>
          </a:p>
        </p:txBody>
      </p:sp>
      <p:sp>
        <p:nvSpPr>
          <p:cNvPr id="15" name="card"/>
          <p:cNvSpPr/>
          <p:nvPr/>
        </p:nvSpPr>
        <p:spPr>
          <a:xfrm>
            <a:off x="548640" y="2423160"/>
            <a:ext cx="3566160" cy="960120"/>
          </a:xfrm>
          <a:prstGeom prst="roundRect">
            <a:avLst>
              <a:gd name="adj" fmla="val 11429"/>
            </a:avLst>
          </a:prstGeom>
          <a:solidFill>
            <a:srgbClr val="F1F5F9"/>
          </a:solidFill>
          <a:ln w="12700">
            <a:solidFill>
              <a:srgbClr val="F1F5F9"/>
            </a:solidFill>
            <a:prstDash val="solid"/>
          </a:ln>
        </p:spPr>
      </p:sp>
      <p:sp>
        <p:nvSpPr>
          <p:cNvPr id="16" name="Text 13"/>
          <p:cNvSpPr txBox="1"/>
          <p:nvPr/>
        </p:nvSpPr>
        <p:spPr>
          <a:xfrm>
            <a:off x="731520" y="2514600"/>
            <a:ext cx="3200400" cy="320040"/>
          </a:xfrm>
          <a:prstGeom prst="rect">
            <a:avLst/>
          </a:prstGeom>
          <a:noFill/>
          <a:ln/>
        </p:spPr>
        <p:txBody>
          <a:bodyPr wrap="square" lIns="0" tIns="0" rIns="0" bIns="0" rtlCol="0" anchor="ctr"/>
          <a:lstStyle/>
          <a:p>
            <a:pPr indent="0" marL="0">
              <a:buNone/>
            </a:pPr>
            <a:r>
              <a:rPr lang="en-US" sz="1500" b="1" dirty="0">
                <a:solidFill>
                  <a:srgbClr val="0D9488"/>
                </a:solidFill>
                <a:latin typeface="Consolas" pitchFamily="34" charset="0"/>
                <a:ea typeface="Consolas" pitchFamily="34" charset="-122"/>
                <a:cs typeface="Consolas" pitchFamily="34" charset="-120"/>
              </a:rPr>
              <a:t>networks</a:t>
            </a:r>
            <a:endParaRPr lang="en-US" sz="1500" dirty="0"/>
          </a:p>
        </p:txBody>
      </p:sp>
      <p:sp>
        <p:nvSpPr>
          <p:cNvPr id="17" name="Text 14"/>
          <p:cNvSpPr txBox="1"/>
          <p:nvPr/>
        </p:nvSpPr>
        <p:spPr>
          <a:xfrm>
            <a:off x="731520" y="2862072"/>
            <a:ext cx="3291840" cy="457200"/>
          </a:xfrm>
          <a:prstGeom prst="rect">
            <a:avLst/>
          </a:prstGeom>
          <a:noFill/>
          <a:ln/>
        </p:spPr>
        <p:txBody>
          <a:bodyPr wrap="square" lIns="0" tIns="0" rIns="0" bIns="0" rtlCol="0" anchor="t"/>
          <a:lstStyle/>
          <a:p>
            <a:pPr indent="0" marL="0">
              <a:buNone/>
            </a:pPr>
            <a:r>
              <a:rPr lang="en-US" sz="1250" dirty="0">
                <a:solidFill>
                  <a:schemeClr val="tx1"/>
                </a:solidFill>
              </a:rPr>
              <a:t>library-net — one private network</a:t>
            </a:r>
            <a:endParaRPr lang="en-US" sz="1250" dirty="0"/>
          </a:p>
        </p:txBody>
      </p:sp>
      <p:sp>
        <p:nvSpPr>
          <p:cNvPr id="18" name="card"/>
          <p:cNvSpPr/>
          <p:nvPr/>
        </p:nvSpPr>
        <p:spPr>
          <a:xfrm>
            <a:off x="4297680" y="2423160"/>
            <a:ext cx="3566160" cy="960120"/>
          </a:xfrm>
          <a:prstGeom prst="roundRect">
            <a:avLst>
              <a:gd name="adj" fmla="val 11429"/>
            </a:avLst>
          </a:prstGeom>
          <a:solidFill>
            <a:srgbClr val="F1F5F9"/>
          </a:solidFill>
          <a:ln w="12700">
            <a:solidFill>
              <a:srgbClr val="F1F5F9"/>
            </a:solidFill>
            <a:prstDash val="solid"/>
          </a:ln>
        </p:spPr>
      </p:sp>
      <p:sp>
        <p:nvSpPr>
          <p:cNvPr id="19" name="Text 16"/>
          <p:cNvSpPr txBox="1"/>
          <p:nvPr/>
        </p:nvSpPr>
        <p:spPr>
          <a:xfrm>
            <a:off x="4480560" y="2514600"/>
            <a:ext cx="3200400" cy="320040"/>
          </a:xfrm>
          <a:prstGeom prst="rect">
            <a:avLst/>
          </a:prstGeom>
          <a:noFill/>
          <a:ln/>
        </p:spPr>
        <p:txBody>
          <a:bodyPr wrap="square" lIns="0" tIns="0" rIns="0" bIns="0" rtlCol="0" anchor="ctr"/>
          <a:lstStyle/>
          <a:p>
            <a:pPr indent="0" marL="0">
              <a:buNone/>
            </a:pPr>
            <a:r>
              <a:rPr lang="en-US" sz="1500" b="1" dirty="0">
                <a:solidFill>
                  <a:srgbClr val="EA580C"/>
                </a:solidFill>
                <a:latin typeface="Consolas" pitchFamily="34" charset="0"/>
                <a:ea typeface="Consolas" pitchFamily="34" charset="-122"/>
                <a:cs typeface="Consolas" pitchFamily="34" charset="-120"/>
              </a:rPr>
              <a:t>healthcheck</a:t>
            </a:r>
            <a:endParaRPr lang="en-US" sz="1500" dirty="0"/>
          </a:p>
        </p:txBody>
      </p:sp>
      <p:sp>
        <p:nvSpPr>
          <p:cNvPr id="20" name="Text 17"/>
          <p:cNvSpPr txBox="1"/>
          <p:nvPr/>
        </p:nvSpPr>
        <p:spPr>
          <a:xfrm>
            <a:off x="4480560" y="2862072"/>
            <a:ext cx="3291840" cy="457200"/>
          </a:xfrm>
          <a:prstGeom prst="rect">
            <a:avLst/>
          </a:prstGeom>
          <a:noFill/>
          <a:ln/>
        </p:spPr>
        <p:txBody>
          <a:bodyPr wrap="square" lIns="0" tIns="0" rIns="0" bIns="0" rtlCol="0" anchor="t"/>
          <a:lstStyle/>
          <a:p>
            <a:pPr indent="0" marL="0">
              <a:buNone/>
            </a:pPr>
            <a:r>
              <a:rPr lang="en-US" sz="1250" dirty="0">
                <a:solidFill>
                  <a:schemeClr val="tx1"/>
                </a:solidFill>
              </a:rPr>
              <a:t>GET /health every 5 s, timeout 3 s, 10 retries</a:t>
            </a:r>
            <a:endParaRPr lang="en-US" sz="1250" dirty="0"/>
          </a:p>
        </p:txBody>
      </p:sp>
      <p:sp>
        <p:nvSpPr>
          <p:cNvPr id="21" name="card"/>
          <p:cNvSpPr/>
          <p:nvPr/>
        </p:nvSpPr>
        <p:spPr>
          <a:xfrm>
            <a:off x="8046720" y="2423160"/>
            <a:ext cx="3566160" cy="960120"/>
          </a:xfrm>
          <a:prstGeom prst="roundRect">
            <a:avLst>
              <a:gd name="adj" fmla="val 11429"/>
            </a:avLst>
          </a:prstGeom>
          <a:solidFill>
            <a:srgbClr val="F1F5F9"/>
          </a:solidFill>
          <a:ln w="12700">
            <a:solidFill>
              <a:srgbClr val="F1F5F9"/>
            </a:solidFill>
            <a:prstDash val="solid"/>
          </a:ln>
        </p:spPr>
      </p:sp>
      <p:sp>
        <p:nvSpPr>
          <p:cNvPr id="22" name="Text 19"/>
          <p:cNvSpPr txBox="1"/>
          <p:nvPr/>
        </p:nvSpPr>
        <p:spPr>
          <a:xfrm>
            <a:off x="8229600" y="2514600"/>
            <a:ext cx="3200400" cy="320040"/>
          </a:xfrm>
          <a:prstGeom prst="rect">
            <a:avLst/>
          </a:prstGeom>
          <a:noFill/>
          <a:ln/>
        </p:spPr>
        <p:txBody>
          <a:bodyPr wrap="square" lIns="0" tIns="0" rIns="0" bIns="0" rtlCol="0" anchor="ctr"/>
          <a:lstStyle/>
          <a:p>
            <a:pPr indent="0" marL="0">
              <a:buNone/>
            </a:pPr>
            <a:r>
              <a:rPr lang="en-US" sz="1500" b="1" dirty="0">
                <a:solidFill>
                  <a:srgbClr val="E11D48"/>
                </a:solidFill>
                <a:latin typeface="Consolas" pitchFamily="34" charset="0"/>
                <a:ea typeface="Consolas" pitchFamily="34" charset="-122"/>
                <a:cs typeface="Consolas" pitchFamily="34" charset="-120"/>
              </a:rPr>
              <a:t>depends_on</a:t>
            </a:r>
            <a:endParaRPr lang="en-US" sz="1500" dirty="0"/>
          </a:p>
        </p:txBody>
      </p:sp>
      <p:sp>
        <p:nvSpPr>
          <p:cNvPr id="23" name="Text 20"/>
          <p:cNvSpPr txBox="1"/>
          <p:nvPr/>
        </p:nvSpPr>
        <p:spPr>
          <a:xfrm>
            <a:off x="8229600" y="2862072"/>
            <a:ext cx="3291840" cy="457200"/>
          </a:xfrm>
          <a:prstGeom prst="rect">
            <a:avLst/>
          </a:prstGeom>
          <a:noFill/>
          <a:ln/>
        </p:spPr>
        <p:txBody>
          <a:bodyPr wrap="square" lIns="0" tIns="0" rIns="0" bIns="0" rtlCol="0" anchor="t"/>
          <a:lstStyle/>
          <a:p>
            <a:pPr indent="0" marL="0">
              <a:buNone/>
            </a:pPr>
            <a:r>
              <a:rPr lang="en-US" sz="1250" dirty="0">
                <a:solidFill>
                  <a:schemeClr val="tx1"/>
                </a:solidFill>
              </a:rPr>
              <a:t>Borrow starts only when the other 3 are healthy</a:t>
            </a:r>
            <a:endParaRPr lang="en-US" sz="1250" dirty="0"/>
          </a:p>
        </p:txBody>
      </p:sp>
      <p:sp>
        <p:nvSpPr>
          <p:cNvPr id="24" name="code bg"/>
          <p:cNvSpPr/>
          <p:nvPr/>
        </p:nvSpPr>
        <p:spPr>
          <a:xfrm>
            <a:off x="548640" y="3703320"/>
            <a:ext cx="3017520" cy="777240"/>
          </a:xfrm>
          <a:prstGeom prst="roundRect">
            <a:avLst>
              <a:gd name="adj" fmla="val 11765"/>
            </a:avLst>
          </a:prstGeom>
          <a:solidFill>
            <a:srgbClr val="1E293B"/>
          </a:solidFill>
          <a:ln w="12700">
            <a:solidFill>
              <a:srgbClr val="1E293B"/>
            </a:solidFill>
            <a:prstDash val="solid"/>
          </a:ln>
        </p:spPr>
      </p:sp>
      <p:sp>
        <p:nvSpPr>
          <p:cNvPr id="25" name="Text 22"/>
          <p:cNvSpPr txBox="1"/>
          <p:nvPr/>
        </p:nvSpPr>
        <p:spPr>
          <a:xfrm>
            <a:off x="731520" y="3840480"/>
            <a:ext cx="2651760" cy="502920"/>
          </a:xfrm>
          <a:prstGeom prst="rect">
            <a:avLst/>
          </a:prstGeom>
          <a:noFill/>
          <a:ln/>
        </p:spPr>
        <p:txBody>
          <a:bodyPr wrap="square" lIns="0" tIns="0" rIns="0" bIns="0" rtlCol="0" anchor="t"/>
          <a:lstStyle/>
          <a:p>
            <a:pPr indent="0" marL="0">
              <a:buNone/>
            </a:pPr>
            <a:r>
              <a:rPr lang="en-US" sz="1400" dirty="0">
                <a:solidFill>
                  <a:srgbClr val="E2E8F0"/>
                </a:solidFill>
                <a:latin typeface="Consolas" pitchFamily="34" charset="0"/>
                <a:ea typeface="Consolas" pitchFamily="34" charset="-122"/>
                <a:cs typeface="Consolas" pitchFamily="34" charset="-120"/>
              </a:rPr>
              <a:t>docker compose up -d</a:t>
            </a:r>
            <a:endParaRPr lang="en-US" sz="1400" dirty="0"/>
          </a:p>
          <a:p>
            <a:pPr indent="0" marL="0">
              <a:buNone/>
            </a:pPr>
            <a:r>
              <a:rPr lang="en-US" sz="1400" dirty="0">
                <a:solidFill>
                  <a:srgbClr val="E2E8F0"/>
                </a:solidFill>
                <a:latin typeface="Consolas" pitchFamily="34" charset="0"/>
                <a:ea typeface="Consolas" pitchFamily="34" charset="-122"/>
                <a:cs typeface="Consolas" pitchFamily="34" charset="-120"/>
              </a:rPr>
              <a:t>docker ps</a:t>
            </a:r>
            <a:endParaRPr lang="en-US" sz="1400" dirty="0"/>
          </a:p>
        </p:txBody>
      </p:sp>
      <p:sp>
        <p:nvSpPr>
          <p:cNvPr id="26" name="Text 23"/>
          <p:cNvSpPr txBox="1"/>
          <p:nvPr/>
        </p:nvSpPr>
        <p:spPr>
          <a:xfrm>
            <a:off x="548640" y="4572000"/>
            <a:ext cx="3017520" cy="1463040"/>
          </a:xfrm>
          <a:prstGeom prst="rect">
            <a:avLst/>
          </a:prstGeom>
          <a:noFill/>
          <a:ln/>
        </p:spPr>
        <p:txBody>
          <a:bodyPr wrap="square" lIns="0" tIns="0" rIns="0" bIns="0" rtlCol="0" anchor="t"/>
          <a:lstStyle/>
          <a:p>
            <a:pPr indent="0" marL="0">
              <a:buNone/>
            </a:pPr>
            <a:r>
              <a:rPr lang="en-US" sz="1300" dirty="0">
                <a:solidFill>
                  <a:schemeClr val="tx2"/>
                </a:solidFill>
              </a:rPr>
              <a:t>-d = detached (runs in the background). STATUS shows (healthy); PORTS shows 0.0.0.0:8001-&gt;8001/tcp.</a:t>
            </a:r>
            <a:endParaRPr lang="en-US" sz="1300" dirty="0"/>
          </a:p>
        </p:txBody>
      </p:sp>
      <p:sp>
        <p:nvSpPr>
          <p:cNvPr id="27" name="frame"/>
          <p:cNvSpPr/>
          <p:nvPr/>
        </p:nvSpPr>
        <p:spPr>
          <a:xfrm>
            <a:off x="3739896" y="3648456"/>
            <a:ext cx="7973568" cy="2382514"/>
          </a:xfrm>
          <a:prstGeom prst="roundRect">
            <a:avLst>
              <a:gd name="adj" fmla="val 2303"/>
            </a:avLst>
          </a:prstGeom>
          <a:solidFill>
            <a:srgbClr val="FFFFFF"/>
          </a:solidFill>
          <a:ln w="9525">
            <a:solidFill>
              <a:srgbClr val="CBD5E1"/>
            </a:solidFill>
            <a:prstDash val="solid"/>
          </a:ln>
          <a:effectLst>
            <a:outerShdw sx="100000" sy="100000" kx="0" ky="0" algn="bl" rotWithShape="0" blurRad="76200" dist="25400" dir="5400000">
              <a:srgbClr val="000000">
                <a:alpha val="18000"/>
              </a:srgbClr>
            </a:outerShdw>
          </a:effectLst>
        </p:spPr>
      </p:sp>
      <p:pic>
        <p:nvPicPr>
          <p:cNvPr id="28" name="26_docker_ps_healthy.png" descr="C:/Users/Asus/Desktop/Cloud_computing/PGC/PGC_lab/CC_github/CC_lab_evaluation/screenshots/CP2_Docker_build_deploy/26_docker_ps_healthy.png">    </p:cNvPr>
          <p:cNvPicPr>
            <a:picLocks noChangeAspect="1"/>
          </p:cNvPicPr>
          <p:nvPr/>
        </p:nvPicPr>
        <p:blipFill>
          <a:blip r:embed="rId1"/>
          <a:stretch>
            <a:fillRect/>
          </a:stretch>
        </p:blipFill>
        <p:spPr>
          <a:xfrm>
            <a:off x="3794760" y="3703320"/>
            <a:ext cx="7863840" cy="2272786"/>
          </a:xfrm>
          <a:prstGeom prst="rect">
            <a:avLst/>
          </a:prstGeom>
        </p:spPr>
      </p:pic>
      <p:sp>
        <p:nvSpPr>
          <p:cNvPr id="29" name="Text 25"/>
          <p:cNvSpPr txBox="1"/>
          <p:nvPr/>
        </p:nvSpPr>
        <p:spPr>
          <a:xfrm>
            <a:off x="3703320" y="6067546"/>
            <a:ext cx="8046720" cy="292608"/>
          </a:xfrm>
          <a:prstGeom prst="rect">
            <a:avLst/>
          </a:prstGeom>
          <a:noFill/>
          <a:ln/>
        </p:spPr>
        <p:txBody>
          <a:bodyPr wrap="square" lIns="0" tIns="0" rIns="0" bIns="0" rtlCol="0" anchor="ctr"/>
          <a:lstStyle/>
          <a:p>
            <a:pPr algn="ctr" indent="0" marL="0">
              <a:buNone/>
            </a:pPr>
            <a:r>
              <a:rPr lang="en-US" sz="1100" i="1" dirty="0">
                <a:solidFill>
                  <a:schemeClr val="tx2"/>
                </a:solidFill>
              </a:rPr>
              <a:t>docker ps: 4 services (healthy) + frontend (screenshot 26)</a:t>
            </a:r>
            <a:endParaRPr lang="en-US" sz="1100" dirty="0"/>
          </a:p>
        </p:txBody>
      </p:sp>
      <p:sp>
        <p:nvSpPr>
          <p:cNvPr id="25" name="Slide Number Placeholder 0"/>
          <p:cNvSpPr>
            <a:spLocks noGrp="1"/>
          </p:cNvSpPr>
          <p:nvPr>
            <p:ph type="sldNum" sz="quarter" idx="4294967295"/>
          </p:nvPr>
        </p:nvSpPr>
        <p:spPr>
          <a:xfrm>
            <a:off x="1115568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235440" cy="777240"/>
          </a:xfrm>
          <a:prstGeom prst="rect">
            <a:avLst/>
          </a:prstGeom>
          <a:noFill/>
          <a:ln/>
        </p:spPr>
        <p:txBody>
          <a:bodyPr wrap="square" lIns="0" tIns="0" rIns="0" bIns="0" rtlCol="0" anchor="ctr"/>
          <a:lstStyle/>
          <a:p>
            <a:pPr algn="l" indent="0" marL="0">
              <a:buNone/>
            </a:pPr>
            <a:r>
              <a:rPr lang="en-US" sz="2800" b="1" dirty="0">
                <a:solidFill>
                  <a:schemeClr val="tx1"/>
                </a:solidFill>
              </a:rPr>
              <a:t>Services find each other by name, not by IP</a:t>
            </a:r>
            <a:endParaRPr lang="en-US" sz="2800" dirty="0"/>
          </a:p>
        </p:txBody>
      </p:sp>
      <p:sp>
        <p:nvSpPr>
          <p:cNvPr id="3" name="cp badge"/>
          <p:cNvSpPr/>
          <p:nvPr/>
        </p:nvSpPr>
        <p:spPr>
          <a:xfrm>
            <a:off x="9921240" y="457200"/>
            <a:ext cx="1737360" cy="438912"/>
          </a:xfrm>
          <a:prstGeom prst="roundRect">
            <a:avLst>
              <a:gd name="adj" fmla="val 50000"/>
            </a:avLst>
          </a:prstGeom>
          <a:solidFill>
            <a:srgbClr val="16A34A"/>
          </a:solidFill>
          <a:ln w="12700">
            <a:solidFill>
              <a:srgbClr val="16A34A"/>
            </a:solidFill>
            <a:prstDash val="solid"/>
          </a:ln>
        </p:spPr>
      </p:sp>
      <p:sp>
        <p:nvSpPr>
          <p:cNvPr id="4" name="Text 2"/>
          <p:cNvSpPr txBox="1"/>
          <p:nvPr/>
        </p:nvSpPr>
        <p:spPr>
          <a:xfrm>
            <a:off x="9921240" y="457200"/>
            <a:ext cx="1737360" cy="438912"/>
          </a:xfrm>
          <a:prstGeom prst="rect">
            <a:avLst/>
          </a:prstGeom>
          <a:noFill/>
          <a:ln/>
        </p:spPr>
        <p:txBody>
          <a:bodyPr wrap="square" lIns="0" tIns="0" rIns="0" bIns="0" rtlCol="0" anchor="ctr"/>
          <a:lstStyle/>
          <a:p>
            <a:pPr algn="ctr" indent="0" marL="0">
              <a:buNone/>
            </a:pPr>
            <a:r>
              <a:rPr lang="en-US" sz="1150" b="1" spc="100" kern="0" dirty="0">
                <a:solidFill>
                  <a:schemeClr val="bg1"/>
                </a:solidFill>
              </a:rPr>
              <a:t>CP3 · NETWORK</a:t>
            </a:r>
            <a:endParaRPr lang="en-US" sz="1150" dirty="0"/>
          </a:p>
        </p:txBody>
      </p:sp>
      <p:sp>
        <p:nvSpPr>
          <p:cNvPr id="6" name="frame"/>
          <p:cNvSpPr/>
          <p:nvPr/>
        </p:nvSpPr>
        <p:spPr>
          <a:xfrm>
            <a:off x="493776" y="1316736"/>
            <a:ext cx="5596128" cy="3375442"/>
          </a:xfrm>
          <a:prstGeom prst="roundRect">
            <a:avLst>
              <a:gd name="adj" fmla="val 1625"/>
            </a:avLst>
          </a:prstGeom>
          <a:solidFill>
            <a:srgbClr val="FFFFFF"/>
          </a:solidFill>
          <a:ln w="9525">
            <a:solidFill>
              <a:srgbClr val="CBD5E1"/>
            </a:solidFill>
            <a:prstDash val="solid"/>
          </a:ln>
          <a:effectLst>
            <a:outerShdw sx="100000" sy="100000" kx="0" ky="0" algn="bl" rotWithShape="0" blurRad="76200" dist="25400" dir="5400000">
              <a:srgbClr val="000000">
                <a:alpha val="18000"/>
              </a:srgbClr>
            </a:outerShdw>
          </a:effectLst>
        </p:spPr>
      </p:sp>
      <p:pic>
        <p:nvPicPr>
          <p:cNvPr id="7" name="28_network_inspect_containers.png" descr="C:/Users/Asus/Desktop/Cloud_computing/PGC/PGC_lab/CC_github/CC_lab_evaluation/screenshots/CP3_Communication/28_network_inspect_containers.png">    </p:cNvPr>
          <p:cNvPicPr>
            <a:picLocks noChangeAspect="1"/>
          </p:cNvPicPr>
          <p:nvPr/>
        </p:nvPicPr>
        <p:blipFill>
          <a:blip r:embed="rId1"/>
          <a:stretch>
            <a:fillRect/>
          </a:stretch>
        </p:blipFill>
        <p:spPr>
          <a:xfrm>
            <a:off x="548640" y="1371600"/>
            <a:ext cx="5486400" cy="3265714"/>
          </a:xfrm>
          <a:prstGeom prst="rect">
            <a:avLst/>
          </a:prstGeom>
        </p:spPr>
      </p:pic>
      <p:sp>
        <p:nvSpPr>
          <p:cNvPr id="8" name="Text 4"/>
          <p:cNvSpPr txBox="1"/>
          <p:nvPr/>
        </p:nvSpPr>
        <p:spPr>
          <a:xfrm>
            <a:off x="457200" y="4728754"/>
            <a:ext cx="5669280" cy="292608"/>
          </a:xfrm>
          <a:prstGeom prst="rect">
            <a:avLst/>
          </a:prstGeom>
          <a:noFill/>
          <a:ln/>
        </p:spPr>
        <p:txBody>
          <a:bodyPr wrap="square" lIns="0" tIns="0" rIns="0" bIns="0" rtlCol="0" anchor="ctr"/>
          <a:lstStyle/>
          <a:p>
            <a:pPr algn="ctr" indent="0" marL="0">
              <a:buNone/>
            </a:pPr>
            <a:r>
              <a:rPr lang="en-US" sz="1100" i="1" dirty="0">
                <a:solidFill>
                  <a:schemeClr val="tx2"/>
                </a:solidFill>
              </a:rPr>
              <a:t>docker network inspect library-net (screenshot 28)</a:t>
            </a:r>
            <a:endParaRPr lang="en-US" sz="1100" dirty="0"/>
          </a:p>
        </p:txBody>
      </p:sp>
      <p:sp>
        <p:nvSpPr>
          <p:cNvPr id="9" name="frame"/>
          <p:cNvSpPr/>
          <p:nvPr/>
        </p:nvSpPr>
        <p:spPr>
          <a:xfrm>
            <a:off x="6300216" y="1362456"/>
            <a:ext cx="5413248" cy="814047"/>
          </a:xfrm>
          <a:prstGeom prst="roundRect">
            <a:avLst>
              <a:gd name="adj" fmla="val 6740"/>
            </a:avLst>
          </a:prstGeom>
          <a:solidFill>
            <a:srgbClr val="FFFFFF"/>
          </a:solidFill>
          <a:ln w="9525">
            <a:solidFill>
              <a:srgbClr val="CBD5E1"/>
            </a:solidFill>
            <a:prstDash val="solid"/>
          </a:ln>
          <a:effectLst>
            <a:outerShdw sx="100000" sy="100000" kx="0" ky="0" algn="bl" rotWithShape="0" blurRad="76200" dist="25400" dir="5400000">
              <a:srgbClr val="000000">
                <a:alpha val="18000"/>
              </a:srgbClr>
            </a:outerShdw>
          </a:effectLst>
        </p:spPr>
      </p:sp>
      <p:pic>
        <p:nvPicPr>
          <p:cNvPr id="10" name="29_docker_exec_service_name_call.png" descr="C:/Users/Asus/Desktop/Cloud_computing/PGC/PGC_lab/CC_github/CC_lab_evaluation/screenshots/CP3_Communication/29_docker_exec_service_name_call.png">    </p:cNvPr>
          <p:cNvPicPr>
            <a:picLocks noChangeAspect="1"/>
          </p:cNvPicPr>
          <p:nvPr/>
        </p:nvPicPr>
        <p:blipFill>
          <a:blip r:embed="rId2"/>
          <a:stretch>
            <a:fillRect/>
          </a:stretch>
        </p:blipFill>
        <p:spPr>
          <a:xfrm>
            <a:off x="6355080" y="1417320"/>
            <a:ext cx="5303520" cy="704319"/>
          </a:xfrm>
          <a:prstGeom prst="rect">
            <a:avLst/>
          </a:prstGeom>
        </p:spPr>
      </p:pic>
      <p:sp>
        <p:nvSpPr>
          <p:cNvPr id="11" name="Text 6"/>
          <p:cNvSpPr txBox="1"/>
          <p:nvPr/>
        </p:nvSpPr>
        <p:spPr>
          <a:xfrm>
            <a:off x="6263640" y="2213079"/>
            <a:ext cx="5486400" cy="292608"/>
          </a:xfrm>
          <a:prstGeom prst="rect">
            <a:avLst/>
          </a:prstGeom>
          <a:noFill/>
          <a:ln/>
        </p:spPr>
        <p:txBody>
          <a:bodyPr wrap="square" lIns="0" tIns="0" rIns="0" bIns="0" rtlCol="0" anchor="ctr"/>
          <a:lstStyle/>
          <a:p>
            <a:pPr algn="ctr" indent="0" marL="0">
              <a:buNone/>
            </a:pPr>
            <a:r>
              <a:rPr lang="en-US" sz="1100" i="1" dirty="0">
                <a:solidFill>
                  <a:schemeClr val="tx2"/>
                </a:solidFill>
              </a:rPr>
              <a:t>docker exec … call by service name (screenshot 29)</a:t>
            </a:r>
            <a:endParaRPr lang="en-US" sz="1100" dirty="0"/>
          </a:p>
        </p:txBody>
      </p:sp>
      <p:sp>
        <p:nvSpPr>
          <p:cNvPr id="12" name="Text 7"/>
          <p:cNvSpPr txBox="1"/>
          <p:nvPr/>
        </p:nvSpPr>
        <p:spPr>
          <a:xfrm>
            <a:off x="6355080" y="2971800"/>
            <a:ext cx="5303520" cy="2743200"/>
          </a:xfrm>
          <a:prstGeom prst="rect">
            <a:avLst/>
          </a:prstGeom>
          <a:noFill/>
          <a:ln/>
        </p:spPr>
        <p:txBody>
          <a:bodyPr wrap="square" lIns="635" tIns="635" rIns="635" bIns="635" rtlCol="0" anchor="t"/>
          <a:lstStyle/>
          <a:p>
            <a:pPr marL="190500" indent="-190500">
              <a:spcAft>
                <a:spcPts val="800"/>
              </a:spcAft>
              <a:buSzPct val="100000"/>
              <a:buChar char="•"/>
            </a:pPr>
            <a:r>
              <a:rPr lang="en-US" sz="1400" dirty="0">
                <a:solidFill>
                  <a:schemeClr val="tx1"/>
                </a:solidFill>
              </a:rPr>
              <a:t>Compose creates a user-defined bridge network, library-net; all 5 containers join it</a:t>
            </a:r>
            <a:endParaRPr lang="en-US" sz="1400" dirty="0"/>
          </a:p>
          <a:p>
            <a:pPr marL="190500" indent="-190500">
              <a:spcAft>
                <a:spcPts val="800"/>
              </a:spcAft>
              <a:buSzPct val="100000"/>
              <a:buChar char="•"/>
            </a:pPr>
            <a:r>
              <a:rPr lang="en-US" sz="1400" dirty="0">
                <a:solidFill>
                  <a:schemeClr val="tx1"/>
                </a:solidFill>
              </a:rPr>
              <a:t>Docker's built-in DNS turns book-service into the container's IP</a:t>
            </a:r>
            <a:endParaRPr lang="en-US" sz="1400" dirty="0"/>
          </a:p>
          <a:p>
            <a:pPr marL="190500" indent="-190500">
              <a:spcAft>
                <a:spcPts val="800"/>
              </a:spcAft>
              <a:buSzPct val="100000"/>
              <a:buChar char="•"/>
            </a:pPr>
            <a:r>
              <a:rPr lang="en-US" sz="1400" dirty="0">
                <a:solidFill>
                  <a:schemeClr val="tx1"/>
                </a:solidFill>
              </a:rPr>
              <a:t>The URL comes from an environment variable, so the same code runs locally (127.0.0.1) and in Docker (service name)</a:t>
            </a:r>
            <a:endParaRPr lang="en-US" sz="1400" dirty="0"/>
          </a:p>
          <a:p>
            <a:pPr marL="190500" indent="-190500">
              <a:spcAft>
                <a:spcPts val="800"/>
              </a:spcAft>
              <a:buSzPct val="100000"/>
              <a:buChar char="•"/>
            </a:pPr>
            <a:r>
              <a:rPr lang="en-US" sz="1400" dirty="0">
                <a:solidFill>
                  <a:schemeClr val="tx1"/>
                </a:solidFill>
              </a:rPr>
              <a:t>Inside a container, localhost means that container only — so names are required</a:t>
            </a:r>
            <a:endParaRPr lang="en-US" sz="1400" dirty="0"/>
          </a:p>
        </p:txBody>
      </p:sp>
      <p:sp>
        <p:nvSpPr>
          <p:cNvPr id="13" name="card"/>
          <p:cNvSpPr/>
          <p:nvPr/>
        </p:nvSpPr>
        <p:spPr>
          <a:xfrm>
            <a:off x="548640" y="5486400"/>
            <a:ext cx="2103120" cy="731520"/>
          </a:xfrm>
          <a:prstGeom prst="roundRect">
            <a:avLst>
              <a:gd name="adj" fmla="val 15000"/>
            </a:avLst>
          </a:prstGeom>
          <a:solidFill>
            <a:srgbClr val="F1F5F9"/>
          </a:solidFill>
          <a:ln w="12700">
            <a:solidFill>
              <a:srgbClr val="F1F5F9"/>
            </a:solidFill>
            <a:prstDash val="solid"/>
          </a:ln>
        </p:spPr>
      </p:sp>
      <p:sp>
        <p:nvSpPr>
          <p:cNvPr id="14" name="Text 9"/>
          <p:cNvSpPr txBox="1"/>
          <p:nvPr/>
        </p:nvSpPr>
        <p:spPr>
          <a:xfrm>
            <a:off x="658368" y="5486400"/>
            <a:ext cx="1920240" cy="731520"/>
          </a:xfrm>
          <a:prstGeom prst="rect">
            <a:avLst/>
          </a:prstGeom>
          <a:noFill/>
          <a:ln/>
        </p:spPr>
        <p:txBody>
          <a:bodyPr wrap="square" lIns="0" tIns="0" rIns="0" bIns="0" rtlCol="0" anchor="ctr"/>
          <a:lstStyle/>
          <a:p>
            <a:pPr indent="0" marL="0">
              <a:buNone/>
            </a:pPr>
            <a:r>
              <a:rPr lang="en-US" sz="1250" b="1" dirty="0">
                <a:solidFill>
                  <a:srgbClr val="2563EB"/>
                </a:solidFill>
              </a:rPr>
              <a:t>book-service</a:t>
            </a:r>
            <a:endParaRPr lang="en-US" sz="1250" dirty="0"/>
          </a:p>
          <a:p>
            <a:pPr indent="0" marL="0">
              <a:buNone/>
            </a:pPr>
            <a:r>
              <a:rPr lang="en-US" sz="1200" dirty="0">
                <a:solidFill>
                  <a:srgbClr val="334155"/>
                </a:solidFill>
                <a:latin typeface="Consolas" pitchFamily="34" charset="0"/>
                <a:ea typeface="Consolas" pitchFamily="34" charset="-122"/>
                <a:cs typeface="Consolas" pitchFamily="34" charset="-120"/>
              </a:rPr>
              <a:t>172.18.0.2</a:t>
            </a:r>
            <a:endParaRPr lang="en-US" sz="1250" dirty="0"/>
          </a:p>
        </p:txBody>
      </p:sp>
      <p:sp>
        <p:nvSpPr>
          <p:cNvPr id="15" name="card"/>
          <p:cNvSpPr/>
          <p:nvPr/>
        </p:nvSpPr>
        <p:spPr>
          <a:xfrm>
            <a:off x="2788920" y="5486400"/>
            <a:ext cx="2103120" cy="731520"/>
          </a:xfrm>
          <a:prstGeom prst="roundRect">
            <a:avLst>
              <a:gd name="adj" fmla="val 15000"/>
            </a:avLst>
          </a:prstGeom>
          <a:solidFill>
            <a:srgbClr val="F1F5F9"/>
          </a:solidFill>
          <a:ln w="12700">
            <a:solidFill>
              <a:srgbClr val="F1F5F9"/>
            </a:solidFill>
            <a:prstDash val="solid"/>
          </a:ln>
        </p:spPr>
      </p:sp>
      <p:sp>
        <p:nvSpPr>
          <p:cNvPr id="16" name="Text 11"/>
          <p:cNvSpPr txBox="1"/>
          <p:nvPr/>
        </p:nvSpPr>
        <p:spPr>
          <a:xfrm>
            <a:off x="2898648" y="5486400"/>
            <a:ext cx="1920240" cy="731520"/>
          </a:xfrm>
          <a:prstGeom prst="rect">
            <a:avLst/>
          </a:prstGeom>
          <a:noFill/>
          <a:ln/>
        </p:spPr>
        <p:txBody>
          <a:bodyPr wrap="square" lIns="0" tIns="0" rIns="0" bIns="0" rtlCol="0" anchor="ctr"/>
          <a:lstStyle/>
          <a:p>
            <a:pPr indent="0" marL="0">
              <a:buNone/>
            </a:pPr>
            <a:r>
              <a:rPr lang="en-US" sz="1250" b="1" dirty="0">
                <a:solidFill>
                  <a:srgbClr val="16A34A"/>
                </a:solidFill>
              </a:rPr>
              <a:t>member-service</a:t>
            </a:r>
            <a:endParaRPr lang="en-US" sz="1250" dirty="0"/>
          </a:p>
          <a:p>
            <a:pPr indent="0" marL="0">
              <a:buNone/>
            </a:pPr>
            <a:r>
              <a:rPr lang="en-US" sz="1200" dirty="0">
                <a:solidFill>
                  <a:srgbClr val="334155"/>
                </a:solidFill>
                <a:latin typeface="Consolas" pitchFamily="34" charset="0"/>
                <a:ea typeface="Consolas" pitchFamily="34" charset="-122"/>
                <a:cs typeface="Consolas" pitchFamily="34" charset="-120"/>
              </a:rPr>
              <a:t>172.18.0.3</a:t>
            </a:r>
            <a:endParaRPr lang="en-US" sz="1250" dirty="0"/>
          </a:p>
        </p:txBody>
      </p:sp>
      <p:sp>
        <p:nvSpPr>
          <p:cNvPr id="17" name="card"/>
          <p:cNvSpPr/>
          <p:nvPr/>
        </p:nvSpPr>
        <p:spPr>
          <a:xfrm>
            <a:off x="5029200" y="5486400"/>
            <a:ext cx="2103120" cy="731520"/>
          </a:xfrm>
          <a:prstGeom prst="roundRect">
            <a:avLst>
              <a:gd name="adj" fmla="val 15000"/>
            </a:avLst>
          </a:prstGeom>
          <a:solidFill>
            <a:srgbClr val="F1F5F9"/>
          </a:solidFill>
          <a:ln w="12700">
            <a:solidFill>
              <a:srgbClr val="F1F5F9"/>
            </a:solidFill>
            <a:prstDash val="solid"/>
          </a:ln>
        </p:spPr>
      </p:sp>
      <p:sp>
        <p:nvSpPr>
          <p:cNvPr id="18" name="Text 13"/>
          <p:cNvSpPr txBox="1"/>
          <p:nvPr/>
        </p:nvSpPr>
        <p:spPr>
          <a:xfrm>
            <a:off x="5138928" y="5486400"/>
            <a:ext cx="1920240" cy="731520"/>
          </a:xfrm>
          <a:prstGeom prst="rect">
            <a:avLst/>
          </a:prstGeom>
          <a:noFill/>
          <a:ln/>
        </p:spPr>
        <p:txBody>
          <a:bodyPr wrap="square" lIns="0" tIns="0" rIns="0" bIns="0" rtlCol="0" anchor="ctr"/>
          <a:lstStyle/>
          <a:p>
            <a:pPr indent="0" marL="0">
              <a:buNone/>
            </a:pPr>
            <a:r>
              <a:rPr lang="en-US" sz="1250" b="1" dirty="0">
                <a:solidFill>
                  <a:srgbClr val="EA580C"/>
                </a:solidFill>
              </a:rPr>
              <a:t>notification-service</a:t>
            </a:r>
            <a:endParaRPr lang="en-US" sz="1250" dirty="0"/>
          </a:p>
          <a:p>
            <a:pPr indent="0" marL="0">
              <a:buNone/>
            </a:pPr>
            <a:r>
              <a:rPr lang="en-US" sz="1200" dirty="0">
                <a:solidFill>
                  <a:srgbClr val="334155"/>
                </a:solidFill>
                <a:latin typeface="Consolas" pitchFamily="34" charset="0"/>
                <a:ea typeface="Consolas" pitchFamily="34" charset="-122"/>
                <a:cs typeface="Consolas" pitchFamily="34" charset="-120"/>
              </a:rPr>
              <a:t>172.18.0.4</a:t>
            </a:r>
            <a:endParaRPr lang="en-US" sz="1250" dirty="0"/>
          </a:p>
        </p:txBody>
      </p:sp>
      <p:sp>
        <p:nvSpPr>
          <p:cNvPr id="19" name="card"/>
          <p:cNvSpPr/>
          <p:nvPr/>
        </p:nvSpPr>
        <p:spPr>
          <a:xfrm>
            <a:off x="7269480" y="5486400"/>
            <a:ext cx="2103120" cy="731520"/>
          </a:xfrm>
          <a:prstGeom prst="roundRect">
            <a:avLst>
              <a:gd name="adj" fmla="val 15000"/>
            </a:avLst>
          </a:prstGeom>
          <a:solidFill>
            <a:srgbClr val="F1F5F9"/>
          </a:solidFill>
          <a:ln w="12700">
            <a:solidFill>
              <a:srgbClr val="F1F5F9"/>
            </a:solidFill>
            <a:prstDash val="solid"/>
          </a:ln>
        </p:spPr>
      </p:sp>
      <p:sp>
        <p:nvSpPr>
          <p:cNvPr id="20" name="Text 15"/>
          <p:cNvSpPr txBox="1"/>
          <p:nvPr/>
        </p:nvSpPr>
        <p:spPr>
          <a:xfrm>
            <a:off x="7379208" y="5486400"/>
            <a:ext cx="1920240" cy="731520"/>
          </a:xfrm>
          <a:prstGeom prst="rect">
            <a:avLst/>
          </a:prstGeom>
          <a:noFill/>
          <a:ln/>
        </p:spPr>
        <p:txBody>
          <a:bodyPr wrap="square" lIns="0" tIns="0" rIns="0" bIns="0" rtlCol="0" anchor="ctr"/>
          <a:lstStyle/>
          <a:p>
            <a:pPr indent="0" marL="0">
              <a:buNone/>
            </a:pPr>
            <a:r>
              <a:rPr lang="en-US" sz="1250" b="1" dirty="0">
                <a:solidFill>
                  <a:srgbClr val="7C3AED"/>
                </a:solidFill>
              </a:rPr>
              <a:t>borrow-service</a:t>
            </a:r>
            <a:endParaRPr lang="en-US" sz="1250" dirty="0"/>
          </a:p>
          <a:p>
            <a:pPr indent="0" marL="0">
              <a:buNone/>
            </a:pPr>
            <a:r>
              <a:rPr lang="en-US" sz="1200" dirty="0">
                <a:solidFill>
                  <a:srgbClr val="334155"/>
                </a:solidFill>
                <a:latin typeface="Consolas" pitchFamily="34" charset="0"/>
                <a:ea typeface="Consolas" pitchFamily="34" charset="-122"/>
                <a:cs typeface="Consolas" pitchFamily="34" charset="-120"/>
              </a:rPr>
              <a:t>172.18.0.5</a:t>
            </a:r>
            <a:endParaRPr lang="en-US" sz="1250" dirty="0"/>
          </a:p>
        </p:txBody>
      </p:sp>
      <p:sp>
        <p:nvSpPr>
          <p:cNvPr id="21" name="card"/>
          <p:cNvSpPr/>
          <p:nvPr/>
        </p:nvSpPr>
        <p:spPr>
          <a:xfrm>
            <a:off x="9509760" y="5486400"/>
            <a:ext cx="2103120" cy="731520"/>
          </a:xfrm>
          <a:prstGeom prst="roundRect">
            <a:avLst>
              <a:gd name="adj" fmla="val 15000"/>
            </a:avLst>
          </a:prstGeom>
          <a:solidFill>
            <a:srgbClr val="F1F5F9"/>
          </a:solidFill>
          <a:ln w="12700">
            <a:solidFill>
              <a:srgbClr val="F1F5F9"/>
            </a:solidFill>
            <a:prstDash val="solid"/>
          </a:ln>
        </p:spPr>
      </p:sp>
      <p:sp>
        <p:nvSpPr>
          <p:cNvPr id="22" name="Text 17"/>
          <p:cNvSpPr txBox="1"/>
          <p:nvPr/>
        </p:nvSpPr>
        <p:spPr>
          <a:xfrm>
            <a:off x="9619488" y="5486400"/>
            <a:ext cx="1920240" cy="731520"/>
          </a:xfrm>
          <a:prstGeom prst="rect">
            <a:avLst/>
          </a:prstGeom>
          <a:noFill/>
          <a:ln/>
        </p:spPr>
        <p:txBody>
          <a:bodyPr wrap="square" lIns="0" tIns="0" rIns="0" bIns="0" rtlCol="0" anchor="ctr"/>
          <a:lstStyle/>
          <a:p>
            <a:pPr indent="0" marL="0">
              <a:buNone/>
            </a:pPr>
            <a:r>
              <a:rPr lang="en-US" sz="1250" b="1" dirty="0">
                <a:solidFill>
                  <a:srgbClr val="0D9488"/>
                </a:solidFill>
              </a:rPr>
              <a:t>library-frontend</a:t>
            </a:r>
            <a:endParaRPr lang="en-US" sz="1250" dirty="0"/>
          </a:p>
          <a:p>
            <a:pPr indent="0" marL="0">
              <a:buNone/>
            </a:pPr>
            <a:r>
              <a:rPr lang="en-US" sz="1200" dirty="0">
                <a:solidFill>
                  <a:srgbClr val="334155"/>
                </a:solidFill>
                <a:latin typeface="Consolas" pitchFamily="34" charset="0"/>
                <a:ea typeface="Consolas" pitchFamily="34" charset="-122"/>
                <a:cs typeface="Consolas" pitchFamily="34" charset="-120"/>
              </a:rPr>
              <a:t>172.18.0.6</a:t>
            </a:r>
            <a:endParaRPr lang="en-US" sz="1250" dirty="0"/>
          </a:p>
        </p:txBody>
      </p:sp>
      <p:sp>
        <p:nvSpPr>
          <p:cNvPr id="25" name="Slide Number Placeholder 0"/>
          <p:cNvSpPr>
            <a:spLocks noGrp="1"/>
          </p:cNvSpPr>
          <p:nvPr>
            <p:ph type="sldNum" sz="quarter" idx="4294967295"/>
          </p:nvPr>
        </p:nvSpPr>
        <p:spPr>
          <a:xfrm>
            <a:off x="1115568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235440" cy="777240"/>
          </a:xfrm>
          <a:prstGeom prst="rect">
            <a:avLst/>
          </a:prstGeom>
          <a:noFill/>
          <a:ln/>
        </p:spPr>
        <p:txBody>
          <a:bodyPr wrap="square" lIns="0" tIns="0" rIns="0" bIns="0" rtlCol="0" anchor="ctr"/>
          <a:lstStyle/>
          <a:p>
            <a:pPr algn="l" indent="0" marL="0">
              <a:buNone/>
            </a:pPr>
            <a:r>
              <a:rPr lang="en-US" sz="2800" b="1" dirty="0">
                <a:solidFill>
                  <a:schemeClr val="tx1"/>
                </a:solidFill>
              </a:rPr>
              <a:t>End-to-end: a borrow from the browser</a:t>
            </a:r>
            <a:endParaRPr lang="en-US" sz="2800" dirty="0"/>
          </a:p>
        </p:txBody>
      </p:sp>
      <p:sp>
        <p:nvSpPr>
          <p:cNvPr id="3" name="cp badge"/>
          <p:cNvSpPr/>
          <p:nvPr/>
        </p:nvSpPr>
        <p:spPr>
          <a:xfrm>
            <a:off x="9921240" y="457200"/>
            <a:ext cx="1737360" cy="438912"/>
          </a:xfrm>
          <a:prstGeom prst="roundRect">
            <a:avLst>
              <a:gd name="adj" fmla="val 50000"/>
            </a:avLst>
          </a:prstGeom>
          <a:solidFill>
            <a:srgbClr val="16A34A"/>
          </a:solidFill>
          <a:ln w="12700">
            <a:solidFill>
              <a:srgbClr val="16A34A"/>
            </a:solidFill>
            <a:prstDash val="solid"/>
          </a:ln>
        </p:spPr>
      </p:sp>
      <p:sp>
        <p:nvSpPr>
          <p:cNvPr id="4" name="Text 2"/>
          <p:cNvSpPr txBox="1"/>
          <p:nvPr/>
        </p:nvSpPr>
        <p:spPr>
          <a:xfrm>
            <a:off x="9921240" y="457200"/>
            <a:ext cx="1737360" cy="438912"/>
          </a:xfrm>
          <a:prstGeom prst="rect">
            <a:avLst/>
          </a:prstGeom>
          <a:noFill/>
          <a:ln/>
        </p:spPr>
        <p:txBody>
          <a:bodyPr wrap="square" lIns="0" tIns="0" rIns="0" bIns="0" rtlCol="0" anchor="ctr"/>
          <a:lstStyle/>
          <a:p>
            <a:pPr algn="ctr" indent="0" marL="0">
              <a:buNone/>
            </a:pPr>
            <a:r>
              <a:rPr lang="en-US" sz="1150" b="1" spc="100" kern="0" dirty="0">
                <a:solidFill>
                  <a:schemeClr val="bg1"/>
                </a:solidFill>
              </a:rPr>
              <a:t>CP3 · NETWORK</a:t>
            </a:r>
            <a:endParaRPr lang="en-US" sz="1150" dirty="0"/>
          </a:p>
        </p:txBody>
      </p:sp>
      <p:sp>
        <p:nvSpPr>
          <p:cNvPr id="6" name="frame"/>
          <p:cNvSpPr/>
          <p:nvPr/>
        </p:nvSpPr>
        <p:spPr>
          <a:xfrm>
            <a:off x="493776" y="1316736"/>
            <a:ext cx="5550408" cy="2871494"/>
          </a:xfrm>
          <a:prstGeom prst="roundRect">
            <a:avLst>
              <a:gd name="adj" fmla="val 1911"/>
            </a:avLst>
          </a:prstGeom>
          <a:solidFill>
            <a:srgbClr val="FFFFFF"/>
          </a:solidFill>
          <a:ln w="9525">
            <a:solidFill>
              <a:srgbClr val="CBD5E1"/>
            </a:solidFill>
            <a:prstDash val="solid"/>
          </a:ln>
          <a:effectLst>
            <a:outerShdw sx="100000" sy="100000" kx="0" ky="0" algn="bl" rotWithShape="0" blurRad="76200" dist="25400" dir="5400000">
              <a:srgbClr val="000000">
                <a:alpha val="18000"/>
              </a:srgbClr>
            </a:outerShdw>
          </a:effectLst>
        </p:spPr>
      </p:sp>
      <p:pic>
        <p:nvPicPr>
          <p:cNvPr id="7" name="30_streamlit_dashboard_health.png" descr="C:/Users/Asus/Desktop/Cloud_computing/PGC/PGC_lab/CC_github/CC_lab_evaluation/screenshots/CP3_Communication/30_streamlit_dashboard_health.png">    </p:cNvPr>
          <p:cNvPicPr>
            <a:picLocks noChangeAspect="1"/>
          </p:cNvPicPr>
          <p:nvPr/>
        </p:nvPicPr>
        <p:blipFill>
          <a:blip r:embed="rId1"/>
          <a:stretch>
            <a:fillRect/>
          </a:stretch>
        </p:blipFill>
        <p:spPr>
          <a:xfrm>
            <a:off x="548640" y="1371600"/>
            <a:ext cx="5440680" cy="2761766"/>
          </a:xfrm>
          <a:prstGeom prst="rect">
            <a:avLst/>
          </a:prstGeom>
        </p:spPr>
      </p:pic>
      <p:sp>
        <p:nvSpPr>
          <p:cNvPr id="8" name="Text 4"/>
          <p:cNvSpPr txBox="1"/>
          <p:nvPr/>
        </p:nvSpPr>
        <p:spPr>
          <a:xfrm>
            <a:off x="457200" y="4224806"/>
            <a:ext cx="5623560" cy="292608"/>
          </a:xfrm>
          <a:prstGeom prst="rect">
            <a:avLst/>
          </a:prstGeom>
          <a:noFill/>
          <a:ln/>
        </p:spPr>
        <p:txBody>
          <a:bodyPr wrap="square" lIns="0" tIns="0" rIns="0" bIns="0" rtlCol="0" anchor="ctr"/>
          <a:lstStyle/>
          <a:p>
            <a:pPr algn="ctr" indent="0" marL="0">
              <a:buNone/>
            </a:pPr>
            <a:r>
              <a:rPr lang="en-US" sz="1100" i="1" dirty="0">
                <a:solidFill>
                  <a:schemeClr val="tx2"/>
                </a:solidFill>
              </a:rPr>
              <a:t>Dashboard: health of all services, checked by Borrow (screenshot 30)</a:t>
            </a:r>
            <a:endParaRPr lang="en-US" sz="1100" dirty="0"/>
          </a:p>
        </p:txBody>
      </p:sp>
      <p:sp>
        <p:nvSpPr>
          <p:cNvPr id="9" name="frame"/>
          <p:cNvSpPr/>
          <p:nvPr/>
        </p:nvSpPr>
        <p:spPr>
          <a:xfrm>
            <a:off x="6163056" y="1316736"/>
            <a:ext cx="5550408" cy="2857546"/>
          </a:xfrm>
          <a:prstGeom prst="roundRect">
            <a:avLst>
              <a:gd name="adj" fmla="val 1920"/>
            </a:avLst>
          </a:prstGeom>
          <a:solidFill>
            <a:srgbClr val="FFFFFF"/>
          </a:solidFill>
          <a:ln w="9525">
            <a:solidFill>
              <a:srgbClr val="CBD5E1"/>
            </a:solidFill>
            <a:prstDash val="solid"/>
          </a:ln>
          <a:effectLst>
            <a:outerShdw sx="100000" sy="100000" kx="0" ky="0" algn="bl" rotWithShape="0" blurRad="76200" dist="25400" dir="5400000">
              <a:srgbClr val="000000">
                <a:alpha val="18000"/>
              </a:srgbClr>
            </a:outerShdw>
          </a:effectLst>
        </p:spPr>
      </p:sp>
      <p:pic>
        <p:nvPicPr>
          <p:cNvPr id="10" name="33_streamlit_borrow_return.png" descr="C:/Users/Asus/Desktop/Cloud_computing/PGC/PGC_lab/CC_github/CC_lab_evaluation/screenshots/CP3_Communication/33_streamlit_borrow_return.png">    </p:cNvPr>
          <p:cNvPicPr>
            <a:picLocks noChangeAspect="1"/>
          </p:cNvPicPr>
          <p:nvPr/>
        </p:nvPicPr>
        <p:blipFill>
          <a:blip r:embed="rId2"/>
          <a:stretch>
            <a:fillRect/>
          </a:stretch>
        </p:blipFill>
        <p:spPr>
          <a:xfrm>
            <a:off x="6217920" y="1371600"/>
            <a:ext cx="5440680" cy="2747818"/>
          </a:xfrm>
          <a:prstGeom prst="rect">
            <a:avLst/>
          </a:prstGeom>
        </p:spPr>
      </p:pic>
      <p:sp>
        <p:nvSpPr>
          <p:cNvPr id="11" name="Text 6"/>
          <p:cNvSpPr txBox="1"/>
          <p:nvPr/>
        </p:nvSpPr>
        <p:spPr>
          <a:xfrm>
            <a:off x="6126480" y="4210858"/>
            <a:ext cx="5623560" cy="292608"/>
          </a:xfrm>
          <a:prstGeom prst="rect">
            <a:avLst/>
          </a:prstGeom>
          <a:noFill/>
          <a:ln/>
        </p:spPr>
        <p:txBody>
          <a:bodyPr wrap="square" lIns="0" tIns="0" rIns="0" bIns="0" rtlCol="0" anchor="ctr"/>
          <a:lstStyle/>
          <a:p>
            <a:pPr algn="ctr" indent="0" marL="0">
              <a:buNone/>
            </a:pPr>
            <a:r>
              <a:rPr lang="en-US" sz="1100" i="1" dirty="0">
                <a:solidFill>
                  <a:schemeClr val="tx2"/>
                </a:solidFill>
              </a:rPr>
              <a:t>Borrow / Return page (screenshot 33)</a:t>
            </a:r>
            <a:endParaRPr lang="en-US" sz="1100" dirty="0"/>
          </a:p>
        </p:txBody>
      </p:sp>
      <p:sp>
        <p:nvSpPr>
          <p:cNvPr id="12" name="card"/>
          <p:cNvSpPr/>
          <p:nvPr/>
        </p:nvSpPr>
        <p:spPr>
          <a:xfrm>
            <a:off x="548640" y="4892040"/>
            <a:ext cx="11109960" cy="1143000"/>
          </a:xfrm>
          <a:prstGeom prst="roundRect">
            <a:avLst>
              <a:gd name="adj" fmla="val 9600"/>
            </a:avLst>
          </a:prstGeom>
          <a:solidFill>
            <a:srgbClr val="DCFCE7"/>
          </a:solidFill>
          <a:ln w="12700">
            <a:solidFill>
              <a:srgbClr val="DCFCE7"/>
            </a:solidFill>
            <a:prstDash val="solid"/>
          </a:ln>
        </p:spPr>
      </p:sp>
      <p:sp>
        <p:nvSpPr>
          <p:cNvPr id="13" name="Text 8"/>
          <p:cNvSpPr txBox="1"/>
          <p:nvPr/>
        </p:nvSpPr>
        <p:spPr>
          <a:xfrm>
            <a:off x="777240" y="4892040"/>
            <a:ext cx="10698480" cy="1143000"/>
          </a:xfrm>
          <a:prstGeom prst="rect">
            <a:avLst/>
          </a:prstGeom>
          <a:noFill/>
          <a:ln/>
        </p:spPr>
        <p:txBody>
          <a:bodyPr wrap="square" lIns="0" tIns="0" rIns="0" bIns="0" rtlCol="0" anchor="ctr"/>
          <a:lstStyle/>
          <a:p>
            <a:pPr indent="0" marL="0">
              <a:buNone/>
            </a:pPr>
            <a:r>
              <a:rPr lang="en-US" sz="1400" b="1" dirty="0">
                <a:solidFill>
                  <a:srgbClr val="14532D"/>
                </a:solidFill>
              </a:rPr>
              <a:t>One click = </a:t>
            </a:r>
            <a:pPr indent="0" marL="0">
              <a:buNone/>
            </a:pPr>
            <a:r>
              <a:rPr lang="en-US" sz="1400" dirty="0">
                <a:solidFill>
                  <a:srgbClr val="14532D"/>
                </a:solidFill>
              </a:rPr>
              <a:t>Client → Borrow → Member → Book → Borrow DB → Notification → reply to client.</a:t>
            </a:r>
            <a:pPr indent="0" marL="0">
              <a:buNone/>
            </a:pPr>
            <a:r>
              <a:rPr lang="en-US" sz="1400" b="1" dirty="0">
                <a:solidFill>
                  <a:srgbClr val="14532D"/>
                </a:solidFill>
              </a:rPr>
              <a:t>   Proof: </a:t>
            </a:r>
            <a:pPr indent="0" marL="0">
              <a:buNone/>
            </a:pPr>
            <a:r>
              <a:rPr lang="en-US" sz="1200" dirty="0">
                <a:solidFill>
                  <a:srgbClr val="14532D"/>
                </a:solidFill>
                <a:latin typeface="Consolas" pitchFamily="34" charset="0"/>
                <a:ea typeface="Consolas" pitchFamily="34" charset="-122"/>
                <a:cs typeface="Consolas" pitchFamily="34" charset="-120"/>
              </a:rPr>
              <a:t>docker compose logs --tail 5 borrow-service book-service member-service notification-service</a:t>
            </a:r>
            <a:endParaRPr lang="en-US" sz="1400" dirty="0"/>
          </a:p>
        </p:txBody>
      </p:sp>
      <p:sp>
        <p:nvSpPr>
          <p:cNvPr id="25" name="Slide Number Placeholder 0"/>
          <p:cNvSpPr>
            <a:spLocks noGrp="1"/>
          </p:cNvSpPr>
          <p:nvPr>
            <p:ph type="sldNum" sz="quarter" idx="4294967295"/>
          </p:nvPr>
        </p:nvSpPr>
        <p:spPr>
          <a:xfrm>
            <a:off x="1115568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235440" cy="777240"/>
          </a:xfrm>
          <a:prstGeom prst="rect">
            <a:avLst/>
          </a:prstGeom>
          <a:noFill/>
          <a:ln/>
        </p:spPr>
        <p:txBody>
          <a:bodyPr wrap="square" lIns="0" tIns="0" rIns="0" bIns="0" rtlCol="0" anchor="ctr"/>
          <a:lstStyle/>
          <a:p>
            <a:pPr algn="l" indent="0" marL="0">
              <a:buNone/>
            </a:pPr>
            <a:r>
              <a:rPr lang="en-US" sz="2800" b="1" dirty="0">
                <a:solidFill>
                  <a:schemeClr val="tx1"/>
                </a:solidFill>
              </a:rPr>
              <a:t>Workload design: one API, five levels, 60 s each</a:t>
            </a:r>
            <a:endParaRPr lang="en-US" sz="2800" dirty="0"/>
          </a:p>
        </p:txBody>
      </p:sp>
      <p:sp>
        <p:nvSpPr>
          <p:cNvPr id="3" name="cp badge"/>
          <p:cNvSpPr/>
          <p:nvPr/>
        </p:nvSpPr>
        <p:spPr>
          <a:xfrm>
            <a:off x="9921240" y="457200"/>
            <a:ext cx="1737360" cy="438912"/>
          </a:xfrm>
          <a:prstGeom prst="roundRect">
            <a:avLst>
              <a:gd name="adj" fmla="val 50000"/>
            </a:avLst>
          </a:prstGeom>
          <a:solidFill>
            <a:srgbClr val="EA580C"/>
          </a:solidFill>
          <a:ln w="12700">
            <a:solidFill>
              <a:srgbClr val="EA580C"/>
            </a:solidFill>
            <a:prstDash val="solid"/>
          </a:ln>
        </p:spPr>
      </p:sp>
      <p:sp>
        <p:nvSpPr>
          <p:cNvPr id="4" name="Text 2"/>
          <p:cNvSpPr txBox="1"/>
          <p:nvPr/>
        </p:nvSpPr>
        <p:spPr>
          <a:xfrm>
            <a:off x="9921240" y="457200"/>
            <a:ext cx="1737360" cy="438912"/>
          </a:xfrm>
          <a:prstGeom prst="rect">
            <a:avLst/>
          </a:prstGeom>
          <a:noFill/>
          <a:ln/>
        </p:spPr>
        <p:txBody>
          <a:bodyPr wrap="square" lIns="0" tIns="0" rIns="0" bIns="0" rtlCol="0" anchor="ctr"/>
          <a:lstStyle/>
          <a:p>
            <a:pPr algn="ctr" indent="0" marL="0">
              <a:buNone/>
            </a:pPr>
            <a:r>
              <a:rPr lang="en-US" sz="1150" b="1" spc="100" kern="0" dirty="0">
                <a:solidFill>
                  <a:schemeClr val="bg1"/>
                </a:solidFill>
              </a:rPr>
              <a:t>CP4 · WORKLOAD</a:t>
            </a:r>
            <a:endParaRPr lang="en-US" sz="1150" dirty="0"/>
          </a:p>
        </p:txBody>
      </p:sp>
      <p:sp>
        <p:nvSpPr>
          <p:cNvPr id="6" name="card"/>
          <p:cNvSpPr/>
          <p:nvPr/>
        </p:nvSpPr>
        <p:spPr>
          <a:xfrm>
            <a:off x="548640" y="1325880"/>
            <a:ext cx="5760720" cy="4892040"/>
          </a:xfrm>
          <a:prstGeom prst="roundRect">
            <a:avLst>
              <a:gd name="adj" fmla="val 2243"/>
            </a:avLst>
          </a:prstGeom>
          <a:solidFill>
            <a:srgbClr val="FFEDD5"/>
          </a:solidFill>
          <a:ln w="12700">
            <a:solidFill>
              <a:srgbClr val="FFEDD5"/>
            </a:solidFill>
            <a:prstDash val="solid"/>
          </a:ln>
        </p:spPr>
      </p:sp>
      <p:sp>
        <p:nvSpPr>
          <p:cNvPr id="7" name="Text 4"/>
          <p:cNvSpPr txBox="1"/>
          <p:nvPr/>
        </p:nvSpPr>
        <p:spPr>
          <a:xfrm>
            <a:off x="777240" y="1463040"/>
            <a:ext cx="5303520" cy="320040"/>
          </a:xfrm>
          <a:prstGeom prst="rect">
            <a:avLst/>
          </a:prstGeom>
          <a:noFill/>
          <a:ln/>
        </p:spPr>
        <p:txBody>
          <a:bodyPr wrap="square" lIns="0" tIns="0" rIns="0" bIns="0" rtlCol="0" anchor="ctr"/>
          <a:lstStyle/>
          <a:p>
            <a:pPr indent="0" marL="0">
              <a:buNone/>
            </a:pPr>
            <a:r>
              <a:rPr lang="en-US" sz="1300" b="1" spc="100" kern="0" dirty="0">
                <a:solidFill>
                  <a:srgbClr val="EA580C"/>
                </a:solidFill>
              </a:rPr>
              <a:t>API under test</a:t>
            </a:r>
            <a:endParaRPr lang="en-US" sz="1300" dirty="0"/>
          </a:p>
        </p:txBody>
      </p:sp>
      <p:sp>
        <p:nvSpPr>
          <p:cNvPr id="8" name="Text 5"/>
          <p:cNvSpPr txBox="1"/>
          <p:nvPr/>
        </p:nvSpPr>
        <p:spPr>
          <a:xfrm>
            <a:off x="777240" y="1828800"/>
            <a:ext cx="5394960" cy="411480"/>
          </a:xfrm>
          <a:prstGeom prst="rect">
            <a:avLst/>
          </a:prstGeom>
          <a:noFill/>
          <a:ln/>
        </p:spPr>
        <p:txBody>
          <a:bodyPr wrap="square" lIns="0" tIns="0" rIns="0" bIns="0" rtlCol="0" anchor="ctr"/>
          <a:lstStyle/>
          <a:p>
            <a:pPr indent="0" marL="0">
              <a:buNone/>
            </a:pPr>
            <a:r>
              <a:rPr lang="en-US" sz="1500" b="1" dirty="0">
                <a:solidFill>
                  <a:schemeClr val="tx1"/>
                </a:solidFill>
                <a:latin typeface="Consolas" pitchFamily="34" charset="0"/>
                <a:ea typeface="Consolas" pitchFamily="34" charset="-122"/>
                <a:cs typeface="Consolas" pitchFamily="34" charset="-120"/>
              </a:rPr>
              <a:t>GET /borrow/check?member_id=1-5&amp;book_id=1-10</a:t>
            </a:r>
            <a:endParaRPr lang="en-US" sz="1500" dirty="0"/>
          </a:p>
        </p:txBody>
      </p:sp>
      <p:sp>
        <p:nvSpPr>
          <p:cNvPr id="9" name="dot"/>
          <p:cNvSpPr/>
          <p:nvPr/>
        </p:nvSpPr>
        <p:spPr>
          <a:xfrm>
            <a:off x="777240" y="2468880"/>
            <a:ext cx="457200" cy="457200"/>
          </a:xfrm>
          <a:prstGeom prst="ellipse">
            <a:avLst/>
          </a:prstGeom>
          <a:solidFill>
            <a:srgbClr val="EA580C"/>
          </a:solidFill>
          <a:ln w="12700">
            <a:solidFill>
              <a:srgbClr val="EA580C"/>
            </a:solidFill>
            <a:prstDash val="solid"/>
          </a:ln>
        </p:spPr>
      </p:sp>
      <p:sp>
        <p:nvSpPr>
          <p:cNvPr id="10" name="Text 7"/>
          <p:cNvSpPr txBox="1"/>
          <p:nvPr/>
        </p:nvSpPr>
        <p:spPr>
          <a:xfrm>
            <a:off x="777240" y="24688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11" name="Text 8"/>
          <p:cNvSpPr txBox="1"/>
          <p:nvPr/>
        </p:nvSpPr>
        <p:spPr>
          <a:xfrm>
            <a:off x="1417320" y="2423160"/>
            <a:ext cx="4754880" cy="320040"/>
          </a:xfrm>
          <a:prstGeom prst="rect">
            <a:avLst/>
          </a:prstGeom>
          <a:noFill/>
          <a:ln/>
        </p:spPr>
        <p:txBody>
          <a:bodyPr wrap="square" lIns="0" tIns="0" rIns="0" bIns="0" rtlCol="0" anchor="ctr"/>
          <a:lstStyle/>
          <a:p>
            <a:pPr indent="0" marL="0">
              <a:buNone/>
            </a:pPr>
            <a:r>
              <a:rPr lang="en-US" sz="1500" b="1" dirty="0">
                <a:solidFill>
                  <a:schemeClr val="tx1"/>
                </a:solidFill>
              </a:rPr>
              <a:t>Crosses services</a:t>
            </a:r>
            <a:endParaRPr lang="en-US" sz="1500" dirty="0"/>
          </a:p>
        </p:txBody>
      </p:sp>
      <p:sp>
        <p:nvSpPr>
          <p:cNvPr id="12" name="Text 9"/>
          <p:cNvSpPr txBox="1"/>
          <p:nvPr/>
        </p:nvSpPr>
        <p:spPr>
          <a:xfrm>
            <a:off x="1417320" y="2743200"/>
            <a:ext cx="4754880" cy="868680"/>
          </a:xfrm>
          <a:prstGeom prst="rect">
            <a:avLst/>
          </a:prstGeom>
          <a:noFill/>
          <a:ln/>
        </p:spPr>
        <p:txBody>
          <a:bodyPr wrap="square" lIns="0" tIns="0" rIns="0" bIns="0" rtlCol="0" anchor="t"/>
          <a:lstStyle/>
          <a:p>
            <a:pPr indent="0" marL="0">
              <a:buNone/>
            </a:pPr>
            <a:r>
              <a:rPr lang="en-US" sz="1250" dirty="0">
                <a:solidFill>
                  <a:schemeClr val="tx2"/>
                </a:solidFill>
              </a:rPr>
              <a:t>Each request: Borrow → Member + Book. Tests containers and the network — the manual's Client → S1 → S2 / S3 path.</a:t>
            </a:r>
            <a:endParaRPr lang="en-US" sz="1250" dirty="0"/>
          </a:p>
        </p:txBody>
      </p:sp>
      <p:sp>
        <p:nvSpPr>
          <p:cNvPr id="13" name="dot"/>
          <p:cNvSpPr/>
          <p:nvPr/>
        </p:nvSpPr>
        <p:spPr>
          <a:xfrm>
            <a:off x="777240" y="3703320"/>
            <a:ext cx="457200" cy="457200"/>
          </a:xfrm>
          <a:prstGeom prst="ellipse">
            <a:avLst/>
          </a:prstGeom>
          <a:solidFill>
            <a:srgbClr val="EA580C"/>
          </a:solidFill>
          <a:ln w="12700">
            <a:solidFill>
              <a:srgbClr val="EA580C"/>
            </a:solidFill>
            <a:prstDash val="solid"/>
          </a:ln>
        </p:spPr>
      </p:sp>
      <p:sp>
        <p:nvSpPr>
          <p:cNvPr id="14" name="Text 11"/>
          <p:cNvSpPr txBox="1"/>
          <p:nvPr/>
        </p:nvSpPr>
        <p:spPr>
          <a:xfrm>
            <a:off x="777240" y="37033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5" name="Text 12"/>
          <p:cNvSpPr txBox="1"/>
          <p:nvPr/>
        </p:nvSpPr>
        <p:spPr>
          <a:xfrm>
            <a:off x="1417320" y="3657600"/>
            <a:ext cx="4754880" cy="320040"/>
          </a:xfrm>
          <a:prstGeom prst="rect">
            <a:avLst/>
          </a:prstGeom>
          <a:noFill/>
          <a:ln/>
        </p:spPr>
        <p:txBody>
          <a:bodyPr wrap="square" lIns="0" tIns="0" rIns="0" bIns="0" rtlCol="0" anchor="ctr"/>
          <a:lstStyle/>
          <a:p>
            <a:pPr indent="0" marL="0">
              <a:buNone/>
            </a:pPr>
            <a:r>
              <a:rPr lang="en-US" sz="1500" b="1" dirty="0">
                <a:solidFill>
                  <a:schemeClr val="tx1"/>
                </a:solidFill>
              </a:rPr>
              <a:t>Read-only</a:t>
            </a:r>
            <a:endParaRPr lang="en-US" sz="1500" dirty="0"/>
          </a:p>
        </p:txBody>
      </p:sp>
      <p:sp>
        <p:nvSpPr>
          <p:cNvPr id="16" name="Text 13"/>
          <p:cNvSpPr txBox="1"/>
          <p:nvPr/>
        </p:nvSpPr>
        <p:spPr>
          <a:xfrm>
            <a:off x="1417320" y="3977640"/>
            <a:ext cx="4754880" cy="868680"/>
          </a:xfrm>
          <a:prstGeom prst="rect">
            <a:avLst/>
          </a:prstGeom>
          <a:noFill/>
          <a:ln/>
        </p:spPr>
        <p:txBody>
          <a:bodyPr wrap="square" lIns="0" tIns="0" rIns="0" bIns="0" rtlCol="0" anchor="t"/>
          <a:lstStyle/>
          <a:p>
            <a:pPr indent="0" marL="0">
              <a:buNone/>
            </a:pPr>
            <a:r>
              <a:rPr lang="en-US" sz="1250" dirty="0">
                <a:solidFill>
                  <a:schemeClr val="tx2"/>
                </a:solidFill>
              </a:rPr>
              <a:t>No data changes, so all five levels run under identical conditions. POST /borrow would borrow all 10 books in the first second, then fail with 409.</a:t>
            </a:r>
            <a:endParaRPr lang="en-US" sz="1250" dirty="0"/>
          </a:p>
        </p:txBody>
      </p:sp>
      <p:sp>
        <p:nvSpPr>
          <p:cNvPr id="17" name="dot"/>
          <p:cNvSpPr/>
          <p:nvPr/>
        </p:nvSpPr>
        <p:spPr>
          <a:xfrm>
            <a:off x="777240" y="4937760"/>
            <a:ext cx="457200" cy="457200"/>
          </a:xfrm>
          <a:prstGeom prst="ellipse">
            <a:avLst/>
          </a:prstGeom>
          <a:solidFill>
            <a:srgbClr val="EA580C"/>
          </a:solidFill>
          <a:ln w="12700">
            <a:solidFill>
              <a:srgbClr val="EA580C"/>
            </a:solidFill>
            <a:prstDash val="solid"/>
          </a:ln>
        </p:spPr>
      </p:sp>
      <p:sp>
        <p:nvSpPr>
          <p:cNvPr id="18" name="Text 15"/>
          <p:cNvSpPr txBox="1"/>
          <p:nvPr/>
        </p:nvSpPr>
        <p:spPr>
          <a:xfrm>
            <a:off x="777240" y="49377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9" name="Text 16"/>
          <p:cNvSpPr txBox="1"/>
          <p:nvPr/>
        </p:nvSpPr>
        <p:spPr>
          <a:xfrm>
            <a:off x="1417320" y="4892040"/>
            <a:ext cx="4754880" cy="320040"/>
          </a:xfrm>
          <a:prstGeom prst="rect">
            <a:avLst/>
          </a:prstGeom>
          <a:noFill/>
          <a:ln/>
        </p:spPr>
        <p:txBody>
          <a:bodyPr wrap="square" lIns="0" tIns="0" rIns="0" bIns="0" rtlCol="0" anchor="ctr"/>
          <a:lstStyle/>
          <a:p>
            <a:pPr indent="0" marL="0">
              <a:buNone/>
            </a:pPr>
            <a:r>
              <a:rPr lang="en-US" sz="1500" b="1" dirty="0">
                <a:solidFill>
                  <a:schemeClr val="tx1"/>
                </a:solidFill>
              </a:rPr>
              <a:t>Real work</a:t>
            </a:r>
            <a:endParaRPr lang="en-US" sz="1500" dirty="0"/>
          </a:p>
        </p:txBody>
      </p:sp>
      <p:sp>
        <p:nvSpPr>
          <p:cNvPr id="20" name="Text 17"/>
          <p:cNvSpPr txBox="1"/>
          <p:nvPr/>
        </p:nvSpPr>
        <p:spPr>
          <a:xfrm>
            <a:off x="1417320" y="5212080"/>
            <a:ext cx="4754880" cy="868680"/>
          </a:xfrm>
          <a:prstGeom prst="rect">
            <a:avLst/>
          </a:prstGeom>
          <a:noFill/>
          <a:ln/>
        </p:spPr>
        <p:txBody>
          <a:bodyPr wrap="square" lIns="0" tIns="0" rIns="0" bIns="0" rtlCol="0" anchor="t"/>
          <a:lstStyle/>
          <a:p>
            <a:pPr indent="0" marL="0">
              <a:buNone/>
            </a:pPr>
            <a:r>
              <a:rPr lang="en-US" sz="1250" dirty="0">
                <a:solidFill>
                  <a:schemeClr val="tx2"/>
                </a:solidFill>
              </a:rPr>
              <a:t>2 outgoing HTTP calls, 2 SQLite reads, JSON parsing per request.</a:t>
            </a:r>
            <a:endParaRPr lang="en-US" sz="12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583680" y="1325880"/>
          <a:ext cx="5074920" cy="914400"/>
        </p:xfrm>
        <a:graphic>
          <a:graphicData uri="http://schemas.openxmlformats.org/drawingml/2006/table">
            <a:tbl>
              <a:tblPr/>
              <a:tblGrid>
                <a:gridCol w="1097280"/>
                <a:gridCol w="2377440"/>
                <a:gridCol w="1600200"/>
              </a:tblGrid>
              <a:tr h="384048">
                <a:tc>
                  <a:txBody>
                    <a:bodyPr/>
                    <a:lstStyle/>
                    <a:p>
                      <a:pPr algn="ctr" indent="0" marL="0">
                        <a:buNone/>
                      </a:pPr>
                      <a:r>
                        <a:rPr lang="en-US" sz="1400" b="1" dirty="0">
                          <a:solidFill>
                            <a:srgbClr val="FFFFFF"/>
                          </a:solidFill>
                          <a:latin typeface="Segoe UI" pitchFamily="34" charset="0"/>
                          <a:ea typeface="Segoe UI" pitchFamily="34" charset="-122"/>
                          <a:cs typeface="Segoe UI" pitchFamily="34" charset="-120"/>
                        </a:rPr>
                        <a:t>Test</a:t>
                      </a:r>
                      <a:endParaRPr lang="en-US" sz="1400" dirty="0">
                        <a:latin typeface="Segoe UI" charset="0"/>
                        <a:ea typeface="Segoe UI" charset="0"/>
                        <a:cs typeface="Segoe UI" charset="0"/>
                      </a:endParaRPr>
                    </a:p>
                  </a:txBody>
                  <a:tcPr marL="63500" marR="635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A580C"/>
                    </a:solidFill>
                  </a:tcPr>
                </a:tc>
                <a:tc>
                  <a:txBody>
                    <a:bodyPr/>
                    <a:lstStyle/>
                    <a:p>
                      <a:pPr algn="ctr" indent="0" marL="0">
                        <a:buNone/>
                      </a:pPr>
                      <a:r>
                        <a:rPr lang="en-US" sz="1400" b="1" dirty="0">
                          <a:solidFill>
                            <a:srgbClr val="FFFFFF"/>
                          </a:solidFill>
                          <a:latin typeface="Segoe UI" pitchFamily="34" charset="0"/>
                          <a:ea typeface="Segoe UI" pitchFamily="34" charset="-122"/>
                          <a:cs typeface="Segoe UI" pitchFamily="34" charset="-120"/>
                        </a:rPr>
                        <a:t>Concurrent requests</a:t>
                      </a:r>
                      <a:endParaRPr lang="en-US" sz="1400" dirty="0">
                        <a:latin typeface="Segoe UI" charset="0"/>
                        <a:ea typeface="Segoe UI" charset="0"/>
                        <a:cs typeface="Segoe UI" charset="0"/>
                      </a:endParaRPr>
                    </a:p>
                  </a:txBody>
                  <a:tcPr marL="63500" marR="635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A580C"/>
                    </a:solidFill>
                  </a:tcPr>
                </a:tc>
                <a:tc>
                  <a:txBody>
                    <a:bodyPr/>
                    <a:lstStyle/>
                    <a:p>
                      <a:pPr algn="ctr" indent="0" marL="0">
                        <a:buNone/>
                      </a:pPr>
                      <a:r>
                        <a:rPr lang="en-US" sz="1400" b="1" dirty="0">
                          <a:solidFill>
                            <a:srgbClr val="FFFFFF"/>
                          </a:solidFill>
                          <a:latin typeface="Segoe UI" pitchFamily="34" charset="0"/>
                          <a:ea typeface="Segoe UI" pitchFamily="34" charset="-122"/>
                          <a:cs typeface="Segoe UI" pitchFamily="34" charset="-120"/>
                        </a:rPr>
                        <a:t>Duration</a:t>
                      </a:r>
                      <a:endParaRPr lang="en-US" sz="1400" dirty="0">
                        <a:latin typeface="Segoe UI" charset="0"/>
                        <a:ea typeface="Segoe UI" charset="0"/>
                        <a:cs typeface="Segoe UI" charset="0"/>
                      </a:endParaRPr>
                    </a:p>
                  </a:txBody>
                  <a:tcPr marL="63500" marR="635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A580C"/>
                    </a:solidFill>
                  </a:tcPr>
                </a:tc>
              </a:tr>
              <a:tr h="384048">
                <a:tc>
                  <a:txBody>
                    <a:bodyPr/>
                    <a:lstStyle/>
                    <a:p>
                      <a:pPr algn="ctr" indent="0" marL="0">
                        <a:buNone/>
                      </a:pPr>
                      <a:r>
                        <a:rPr lang="en-US" sz="1400" dirty="0">
                          <a:solidFill>
                            <a:srgbClr val="0F172A"/>
                          </a:solidFill>
                          <a:latin typeface="Segoe UI" pitchFamily="34" charset="0"/>
                          <a:ea typeface="Segoe UI" pitchFamily="34" charset="-122"/>
                          <a:cs typeface="Segoe UI" pitchFamily="34" charset="-120"/>
                        </a:rPr>
                        <a:t>W1</a:t>
                      </a:r>
                      <a:endParaRPr lang="en-US" sz="1400" dirty="0">
                        <a:latin typeface="Segoe UI" charset="0"/>
                        <a:ea typeface="Segoe UI" charset="0"/>
                        <a:cs typeface="Segoe UI" charset="0"/>
                      </a:endParaRPr>
                    </a:p>
                  </a:txBody>
                  <a:tcPr marL="63500" marR="635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0F172A"/>
                          </a:solidFill>
                          <a:latin typeface="Segoe UI" pitchFamily="34" charset="0"/>
                          <a:ea typeface="Segoe UI" pitchFamily="34" charset="-122"/>
                          <a:cs typeface="Segoe UI" pitchFamily="34" charset="-120"/>
                        </a:rPr>
                        <a:t>1</a:t>
                      </a:r>
                      <a:endParaRPr lang="en-US" sz="1400" dirty="0">
                        <a:latin typeface="Segoe UI" charset="0"/>
                        <a:ea typeface="Segoe UI" charset="0"/>
                        <a:cs typeface="Segoe UI" charset="0"/>
                      </a:endParaRPr>
                    </a:p>
                  </a:txBody>
                  <a:tcPr marL="63500" marR="635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0F172A"/>
                          </a:solidFill>
                          <a:latin typeface="Segoe UI" pitchFamily="34" charset="0"/>
                          <a:ea typeface="Segoe UI" pitchFamily="34" charset="-122"/>
                          <a:cs typeface="Segoe UI" pitchFamily="34" charset="-120"/>
                        </a:rPr>
                        <a:t>60 s</a:t>
                      </a:r>
                      <a:endParaRPr lang="en-US" sz="1400" dirty="0">
                        <a:latin typeface="Segoe UI" charset="0"/>
                        <a:ea typeface="Segoe UI" charset="0"/>
                        <a:cs typeface="Segoe UI" charset="0"/>
                      </a:endParaRPr>
                    </a:p>
                  </a:txBody>
                  <a:tcPr marL="63500" marR="635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84048">
                <a:tc>
                  <a:txBody>
                    <a:bodyPr/>
                    <a:lstStyle/>
                    <a:p>
                      <a:pPr algn="ctr" indent="0" marL="0">
                        <a:buNone/>
                      </a:pPr>
                      <a:r>
                        <a:rPr lang="en-US" sz="1400" dirty="0">
                          <a:solidFill>
                            <a:srgbClr val="0F172A"/>
                          </a:solidFill>
                          <a:latin typeface="Segoe UI" pitchFamily="34" charset="0"/>
                          <a:ea typeface="Segoe UI" pitchFamily="34" charset="-122"/>
                          <a:cs typeface="Segoe UI" pitchFamily="34" charset="-120"/>
                        </a:rPr>
                        <a:t>W2</a:t>
                      </a:r>
                      <a:endParaRPr lang="en-US" sz="1400" dirty="0">
                        <a:latin typeface="Segoe UI" charset="0"/>
                        <a:ea typeface="Segoe UI" charset="0"/>
                        <a:cs typeface="Segoe UI" charset="0"/>
                      </a:endParaRPr>
                    </a:p>
                  </a:txBody>
                  <a:tcPr marL="63500" marR="635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algn="ctr" indent="0" marL="0">
                        <a:buNone/>
                      </a:pPr>
                      <a:r>
                        <a:rPr lang="en-US" sz="1400" dirty="0">
                          <a:solidFill>
                            <a:srgbClr val="0F172A"/>
                          </a:solidFill>
                          <a:latin typeface="Segoe UI" pitchFamily="34" charset="0"/>
                          <a:ea typeface="Segoe UI" pitchFamily="34" charset="-122"/>
                          <a:cs typeface="Segoe UI" pitchFamily="34" charset="-120"/>
                        </a:rPr>
                        <a:t>2</a:t>
                      </a:r>
                      <a:endParaRPr lang="en-US" sz="1400" dirty="0">
                        <a:latin typeface="Segoe UI" charset="0"/>
                        <a:ea typeface="Segoe UI" charset="0"/>
                        <a:cs typeface="Segoe UI" charset="0"/>
                      </a:endParaRPr>
                    </a:p>
                  </a:txBody>
                  <a:tcPr marL="63500" marR="635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algn="ctr" indent="0" marL="0">
                        <a:buNone/>
                      </a:pPr>
                      <a:r>
                        <a:rPr lang="en-US" sz="1400" dirty="0">
                          <a:solidFill>
                            <a:srgbClr val="0F172A"/>
                          </a:solidFill>
                          <a:latin typeface="Segoe UI" pitchFamily="34" charset="0"/>
                          <a:ea typeface="Segoe UI" pitchFamily="34" charset="-122"/>
                          <a:cs typeface="Segoe UI" pitchFamily="34" charset="-120"/>
                        </a:rPr>
                        <a:t>60 s</a:t>
                      </a:r>
                      <a:endParaRPr lang="en-US" sz="1400" dirty="0">
                        <a:latin typeface="Segoe UI" charset="0"/>
                        <a:ea typeface="Segoe UI" charset="0"/>
                        <a:cs typeface="Segoe UI" charset="0"/>
                      </a:endParaRPr>
                    </a:p>
                  </a:txBody>
                  <a:tcPr marL="63500" marR="635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r>
              <a:tr h="384048">
                <a:tc>
                  <a:txBody>
                    <a:bodyPr/>
                    <a:lstStyle/>
                    <a:p>
                      <a:pPr algn="ctr" indent="0" marL="0">
                        <a:buNone/>
                      </a:pPr>
                      <a:r>
                        <a:rPr lang="en-US" sz="1400" dirty="0">
                          <a:solidFill>
                            <a:srgbClr val="0F172A"/>
                          </a:solidFill>
                          <a:latin typeface="Segoe UI" pitchFamily="34" charset="0"/>
                          <a:ea typeface="Segoe UI" pitchFamily="34" charset="-122"/>
                          <a:cs typeface="Segoe UI" pitchFamily="34" charset="-120"/>
                        </a:rPr>
                        <a:t>W3</a:t>
                      </a:r>
                      <a:endParaRPr lang="en-US" sz="1400" dirty="0">
                        <a:latin typeface="Segoe UI" charset="0"/>
                        <a:ea typeface="Segoe UI" charset="0"/>
                        <a:cs typeface="Segoe UI" charset="0"/>
                      </a:endParaRPr>
                    </a:p>
                  </a:txBody>
                  <a:tcPr marL="63500" marR="635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0F172A"/>
                          </a:solidFill>
                          <a:latin typeface="Segoe UI" pitchFamily="34" charset="0"/>
                          <a:ea typeface="Segoe UI" pitchFamily="34" charset="-122"/>
                          <a:cs typeface="Segoe UI" pitchFamily="34" charset="-120"/>
                        </a:rPr>
                        <a:t>4</a:t>
                      </a:r>
                      <a:endParaRPr lang="en-US" sz="1400" dirty="0">
                        <a:latin typeface="Segoe UI" charset="0"/>
                        <a:ea typeface="Segoe UI" charset="0"/>
                        <a:cs typeface="Segoe UI" charset="0"/>
                      </a:endParaRPr>
                    </a:p>
                  </a:txBody>
                  <a:tcPr marL="63500" marR="635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0F172A"/>
                          </a:solidFill>
                          <a:latin typeface="Segoe UI" pitchFamily="34" charset="0"/>
                          <a:ea typeface="Segoe UI" pitchFamily="34" charset="-122"/>
                          <a:cs typeface="Segoe UI" pitchFamily="34" charset="-120"/>
                        </a:rPr>
                        <a:t>60 s</a:t>
                      </a:r>
                      <a:endParaRPr lang="en-US" sz="1400" dirty="0">
                        <a:latin typeface="Segoe UI" charset="0"/>
                        <a:ea typeface="Segoe UI" charset="0"/>
                        <a:cs typeface="Segoe UI" charset="0"/>
                      </a:endParaRPr>
                    </a:p>
                  </a:txBody>
                  <a:tcPr marL="63500" marR="635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84048">
                <a:tc>
                  <a:txBody>
                    <a:bodyPr/>
                    <a:lstStyle/>
                    <a:p>
                      <a:pPr algn="ctr" indent="0" marL="0">
                        <a:buNone/>
                      </a:pPr>
                      <a:r>
                        <a:rPr lang="en-US" sz="1400" dirty="0">
                          <a:solidFill>
                            <a:srgbClr val="0F172A"/>
                          </a:solidFill>
                          <a:latin typeface="Segoe UI" pitchFamily="34" charset="0"/>
                          <a:ea typeface="Segoe UI" pitchFamily="34" charset="-122"/>
                          <a:cs typeface="Segoe UI" pitchFamily="34" charset="-120"/>
                        </a:rPr>
                        <a:t>W4</a:t>
                      </a:r>
                      <a:endParaRPr lang="en-US" sz="1400" dirty="0">
                        <a:latin typeface="Segoe UI" charset="0"/>
                        <a:ea typeface="Segoe UI" charset="0"/>
                        <a:cs typeface="Segoe UI" charset="0"/>
                      </a:endParaRPr>
                    </a:p>
                  </a:txBody>
                  <a:tcPr marL="63500" marR="635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algn="ctr" indent="0" marL="0">
                        <a:buNone/>
                      </a:pPr>
                      <a:r>
                        <a:rPr lang="en-US" sz="1400" dirty="0">
                          <a:solidFill>
                            <a:srgbClr val="0F172A"/>
                          </a:solidFill>
                          <a:latin typeface="Segoe UI" pitchFamily="34" charset="0"/>
                          <a:ea typeface="Segoe UI" pitchFamily="34" charset="-122"/>
                          <a:cs typeface="Segoe UI" pitchFamily="34" charset="-120"/>
                        </a:rPr>
                        <a:t>8</a:t>
                      </a:r>
                      <a:endParaRPr lang="en-US" sz="1400" dirty="0">
                        <a:latin typeface="Segoe UI" charset="0"/>
                        <a:ea typeface="Segoe UI" charset="0"/>
                        <a:cs typeface="Segoe UI" charset="0"/>
                      </a:endParaRPr>
                    </a:p>
                  </a:txBody>
                  <a:tcPr marL="63500" marR="635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algn="ctr" indent="0" marL="0">
                        <a:buNone/>
                      </a:pPr>
                      <a:r>
                        <a:rPr lang="en-US" sz="1400" dirty="0">
                          <a:solidFill>
                            <a:srgbClr val="0F172A"/>
                          </a:solidFill>
                          <a:latin typeface="Segoe UI" pitchFamily="34" charset="0"/>
                          <a:ea typeface="Segoe UI" pitchFamily="34" charset="-122"/>
                          <a:cs typeface="Segoe UI" pitchFamily="34" charset="-120"/>
                        </a:rPr>
                        <a:t>60 s</a:t>
                      </a:r>
                      <a:endParaRPr lang="en-US" sz="1400" dirty="0">
                        <a:latin typeface="Segoe UI" charset="0"/>
                        <a:ea typeface="Segoe UI" charset="0"/>
                        <a:cs typeface="Segoe UI" charset="0"/>
                      </a:endParaRPr>
                    </a:p>
                  </a:txBody>
                  <a:tcPr marL="63500" marR="635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r>
              <a:tr h="384048">
                <a:tc>
                  <a:txBody>
                    <a:bodyPr/>
                    <a:lstStyle/>
                    <a:p>
                      <a:pPr algn="ctr" indent="0" marL="0">
                        <a:buNone/>
                      </a:pPr>
                      <a:r>
                        <a:rPr lang="en-US" sz="1400" dirty="0">
                          <a:solidFill>
                            <a:srgbClr val="0F172A"/>
                          </a:solidFill>
                          <a:latin typeface="Segoe UI" pitchFamily="34" charset="0"/>
                          <a:ea typeface="Segoe UI" pitchFamily="34" charset="-122"/>
                          <a:cs typeface="Segoe UI" pitchFamily="34" charset="-120"/>
                        </a:rPr>
                        <a:t>W5</a:t>
                      </a:r>
                      <a:endParaRPr lang="en-US" sz="1400" dirty="0">
                        <a:latin typeface="Segoe UI" charset="0"/>
                        <a:ea typeface="Segoe UI" charset="0"/>
                        <a:cs typeface="Segoe UI" charset="0"/>
                      </a:endParaRPr>
                    </a:p>
                  </a:txBody>
                  <a:tcPr marL="63500" marR="635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0F172A"/>
                          </a:solidFill>
                          <a:latin typeface="Segoe UI" pitchFamily="34" charset="0"/>
                          <a:ea typeface="Segoe UI" pitchFamily="34" charset="-122"/>
                          <a:cs typeface="Segoe UI" pitchFamily="34" charset="-120"/>
                        </a:rPr>
                        <a:t>16</a:t>
                      </a:r>
                      <a:endParaRPr lang="en-US" sz="1400" dirty="0">
                        <a:latin typeface="Segoe UI" charset="0"/>
                        <a:ea typeface="Segoe UI" charset="0"/>
                        <a:cs typeface="Segoe UI" charset="0"/>
                      </a:endParaRPr>
                    </a:p>
                  </a:txBody>
                  <a:tcPr marL="63500" marR="635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0F172A"/>
                          </a:solidFill>
                          <a:latin typeface="Segoe UI" pitchFamily="34" charset="0"/>
                          <a:ea typeface="Segoe UI" pitchFamily="34" charset="-122"/>
                          <a:cs typeface="Segoe UI" pitchFamily="34" charset="-120"/>
                        </a:rPr>
                        <a:t>60 s</a:t>
                      </a:r>
                      <a:endParaRPr lang="en-US" sz="1400" dirty="0">
                        <a:latin typeface="Segoe UI" charset="0"/>
                        <a:ea typeface="Segoe UI" charset="0"/>
                        <a:cs typeface="Segoe UI" charset="0"/>
                      </a:endParaRPr>
                    </a:p>
                  </a:txBody>
                  <a:tcPr marL="63500" marR="635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22" name="card"/>
          <p:cNvSpPr/>
          <p:nvPr/>
        </p:nvSpPr>
        <p:spPr>
          <a:xfrm>
            <a:off x="6583680" y="3886200"/>
            <a:ext cx="5074920" cy="2331720"/>
          </a:xfrm>
          <a:prstGeom prst="roundRect">
            <a:avLst>
              <a:gd name="adj" fmla="val 4706"/>
            </a:avLst>
          </a:prstGeom>
          <a:solidFill>
            <a:srgbClr val="F1F5F9"/>
          </a:solidFill>
          <a:ln w="12700">
            <a:solidFill>
              <a:srgbClr val="F1F5F9"/>
            </a:solidFill>
            <a:prstDash val="solid"/>
          </a:ln>
        </p:spPr>
      </p:sp>
      <p:sp>
        <p:nvSpPr>
          <p:cNvPr id="23" name="Text 19"/>
          <p:cNvSpPr txBox="1"/>
          <p:nvPr/>
        </p:nvSpPr>
        <p:spPr>
          <a:xfrm>
            <a:off x="6812280" y="4023360"/>
            <a:ext cx="4663440" cy="365760"/>
          </a:xfrm>
          <a:prstGeom prst="rect">
            <a:avLst/>
          </a:prstGeom>
          <a:noFill/>
          <a:ln/>
        </p:spPr>
        <p:txBody>
          <a:bodyPr wrap="square" lIns="0" tIns="0" rIns="0" bIns="0" rtlCol="0" anchor="ctr"/>
          <a:lstStyle/>
          <a:p>
            <a:pPr indent="0" marL="0">
              <a:buNone/>
            </a:pPr>
            <a:r>
              <a:rPr lang="en-US" sz="1600" b="1" dirty="0">
                <a:solidFill>
                  <a:srgbClr val="EA580C"/>
                </a:solidFill>
                <a:latin typeface="Consolas" pitchFamily="34" charset="0"/>
                <a:ea typeface="Consolas" pitchFamily="34" charset="-122"/>
                <a:cs typeface="Consolas" pitchFamily="34" charset="-120"/>
              </a:rPr>
              <a:t>wait_time = constant(0)</a:t>
            </a:r>
            <a:endParaRPr lang="en-US" sz="1600" dirty="0"/>
          </a:p>
        </p:txBody>
      </p:sp>
      <p:sp>
        <p:nvSpPr>
          <p:cNvPr id="24" name="Text 20"/>
          <p:cNvSpPr txBox="1"/>
          <p:nvPr/>
        </p:nvSpPr>
        <p:spPr>
          <a:xfrm>
            <a:off x="6812280" y="4434840"/>
            <a:ext cx="4663440" cy="1645920"/>
          </a:xfrm>
          <a:prstGeom prst="rect">
            <a:avLst/>
          </a:prstGeom>
          <a:noFill/>
          <a:ln/>
        </p:spPr>
        <p:txBody>
          <a:bodyPr wrap="square" lIns="0" tIns="0" rIns="0" bIns="0" rtlCol="0" anchor="ctr"/>
          <a:lstStyle/>
          <a:p>
            <a:pPr indent="0" marL="0">
              <a:buNone/>
            </a:pPr>
            <a:r>
              <a:rPr lang="en-US" sz="1450" dirty="0">
                <a:solidFill>
                  <a:schemeClr val="tx1"/>
                </a:solidFill>
              </a:rPr>
              <a:t>Each Locust user sends its next request the moment the reply arrives, so it always has exactly one request in flight.</a:t>
            </a:r>
            <a:endParaRPr lang="en-US" sz="1450" dirty="0"/>
          </a:p>
          <a:p>
            <a:pPr indent="0" marL="0">
              <a:buNone/>
            </a:pPr>
            <a:r>
              <a:rPr lang="en-US" sz="1450" dirty="0">
                <a:solidFill>
                  <a:schemeClr val="tx1"/>
                </a:solidFill>
              </a:rPr>
              <a:t>Users = concurrent requests. 10 s pause between levels.</a:t>
            </a:r>
            <a:endParaRPr lang="en-US" sz="1450" dirty="0"/>
          </a:p>
        </p:txBody>
      </p:sp>
      <p:sp>
        <p:nvSpPr>
          <p:cNvPr id="25" name="Slide Number Placeholder 0"/>
          <p:cNvSpPr>
            <a:spLocks noGrp="1"/>
          </p:cNvSpPr>
          <p:nvPr>
            <p:ph type="sldNum" sz="quarter" idx="4294967295"/>
          </p:nvPr>
        </p:nvSpPr>
        <p:spPr>
          <a:xfrm>
            <a:off x="1115568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235440" cy="777240"/>
          </a:xfrm>
          <a:prstGeom prst="rect">
            <a:avLst/>
          </a:prstGeom>
          <a:noFill/>
          <a:ln/>
        </p:spPr>
        <p:txBody>
          <a:bodyPr wrap="square" lIns="0" tIns="0" rIns="0" bIns="0" rtlCol="0" anchor="ctr"/>
          <a:lstStyle/>
          <a:p>
            <a:pPr algn="l" indent="0" marL="0">
              <a:buNone/>
            </a:pPr>
            <a:r>
              <a:rPr lang="en-US" sz="2800" b="1" dirty="0">
                <a:solidFill>
                  <a:schemeClr val="tx1"/>
                </a:solidFill>
              </a:rPr>
              <a:t>locustfile.py — what one simulated user does</a:t>
            </a:r>
            <a:endParaRPr lang="en-US" sz="2800" dirty="0"/>
          </a:p>
        </p:txBody>
      </p:sp>
      <p:sp>
        <p:nvSpPr>
          <p:cNvPr id="3" name="cp badge"/>
          <p:cNvSpPr/>
          <p:nvPr/>
        </p:nvSpPr>
        <p:spPr>
          <a:xfrm>
            <a:off x="9921240" y="457200"/>
            <a:ext cx="1737360" cy="438912"/>
          </a:xfrm>
          <a:prstGeom prst="roundRect">
            <a:avLst>
              <a:gd name="adj" fmla="val 50000"/>
            </a:avLst>
          </a:prstGeom>
          <a:solidFill>
            <a:srgbClr val="EA580C"/>
          </a:solidFill>
          <a:ln w="12700">
            <a:solidFill>
              <a:srgbClr val="EA580C"/>
            </a:solidFill>
            <a:prstDash val="solid"/>
          </a:ln>
        </p:spPr>
      </p:sp>
      <p:sp>
        <p:nvSpPr>
          <p:cNvPr id="4" name="Text 2"/>
          <p:cNvSpPr txBox="1"/>
          <p:nvPr/>
        </p:nvSpPr>
        <p:spPr>
          <a:xfrm>
            <a:off x="9921240" y="457200"/>
            <a:ext cx="1737360" cy="438912"/>
          </a:xfrm>
          <a:prstGeom prst="rect">
            <a:avLst/>
          </a:prstGeom>
          <a:noFill/>
          <a:ln/>
        </p:spPr>
        <p:txBody>
          <a:bodyPr wrap="square" lIns="0" tIns="0" rIns="0" bIns="0" rtlCol="0" anchor="ctr"/>
          <a:lstStyle/>
          <a:p>
            <a:pPr algn="ctr" indent="0" marL="0">
              <a:buNone/>
            </a:pPr>
            <a:r>
              <a:rPr lang="en-US" sz="1150" b="1" spc="100" kern="0" dirty="0">
                <a:solidFill>
                  <a:schemeClr val="bg1"/>
                </a:solidFill>
              </a:rPr>
              <a:t>CP4 · WORKLOAD</a:t>
            </a:r>
            <a:endParaRPr lang="en-US" sz="1150" dirty="0"/>
          </a:p>
        </p:txBody>
      </p:sp>
      <p:sp>
        <p:nvSpPr>
          <p:cNvPr id="6" name="code bg"/>
          <p:cNvSpPr/>
          <p:nvPr/>
        </p:nvSpPr>
        <p:spPr>
          <a:xfrm>
            <a:off x="548640" y="1325880"/>
            <a:ext cx="5669280" cy="4206240"/>
          </a:xfrm>
          <a:prstGeom prst="roundRect">
            <a:avLst>
              <a:gd name="adj" fmla="val 2174"/>
            </a:avLst>
          </a:prstGeom>
          <a:solidFill>
            <a:srgbClr val="1E293B"/>
          </a:solidFill>
          <a:ln w="12700">
            <a:solidFill>
              <a:srgbClr val="1E293B"/>
            </a:solidFill>
            <a:prstDash val="solid"/>
          </a:ln>
        </p:spPr>
      </p:sp>
      <p:sp>
        <p:nvSpPr>
          <p:cNvPr id="7" name="Text 4"/>
          <p:cNvSpPr txBox="1"/>
          <p:nvPr/>
        </p:nvSpPr>
        <p:spPr>
          <a:xfrm>
            <a:off x="731520" y="1463040"/>
            <a:ext cx="5303520" cy="3931920"/>
          </a:xfrm>
          <a:prstGeom prst="rect">
            <a:avLst/>
          </a:prstGeom>
          <a:noFill/>
          <a:ln/>
        </p:spPr>
        <p:txBody>
          <a:bodyPr wrap="square" lIns="0" tIns="0" rIns="0" bIns="0" rtlCol="0" anchor="t"/>
          <a:lstStyle/>
          <a:p>
            <a:pPr indent="0" marL="0">
              <a:buNone/>
            </a:pPr>
            <a:r>
              <a:rPr lang="en-US" sz="1450" dirty="0">
                <a:solidFill>
                  <a:srgbClr val="E2E8F0"/>
                </a:solidFill>
                <a:latin typeface="Consolas" pitchFamily="34" charset="0"/>
                <a:ea typeface="Consolas" pitchFamily="34" charset="-122"/>
                <a:cs typeface="Consolas" pitchFamily="34" charset="-120"/>
              </a:rPr>
              <a:t>class LibraryUser(HttpUser):</a:t>
            </a:r>
            <a:endParaRPr lang="en-US" sz="1450" dirty="0"/>
          </a:p>
          <a:p>
            <a:pPr indent="0" marL="0">
              <a:buNone/>
            </a:pPr>
            <a:r>
              <a:rPr lang="en-US" sz="1450" dirty="0">
                <a:solidFill>
                  <a:srgbClr val="E2E8F0"/>
                </a:solidFill>
                <a:latin typeface="Consolas" pitchFamily="34" charset="0"/>
                <a:ea typeface="Consolas" pitchFamily="34" charset="-122"/>
                <a:cs typeface="Consolas" pitchFamily="34" charset="-120"/>
              </a:rPr>
              <a:t>    wait_time = constant(0)</a:t>
            </a:r>
            <a:endParaRPr lang="en-US" sz="1450" dirty="0"/>
          </a:p>
          <a:p>
            <a:pPr indent="0" marL="0">
              <a:buNone/>
            </a:pPr>
            <a:endParaRPr lang="en-US" sz="1450" dirty="0"/>
          </a:p>
          <a:p>
            <a:pPr indent="0" marL="0">
              <a:buNone/>
            </a:pPr>
            <a:r>
              <a:rPr lang="en-US" sz="1450" dirty="0">
                <a:solidFill>
                  <a:srgbClr val="E2E8F0"/>
                </a:solidFill>
                <a:latin typeface="Consolas" pitchFamily="34" charset="0"/>
                <a:ea typeface="Consolas" pitchFamily="34" charset="-122"/>
                <a:cs typeface="Consolas" pitchFamily="34" charset="-120"/>
              </a:rPr>
              <a:t>    @task</a:t>
            </a:r>
            <a:endParaRPr lang="en-US" sz="1450" dirty="0"/>
          </a:p>
          <a:p>
            <a:pPr indent="0" marL="0">
              <a:buNone/>
            </a:pPr>
            <a:r>
              <a:rPr lang="en-US" sz="1450" dirty="0">
                <a:solidFill>
                  <a:srgbClr val="E2E8F0"/>
                </a:solidFill>
                <a:latin typeface="Consolas" pitchFamily="34" charset="0"/>
                <a:ea typeface="Consolas" pitchFamily="34" charset="-122"/>
                <a:cs typeface="Consolas" pitchFamily="34" charset="-120"/>
              </a:rPr>
              <a:t>    def check_borrow(self):</a:t>
            </a:r>
            <a:endParaRPr lang="en-US" sz="1450" dirty="0"/>
          </a:p>
          <a:p>
            <a:pPr indent="0" marL="0">
              <a:buNone/>
            </a:pPr>
            <a:r>
              <a:rPr lang="en-US" sz="1450" dirty="0">
                <a:solidFill>
                  <a:srgbClr val="E2E8F0"/>
                </a:solidFill>
                <a:latin typeface="Consolas" pitchFamily="34" charset="0"/>
                <a:ea typeface="Consolas" pitchFamily="34" charset="-122"/>
                <a:cs typeface="Consolas" pitchFamily="34" charset="-120"/>
              </a:rPr>
              <a:t>        member_id = random.randint(1, 5)</a:t>
            </a:r>
            <a:endParaRPr lang="en-US" sz="1450" dirty="0"/>
          </a:p>
          <a:p>
            <a:pPr indent="0" marL="0">
              <a:buNone/>
            </a:pPr>
            <a:r>
              <a:rPr lang="en-US" sz="1450" dirty="0">
                <a:solidFill>
                  <a:srgbClr val="E2E8F0"/>
                </a:solidFill>
                <a:latin typeface="Consolas" pitchFamily="34" charset="0"/>
                <a:ea typeface="Consolas" pitchFamily="34" charset="-122"/>
                <a:cs typeface="Consolas" pitchFamily="34" charset="-120"/>
              </a:rPr>
              <a:t>        book_id = random.randint(1, 10)</a:t>
            </a:r>
            <a:endParaRPr lang="en-US" sz="1450" dirty="0"/>
          </a:p>
          <a:p>
            <a:pPr indent="0" marL="0">
              <a:buNone/>
            </a:pPr>
            <a:r>
              <a:rPr lang="en-US" sz="1450" dirty="0">
                <a:solidFill>
                  <a:srgbClr val="E2E8F0"/>
                </a:solidFill>
                <a:latin typeface="Consolas" pitchFamily="34" charset="0"/>
                <a:ea typeface="Consolas" pitchFamily="34" charset="-122"/>
                <a:cs typeface="Consolas" pitchFamily="34" charset="-120"/>
              </a:rPr>
              <a:t>        self.client.get(</a:t>
            </a:r>
            <a:endParaRPr lang="en-US" sz="1450" dirty="0"/>
          </a:p>
          <a:p>
            <a:pPr indent="0" marL="0">
              <a:buNone/>
            </a:pPr>
            <a:r>
              <a:rPr lang="en-US" sz="1450" dirty="0">
                <a:solidFill>
                  <a:srgbClr val="E2E8F0"/>
                </a:solidFill>
                <a:latin typeface="Consolas" pitchFamily="34" charset="0"/>
                <a:ea typeface="Consolas" pitchFamily="34" charset="-122"/>
                <a:cs typeface="Consolas" pitchFamily="34" charset="-120"/>
              </a:rPr>
              <a:t>            f"/borrow/check?member_id={member_id}"</a:t>
            </a:r>
            <a:endParaRPr lang="en-US" sz="1450" dirty="0"/>
          </a:p>
          <a:p>
            <a:pPr indent="0" marL="0">
              <a:buNone/>
            </a:pPr>
            <a:r>
              <a:rPr lang="en-US" sz="1450" dirty="0">
                <a:solidFill>
                  <a:srgbClr val="E2E8F0"/>
                </a:solidFill>
                <a:latin typeface="Consolas" pitchFamily="34" charset="0"/>
                <a:ea typeface="Consolas" pitchFamily="34" charset="-122"/>
                <a:cs typeface="Consolas" pitchFamily="34" charset="-120"/>
              </a:rPr>
              <a:t>            f"&amp;book_id={book_id}",</a:t>
            </a:r>
            <a:endParaRPr lang="en-US" sz="1450" dirty="0"/>
          </a:p>
          <a:p>
            <a:pPr indent="0" marL="0">
              <a:buNone/>
            </a:pPr>
            <a:r>
              <a:rPr lang="en-US" sz="1450" dirty="0">
                <a:solidFill>
                  <a:srgbClr val="E2E8F0"/>
                </a:solidFill>
                <a:latin typeface="Consolas" pitchFamily="34" charset="0"/>
                <a:ea typeface="Consolas" pitchFamily="34" charset="-122"/>
                <a:cs typeface="Consolas" pitchFamily="34" charset="-120"/>
              </a:rPr>
              <a:t>            name="/borrow/check")</a:t>
            </a:r>
            <a:endParaRPr lang="en-US" sz="1450" dirty="0"/>
          </a:p>
        </p:txBody>
      </p:sp>
      <p:sp>
        <p:nvSpPr>
          <p:cNvPr id="8" name="card"/>
          <p:cNvSpPr/>
          <p:nvPr/>
        </p:nvSpPr>
        <p:spPr>
          <a:xfrm>
            <a:off x="6446520" y="1325880"/>
            <a:ext cx="5212080" cy="621792"/>
          </a:xfrm>
          <a:prstGeom prst="roundRect">
            <a:avLst>
              <a:gd name="adj" fmla="val 17647"/>
            </a:avLst>
          </a:prstGeom>
          <a:solidFill>
            <a:srgbClr val="F1F5F9"/>
          </a:solidFill>
          <a:ln w="12700">
            <a:solidFill>
              <a:srgbClr val="F1F5F9"/>
            </a:solidFill>
            <a:prstDash val="solid"/>
          </a:ln>
        </p:spPr>
      </p:sp>
      <p:sp>
        <p:nvSpPr>
          <p:cNvPr id="9" name="Text 6"/>
          <p:cNvSpPr txBox="1"/>
          <p:nvPr/>
        </p:nvSpPr>
        <p:spPr>
          <a:xfrm>
            <a:off x="6583680" y="1325880"/>
            <a:ext cx="1417320" cy="621792"/>
          </a:xfrm>
          <a:prstGeom prst="rect">
            <a:avLst/>
          </a:prstGeom>
          <a:noFill/>
          <a:ln/>
        </p:spPr>
        <p:txBody>
          <a:bodyPr wrap="square" lIns="0" tIns="0" rIns="0" bIns="0" rtlCol="0" anchor="ctr"/>
          <a:lstStyle/>
          <a:p>
            <a:pPr indent="0" marL="0">
              <a:buNone/>
            </a:pPr>
            <a:r>
              <a:rPr lang="en-US" sz="1300" b="1" dirty="0">
                <a:solidFill>
                  <a:srgbClr val="7C3AED"/>
                </a:solidFill>
                <a:latin typeface="Consolas" pitchFamily="34" charset="0"/>
                <a:ea typeface="Consolas" pitchFamily="34" charset="-122"/>
                <a:cs typeface="Consolas" pitchFamily="34" charset="-120"/>
              </a:rPr>
              <a:t>HttpUser</a:t>
            </a:r>
            <a:endParaRPr lang="en-US" sz="1300" dirty="0"/>
          </a:p>
        </p:txBody>
      </p:sp>
      <p:sp>
        <p:nvSpPr>
          <p:cNvPr id="10" name="Text 7"/>
          <p:cNvSpPr txBox="1"/>
          <p:nvPr/>
        </p:nvSpPr>
        <p:spPr>
          <a:xfrm>
            <a:off x="8001000" y="1325880"/>
            <a:ext cx="3566160" cy="621792"/>
          </a:xfrm>
          <a:prstGeom prst="rect">
            <a:avLst/>
          </a:prstGeom>
          <a:noFill/>
          <a:ln/>
        </p:spPr>
        <p:txBody>
          <a:bodyPr wrap="square" lIns="0" tIns="0" rIns="0" bIns="0" rtlCol="0" anchor="ctr"/>
          <a:lstStyle/>
          <a:p>
            <a:pPr indent="0" marL="0">
              <a:buNone/>
            </a:pPr>
            <a:r>
              <a:rPr lang="en-US" sz="1250" dirty="0">
                <a:solidFill>
                  <a:schemeClr val="tx1"/>
                </a:solidFill>
              </a:rPr>
              <a:t>One simulated user. Locust starts -u copies of it.</a:t>
            </a:r>
            <a:endParaRPr lang="en-US" sz="1250" dirty="0"/>
          </a:p>
        </p:txBody>
      </p:sp>
      <p:sp>
        <p:nvSpPr>
          <p:cNvPr id="11" name="card"/>
          <p:cNvSpPr/>
          <p:nvPr/>
        </p:nvSpPr>
        <p:spPr>
          <a:xfrm>
            <a:off x="6446520" y="2039112"/>
            <a:ext cx="5212080" cy="621792"/>
          </a:xfrm>
          <a:prstGeom prst="roundRect">
            <a:avLst>
              <a:gd name="adj" fmla="val 17647"/>
            </a:avLst>
          </a:prstGeom>
          <a:solidFill>
            <a:srgbClr val="F1F5F9"/>
          </a:solidFill>
          <a:ln w="12700">
            <a:solidFill>
              <a:srgbClr val="F1F5F9"/>
            </a:solidFill>
            <a:prstDash val="solid"/>
          </a:ln>
        </p:spPr>
      </p:sp>
      <p:sp>
        <p:nvSpPr>
          <p:cNvPr id="12" name="Text 9"/>
          <p:cNvSpPr txBox="1"/>
          <p:nvPr/>
        </p:nvSpPr>
        <p:spPr>
          <a:xfrm>
            <a:off x="6583680" y="2039112"/>
            <a:ext cx="1417320" cy="621792"/>
          </a:xfrm>
          <a:prstGeom prst="rect">
            <a:avLst/>
          </a:prstGeom>
          <a:noFill/>
          <a:ln/>
        </p:spPr>
        <p:txBody>
          <a:bodyPr wrap="square" lIns="0" tIns="0" rIns="0" bIns="0" rtlCol="0" anchor="ctr"/>
          <a:lstStyle/>
          <a:p>
            <a:pPr indent="0" marL="0">
              <a:buNone/>
            </a:pPr>
            <a:r>
              <a:rPr lang="en-US" sz="1300" b="1" dirty="0">
                <a:solidFill>
                  <a:srgbClr val="EA580C"/>
                </a:solidFill>
                <a:latin typeface="Consolas" pitchFamily="34" charset="0"/>
                <a:ea typeface="Consolas" pitchFamily="34" charset="-122"/>
                <a:cs typeface="Consolas" pitchFamily="34" charset="-120"/>
              </a:rPr>
              <a:t>constant(0)</a:t>
            </a:r>
            <a:endParaRPr lang="en-US" sz="1300" dirty="0"/>
          </a:p>
        </p:txBody>
      </p:sp>
      <p:sp>
        <p:nvSpPr>
          <p:cNvPr id="13" name="Text 10"/>
          <p:cNvSpPr txBox="1"/>
          <p:nvPr/>
        </p:nvSpPr>
        <p:spPr>
          <a:xfrm>
            <a:off x="8001000" y="2039112"/>
            <a:ext cx="3566160" cy="621792"/>
          </a:xfrm>
          <a:prstGeom prst="rect">
            <a:avLst/>
          </a:prstGeom>
          <a:noFill/>
          <a:ln/>
        </p:spPr>
        <p:txBody>
          <a:bodyPr wrap="square" lIns="0" tIns="0" rIns="0" bIns="0" rtlCol="0" anchor="ctr"/>
          <a:lstStyle/>
          <a:p>
            <a:pPr indent="0" marL="0">
              <a:buNone/>
            </a:pPr>
            <a:r>
              <a:rPr lang="en-US" sz="1250" dirty="0">
                <a:solidFill>
                  <a:schemeClr val="tx1"/>
                </a:solidFill>
              </a:rPr>
              <a:t>No pause between requests → users = concurrency.</a:t>
            </a:r>
            <a:endParaRPr lang="en-US" sz="1250" dirty="0"/>
          </a:p>
        </p:txBody>
      </p:sp>
      <p:sp>
        <p:nvSpPr>
          <p:cNvPr id="14" name="card"/>
          <p:cNvSpPr/>
          <p:nvPr/>
        </p:nvSpPr>
        <p:spPr>
          <a:xfrm>
            <a:off x="6446520" y="2752344"/>
            <a:ext cx="5212080" cy="621792"/>
          </a:xfrm>
          <a:prstGeom prst="roundRect">
            <a:avLst>
              <a:gd name="adj" fmla="val 17647"/>
            </a:avLst>
          </a:prstGeom>
          <a:solidFill>
            <a:srgbClr val="F1F5F9"/>
          </a:solidFill>
          <a:ln w="12700">
            <a:solidFill>
              <a:srgbClr val="F1F5F9"/>
            </a:solidFill>
            <a:prstDash val="solid"/>
          </a:ln>
        </p:spPr>
      </p:sp>
      <p:sp>
        <p:nvSpPr>
          <p:cNvPr id="15" name="Text 12"/>
          <p:cNvSpPr txBox="1"/>
          <p:nvPr/>
        </p:nvSpPr>
        <p:spPr>
          <a:xfrm>
            <a:off x="6583680" y="2752344"/>
            <a:ext cx="1417320" cy="621792"/>
          </a:xfrm>
          <a:prstGeom prst="rect">
            <a:avLst/>
          </a:prstGeom>
          <a:noFill/>
          <a:ln/>
        </p:spPr>
        <p:txBody>
          <a:bodyPr wrap="square" lIns="0" tIns="0" rIns="0" bIns="0" rtlCol="0" anchor="ctr"/>
          <a:lstStyle/>
          <a:p>
            <a:pPr indent="0" marL="0">
              <a:buNone/>
            </a:pPr>
            <a:r>
              <a:rPr lang="en-US" sz="1300" b="1" dirty="0">
                <a:solidFill>
                  <a:srgbClr val="2563EB"/>
                </a:solidFill>
                <a:latin typeface="Consolas" pitchFamily="34" charset="0"/>
                <a:ea typeface="Consolas" pitchFamily="34" charset="-122"/>
                <a:cs typeface="Consolas" pitchFamily="34" charset="-120"/>
              </a:rPr>
              <a:t>@task</a:t>
            </a:r>
            <a:endParaRPr lang="en-US" sz="1300" dirty="0"/>
          </a:p>
        </p:txBody>
      </p:sp>
      <p:sp>
        <p:nvSpPr>
          <p:cNvPr id="16" name="Text 13"/>
          <p:cNvSpPr txBox="1"/>
          <p:nvPr/>
        </p:nvSpPr>
        <p:spPr>
          <a:xfrm>
            <a:off x="8001000" y="2752344"/>
            <a:ext cx="3566160" cy="621792"/>
          </a:xfrm>
          <a:prstGeom prst="rect">
            <a:avLst/>
          </a:prstGeom>
          <a:noFill/>
          <a:ln/>
        </p:spPr>
        <p:txBody>
          <a:bodyPr wrap="square" lIns="0" tIns="0" rIns="0" bIns="0" rtlCol="0" anchor="ctr"/>
          <a:lstStyle/>
          <a:p>
            <a:pPr indent="0" marL="0">
              <a:buNone/>
            </a:pPr>
            <a:r>
              <a:rPr lang="en-US" sz="1250" dirty="0">
                <a:solidFill>
                  <a:schemeClr val="tx1"/>
                </a:solidFill>
              </a:rPr>
              <a:t>The action each user repeats in a loop.</a:t>
            </a:r>
            <a:endParaRPr lang="en-US" sz="1250" dirty="0"/>
          </a:p>
        </p:txBody>
      </p:sp>
      <p:sp>
        <p:nvSpPr>
          <p:cNvPr id="17" name="card"/>
          <p:cNvSpPr/>
          <p:nvPr/>
        </p:nvSpPr>
        <p:spPr>
          <a:xfrm>
            <a:off x="6446520" y="3465576"/>
            <a:ext cx="5212080" cy="621792"/>
          </a:xfrm>
          <a:prstGeom prst="roundRect">
            <a:avLst>
              <a:gd name="adj" fmla="val 17647"/>
            </a:avLst>
          </a:prstGeom>
          <a:solidFill>
            <a:srgbClr val="F1F5F9"/>
          </a:solidFill>
          <a:ln w="12700">
            <a:solidFill>
              <a:srgbClr val="F1F5F9"/>
            </a:solidFill>
            <a:prstDash val="solid"/>
          </a:ln>
        </p:spPr>
      </p:sp>
      <p:sp>
        <p:nvSpPr>
          <p:cNvPr id="18" name="Text 15"/>
          <p:cNvSpPr txBox="1"/>
          <p:nvPr/>
        </p:nvSpPr>
        <p:spPr>
          <a:xfrm>
            <a:off x="6583680" y="3465576"/>
            <a:ext cx="1417320" cy="621792"/>
          </a:xfrm>
          <a:prstGeom prst="rect">
            <a:avLst/>
          </a:prstGeom>
          <a:noFill/>
          <a:ln/>
        </p:spPr>
        <p:txBody>
          <a:bodyPr wrap="square" lIns="0" tIns="0" rIns="0" bIns="0" rtlCol="0" anchor="ctr"/>
          <a:lstStyle/>
          <a:p>
            <a:pPr indent="0" marL="0">
              <a:buNone/>
            </a:pPr>
            <a:r>
              <a:rPr lang="en-US" sz="1300" b="1" dirty="0">
                <a:solidFill>
                  <a:srgbClr val="16A34A"/>
                </a:solidFill>
                <a:latin typeface="Consolas" pitchFamily="34" charset="0"/>
                <a:ea typeface="Consolas" pitchFamily="34" charset="-122"/>
                <a:cs typeface="Consolas" pitchFamily="34" charset="-120"/>
              </a:rPr>
              <a:t>randint</a:t>
            </a:r>
            <a:endParaRPr lang="en-US" sz="1300" dirty="0"/>
          </a:p>
        </p:txBody>
      </p:sp>
      <p:sp>
        <p:nvSpPr>
          <p:cNvPr id="19" name="Text 16"/>
          <p:cNvSpPr txBox="1"/>
          <p:nvPr/>
        </p:nvSpPr>
        <p:spPr>
          <a:xfrm>
            <a:off x="8001000" y="3465576"/>
            <a:ext cx="3566160" cy="621792"/>
          </a:xfrm>
          <a:prstGeom prst="rect">
            <a:avLst/>
          </a:prstGeom>
          <a:noFill/>
          <a:ln/>
        </p:spPr>
        <p:txBody>
          <a:bodyPr wrap="square" lIns="0" tIns="0" rIns="0" bIns="0" rtlCol="0" anchor="ctr"/>
          <a:lstStyle/>
          <a:p>
            <a:pPr indent="0" marL="0">
              <a:buNone/>
            </a:pPr>
            <a:r>
              <a:rPr lang="en-US" sz="1250" dirty="0">
                <a:solidFill>
                  <a:schemeClr val="tx1"/>
                </a:solidFill>
              </a:rPr>
              <a:t>Random existing member (1–5) and book (1–10), so every reply should be 200.</a:t>
            </a:r>
            <a:endParaRPr lang="en-US" sz="1250" dirty="0"/>
          </a:p>
        </p:txBody>
      </p:sp>
      <p:sp>
        <p:nvSpPr>
          <p:cNvPr id="20" name="card"/>
          <p:cNvSpPr/>
          <p:nvPr/>
        </p:nvSpPr>
        <p:spPr>
          <a:xfrm>
            <a:off x="6446520" y="4178808"/>
            <a:ext cx="5212080" cy="621792"/>
          </a:xfrm>
          <a:prstGeom prst="roundRect">
            <a:avLst>
              <a:gd name="adj" fmla="val 17647"/>
            </a:avLst>
          </a:prstGeom>
          <a:solidFill>
            <a:srgbClr val="F1F5F9"/>
          </a:solidFill>
          <a:ln w="12700">
            <a:solidFill>
              <a:srgbClr val="F1F5F9"/>
            </a:solidFill>
            <a:prstDash val="solid"/>
          </a:ln>
        </p:spPr>
      </p:sp>
      <p:sp>
        <p:nvSpPr>
          <p:cNvPr id="21" name="Text 18"/>
          <p:cNvSpPr txBox="1"/>
          <p:nvPr/>
        </p:nvSpPr>
        <p:spPr>
          <a:xfrm>
            <a:off x="6583680" y="4178808"/>
            <a:ext cx="1417320" cy="621792"/>
          </a:xfrm>
          <a:prstGeom prst="rect">
            <a:avLst/>
          </a:prstGeom>
          <a:noFill/>
          <a:ln/>
        </p:spPr>
        <p:txBody>
          <a:bodyPr wrap="square" lIns="0" tIns="0" rIns="0" bIns="0" rtlCol="0" anchor="ctr"/>
          <a:lstStyle/>
          <a:p>
            <a:pPr indent="0" marL="0">
              <a:buNone/>
            </a:pPr>
            <a:r>
              <a:rPr lang="en-US" sz="1300" b="1" dirty="0">
                <a:solidFill>
                  <a:srgbClr val="0D9488"/>
                </a:solidFill>
                <a:latin typeface="Consolas" pitchFamily="34" charset="0"/>
                <a:ea typeface="Consolas" pitchFamily="34" charset="-122"/>
                <a:cs typeface="Consolas" pitchFamily="34" charset="-120"/>
              </a:rPr>
              <a:t>client.get</a:t>
            </a:r>
            <a:endParaRPr lang="en-US" sz="1300" dirty="0"/>
          </a:p>
        </p:txBody>
      </p:sp>
      <p:sp>
        <p:nvSpPr>
          <p:cNvPr id="22" name="Text 19"/>
          <p:cNvSpPr txBox="1"/>
          <p:nvPr/>
        </p:nvSpPr>
        <p:spPr>
          <a:xfrm>
            <a:off x="8001000" y="4178808"/>
            <a:ext cx="3566160" cy="621792"/>
          </a:xfrm>
          <a:prstGeom prst="rect">
            <a:avLst/>
          </a:prstGeom>
          <a:noFill/>
          <a:ln/>
        </p:spPr>
        <p:txBody>
          <a:bodyPr wrap="square" lIns="0" tIns="0" rIns="0" bIns="0" rtlCol="0" anchor="ctr"/>
          <a:lstStyle/>
          <a:p>
            <a:pPr indent="0" marL="0">
              <a:buNone/>
            </a:pPr>
            <a:r>
              <a:rPr lang="en-US" sz="1250" dirty="0">
                <a:solidFill>
                  <a:schemeClr val="tx1"/>
                </a:solidFill>
              </a:rPr>
              <a:t>Sends the request and times it until the full reply arrives. Non-2xx or error = failure.</a:t>
            </a:r>
            <a:endParaRPr lang="en-US" sz="1250" dirty="0"/>
          </a:p>
        </p:txBody>
      </p:sp>
      <p:sp>
        <p:nvSpPr>
          <p:cNvPr id="23" name="card"/>
          <p:cNvSpPr/>
          <p:nvPr/>
        </p:nvSpPr>
        <p:spPr>
          <a:xfrm>
            <a:off x="6446520" y="4892040"/>
            <a:ext cx="5212080" cy="621792"/>
          </a:xfrm>
          <a:prstGeom prst="roundRect">
            <a:avLst>
              <a:gd name="adj" fmla="val 17647"/>
            </a:avLst>
          </a:prstGeom>
          <a:solidFill>
            <a:srgbClr val="F1F5F9"/>
          </a:solidFill>
          <a:ln w="12700">
            <a:solidFill>
              <a:srgbClr val="F1F5F9"/>
            </a:solidFill>
            <a:prstDash val="solid"/>
          </a:ln>
        </p:spPr>
      </p:sp>
      <p:sp>
        <p:nvSpPr>
          <p:cNvPr id="24" name="Text 21"/>
          <p:cNvSpPr txBox="1"/>
          <p:nvPr/>
        </p:nvSpPr>
        <p:spPr>
          <a:xfrm>
            <a:off x="6583680" y="4892040"/>
            <a:ext cx="1417320" cy="621792"/>
          </a:xfrm>
          <a:prstGeom prst="rect">
            <a:avLst/>
          </a:prstGeom>
          <a:noFill/>
          <a:ln/>
        </p:spPr>
        <p:txBody>
          <a:bodyPr wrap="square" lIns="0" tIns="0" rIns="0" bIns="0" rtlCol="0" anchor="ctr"/>
          <a:lstStyle/>
          <a:p>
            <a:pPr indent="0" marL="0">
              <a:buNone/>
            </a:pPr>
            <a:r>
              <a:rPr lang="en-US" sz="1300" b="1" dirty="0">
                <a:solidFill>
                  <a:srgbClr val="E11D48"/>
                </a:solidFill>
                <a:latin typeface="Consolas" pitchFamily="34" charset="0"/>
                <a:ea typeface="Consolas" pitchFamily="34" charset="-122"/>
                <a:cs typeface="Consolas" pitchFamily="34" charset="-120"/>
              </a:rPr>
              <a:t>name=</a:t>
            </a:r>
            <a:endParaRPr lang="en-US" sz="1300" dirty="0"/>
          </a:p>
        </p:txBody>
      </p:sp>
      <p:sp>
        <p:nvSpPr>
          <p:cNvPr id="25" name="Text 22"/>
          <p:cNvSpPr txBox="1"/>
          <p:nvPr/>
        </p:nvSpPr>
        <p:spPr>
          <a:xfrm>
            <a:off x="8001000" y="4892040"/>
            <a:ext cx="3566160" cy="621792"/>
          </a:xfrm>
          <a:prstGeom prst="rect">
            <a:avLst/>
          </a:prstGeom>
          <a:noFill/>
          <a:ln/>
        </p:spPr>
        <p:txBody>
          <a:bodyPr wrap="square" lIns="0" tIns="0" rIns="0" bIns="0" rtlCol="0" anchor="ctr"/>
          <a:lstStyle/>
          <a:p>
            <a:pPr indent="0" marL="0">
              <a:buNone/>
            </a:pPr>
            <a:r>
              <a:rPr lang="en-US" sz="1250" dirty="0">
                <a:solidFill>
                  <a:schemeClr val="tx1"/>
                </a:solidFill>
              </a:rPr>
              <a:t>Groups every URL into one statistics row.</a:t>
            </a:r>
            <a:endParaRPr lang="en-US" sz="1250" dirty="0"/>
          </a:p>
        </p:txBody>
      </p:sp>
      <p:sp>
        <p:nvSpPr>
          <p:cNvPr id="26" name="code bg"/>
          <p:cNvSpPr/>
          <p:nvPr/>
        </p:nvSpPr>
        <p:spPr>
          <a:xfrm>
            <a:off x="548640" y="5669280"/>
            <a:ext cx="11109960" cy="548640"/>
          </a:xfrm>
          <a:prstGeom prst="roundRect">
            <a:avLst>
              <a:gd name="adj" fmla="val 16667"/>
            </a:avLst>
          </a:prstGeom>
          <a:solidFill>
            <a:srgbClr val="1E293B"/>
          </a:solidFill>
          <a:ln w="12700">
            <a:solidFill>
              <a:srgbClr val="1E293B"/>
            </a:solidFill>
            <a:prstDash val="solid"/>
          </a:ln>
        </p:spPr>
      </p:sp>
      <p:sp>
        <p:nvSpPr>
          <p:cNvPr id="27" name="Text 24"/>
          <p:cNvSpPr txBox="1"/>
          <p:nvPr/>
        </p:nvSpPr>
        <p:spPr>
          <a:xfrm>
            <a:off x="731520" y="5806440"/>
            <a:ext cx="10744200" cy="274320"/>
          </a:xfrm>
          <a:prstGeom prst="rect">
            <a:avLst/>
          </a:prstGeom>
          <a:noFill/>
          <a:ln/>
        </p:spPr>
        <p:txBody>
          <a:bodyPr wrap="square" lIns="0" tIns="0" rIns="0" bIns="0" rtlCol="0" anchor="t"/>
          <a:lstStyle/>
          <a:p>
            <a:pPr indent="0" marL="0">
              <a:buNone/>
            </a:pPr>
            <a:r>
              <a:rPr lang="en-US" sz="1350" dirty="0">
                <a:solidFill>
                  <a:srgbClr val="E2E8F0"/>
                </a:solidFill>
                <a:latin typeface="Consolas" pitchFamily="34" charset="0"/>
                <a:ea typeface="Consolas" pitchFamily="34" charset="-122"/>
                <a:cs typeface="Consolas" pitchFamily="34" charset="-120"/>
              </a:rPr>
              <a:t>python -m locust -f loadtest\locustfile.py --host http://127.0.0.1:8003</a:t>
            </a:r>
            <a:endParaRPr lang="en-US" sz="1350" dirty="0"/>
          </a:p>
        </p:txBody>
      </p:sp>
      <p:sp>
        <p:nvSpPr>
          <p:cNvPr id="25" name="Slide Number Placeholder 0"/>
          <p:cNvSpPr>
            <a:spLocks noGrp="1"/>
          </p:cNvSpPr>
          <p:nvPr>
            <p:ph type="sldNum" sz="quarter" idx="4294967295"/>
          </p:nvPr>
        </p:nvSpPr>
        <p:spPr>
          <a:xfrm>
            <a:off x="1115568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235440" cy="777240"/>
          </a:xfrm>
          <a:prstGeom prst="rect">
            <a:avLst/>
          </a:prstGeom>
          <a:noFill/>
          <a:ln/>
        </p:spPr>
        <p:txBody>
          <a:bodyPr wrap="square" lIns="0" tIns="0" rIns="0" bIns="0" rtlCol="0" anchor="ctr"/>
          <a:lstStyle/>
          <a:p>
            <a:pPr algn="l" indent="0" marL="0">
              <a:buNone/>
            </a:pPr>
            <a:r>
              <a:rPr lang="en-US" sz="2800" b="1" dirty="0">
                <a:solidFill>
                  <a:schemeClr val="tx1"/>
                </a:solidFill>
              </a:rPr>
              <a:t>run_workloads.py — 5 levels + monitoring in one run</a:t>
            </a:r>
            <a:endParaRPr lang="en-US" sz="2800" dirty="0"/>
          </a:p>
        </p:txBody>
      </p:sp>
      <p:sp>
        <p:nvSpPr>
          <p:cNvPr id="3" name="cp badge"/>
          <p:cNvSpPr/>
          <p:nvPr/>
        </p:nvSpPr>
        <p:spPr>
          <a:xfrm>
            <a:off x="9921240" y="457200"/>
            <a:ext cx="1737360" cy="438912"/>
          </a:xfrm>
          <a:prstGeom prst="roundRect">
            <a:avLst>
              <a:gd name="adj" fmla="val 50000"/>
            </a:avLst>
          </a:prstGeom>
          <a:solidFill>
            <a:srgbClr val="EA580C"/>
          </a:solidFill>
          <a:ln w="12700">
            <a:solidFill>
              <a:srgbClr val="EA580C"/>
            </a:solidFill>
            <a:prstDash val="solid"/>
          </a:ln>
        </p:spPr>
      </p:sp>
      <p:sp>
        <p:nvSpPr>
          <p:cNvPr id="4" name="Text 2"/>
          <p:cNvSpPr txBox="1"/>
          <p:nvPr/>
        </p:nvSpPr>
        <p:spPr>
          <a:xfrm>
            <a:off x="9921240" y="457200"/>
            <a:ext cx="1737360" cy="438912"/>
          </a:xfrm>
          <a:prstGeom prst="rect">
            <a:avLst/>
          </a:prstGeom>
          <a:noFill/>
          <a:ln/>
        </p:spPr>
        <p:txBody>
          <a:bodyPr wrap="square" lIns="0" tIns="0" rIns="0" bIns="0" rtlCol="0" anchor="ctr"/>
          <a:lstStyle/>
          <a:p>
            <a:pPr algn="ctr" indent="0" marL="0">
              <a:buNone/>
            </a:pPr>
            <a:r>
              <a:rPr lang="en-US" sz="1150" b="1" spc="100" kern="0" dirty="0">
                <a:solidFill>
                  <a:schemeClr val="bg1"/>
                </a:solidFill>
              </a:rPr>
              <a:t>CP4 · WORKLOAD</a:t>
            </a:r>
            <a:endParaRPr lang="en-US" sz="1150" dirty="0"/>
          </a:p>
        </p:txBody>
      </p:sp>
      <p:sp>
        <p:nvSpPr>
          <p:cNvPr id="6" name="Text 3"/>
          <p:cNvSpPr txBox="1"/>
          <p:nvPr/>
        </p:nvSpPr>
        <p:spPr>
          <a:xfrm>
            <a:off x="548640" y="1280160"/>
            <a:ext cx="1828800" cy="274320"/>
          </a:xfrm>
          <a:prstGeom prst="rect">
            <a:avLst/>
          </a:prstGeom>
          <a:noFill/>
          <a:ln/>
        </p:spPr>
        <p:txBody>
          <a:bodyPr wrap="square" lIns="0" tIns="0" rIns="0" bIns="0" rtlCol="0" anchor="ctr"/>
          <a:lstStyle/>
          <a:p>
            <a:pPr indent="0" marL="0">
              <a:buNone/>
            </a:pPr>
            <a:r>
              <a:rPr lang="en-US" sz="1200" b="1" dirty="0">
                <a:solidFill>
                  <a:srgbClr val="EA580C"/>
                </a:solidFill>
              </a:rPr>
              <a:t>Main thread</a:t>
            </a:r>
            <a:endParaRPr lang="en-US" sz="1200" dirty="0"/>
          </a:p>
        </p:txBody>
      </p:sp>
      <p:sp>
        <p:nvSpPr>
          <p:cNvPr id="7" name="card"/>
          <p:cNvSpPr/>
          <p:nvPr/>
        </p:nvSpPr>
        <p:spPr>
          <a:xfrm>
            <a:off x="548640" y="1600200"/>
            <a:ext cx="2514600" cy="1097280"/>
          </a:xfrm>
          <a:prstGeom prst="roundRect">
            <a:avLst>
              <a:gd name="adj" fmla="val 10000"/>
            </a:avLst>
          </a:prstGeom>
          <a:solidFill>
            <a:srgbClr val="FFEDD5"/>
          </a:solidFill>
          <a:ln w="12700">
            <a:solidFill>
              <a:srgbClr val="FFEDD5"/>
            </a:solidFill>
            <a:prstDash val="solid"/>
          </a:ln>
        </p:spPr>
      </p:sp>
      <p:sp>
        <p:nvSpPr>
          <p:cNvPr id="8" name="Text 5"/>
          <p:cNvSpPr txBox="1"/>
          <p:nvPr/>
        </p:nvSpPr>
        <p:spPr>
          <a:xfrm>
            <a:off x="658368" y="1600200"/>
            <a:ext cx="2295144" cy="1097280"/>
          </a:xfrm>
          <a:prstGeom prst="rect">
            <a:avLst/>
          </a:prstGeom>
          <a:noFill/>
          <a:ln/>
        </p:spPr>
        <p:txBody>
          <a:bodyPr wrap="square" lIns="0" tIns="0" rIns="0" bIns="0" rtlCol="0" anchor="ctr"/>
          <a:lstStyle/>
          <a:p>
            <a:pPr indent="0" marL="0">
              <a:buNone/>
            </a:pPr>
            <a:r>
              <a:rPr lang="en-US" sz="1350" b="1" dirty="0">
                <a:solidFill>
                  <a:srgbClr val="EA580C"/>
                </a:solidFill>
              </a:rPr>
              <a:t>for W1 … W5</a:t>
            </a:r>
            <a:endParaRPr lang="en-US" sz="1350" dirty="0"/>
          </a:p>
          <a:p>
            <a:pPr indent="0" marL="0">
              <a:buNone/>
            </a:pPr>
            <a:r>
              <a:rPr lang="en-US" sz="1150" dirty="0">
                <a:solidFill>
                  <a:srgbClr val="334155"/>
                </a:solidFill>
              </a:rPr>
              <a:t>1, 2, 4, 8, 16 users; 10 s cooldown between</a:t>
            </a:r>
            <a:endParaRPr lang="en-US" sz="1350" dirty="0"/>
          </a:p>
        </p:txBody>
      </p:sp>
      <p:sp>
        <p:nvSpPr>
          <p:cNvPr id="9" name="card"/>
          <p:cNvSpPr/>
          <p:nvPr/>
        </p:nvSpPr>
        <p:spPr>
          <a:xfrm>
            <a:off x="3337560" y="1600200"/>
            <a:ext cx="2514600" cy="1097280"/>
          </a:xfrm>
          <a:prstGeom prst="roundRect">
            <a:avLst>
              <a:gd name="adj" fmla="val 10000"/>
            </a:avLst>
          </a:prstGeom>
          <a:solidFill>
            <a:srgbClr val="FFEDD5"/>
          </a:solidFill>
          <a:ln w="12700">
            <a:solidFill>
              <a:srgbClr val="FFEDD5"/>
            </a:solidFill>
            <a:prstDash val="solid"/>
          </a:ln>
        </p:spPr>
      </p:sp>
      <p:sp>
        <p:nvSpPr>
          <p:cNvPr id="10" name="Text 7"/>
          <p:cNvSpPr txBox="1"/>
          <p:nvPr/>
        </p:nvSpPr>
        <p:spPr>
          <a:xfrm>
            <a:off x="3447288" y="1600200"/>
            <a:ext cx="2295144" cy="1097280"/>
          </a:xfrm>
          <a:prstGeom prst="rect">
            <a:avLst/>
          </a:prstGeom>
          <a:noFill/>
          <a:ln/>
        </p:spPr>
        <p:txBody>
          <a:bodyPr wrap="square" lIns="0" tIns="0" rIns="0" bIns="0" rtlCol="0" anchor="ctr"/>
          <a:lstStyle/>
          <a:p>
            <a:pPr indent="0" marL="0">
              <a:buNone/>
            </a:pPr>
            <a:r>
              <a:rPr lang="en-US" sz="1350" b="1" dirty="0">
                <a:solidFill>
                  <a:srgbClr val="EA580C"/>
                </a:solidFill>
              </a:rPr>
              <a:t>Locust headless, 60 s</a:t>
            </a:r>
            <a:endParaRPr lang="en-US" sz="1350" dirty="0"/>
          </a:p>
          <a:p>
            <a:pPr indent="0" marL="0">
              <a:buNone/>
            </a:pPr>
            <a:r>
              <a:rPr lang="en-US" sz="1150" dirty="0">
                <a:solidFill>
                  <a:srgbClr val="334155"/>
                </a:solidFill>
              </a:rPr>
              <a:t>writes raw/W3_4u_stats.csv …</a:t>
            </a:r>
            <a:endParaRPr lang="en-US" sz="1350" dirty="0"/>
          </a:p>
        </p:txBody>
      </p:sp>
      <p:sp>
        <p:nvSpPr>
          <p:cNvPr id="11" name="card"/>
          <p:cNvSpPr/>
          <p:nvPr/>
        </p:nvSpPr>
        <p:spPr>
          <a:xfrm>
            <a:off x="6126480" y="1600200"/>
            <a:ext cx="2514600" cy="1097280"/>
          </a:xfrm>
          <a:prstGeom prst="roundRect">
            <a:avLst>
              <a:gd name="adj" fmla="val 10000"/>
            </a:avLst>
          </a:prstGeom>
          <a:solidFill>
            <a:srgbClr val="FFEDD5"/>
          </a:solidFill>
          <a:ln w="12700">
            <a:solidFill>
              <a:srgbClr val="FFEDD5"/>
            </a:solidFill>
            <a:prstDash val="solid"/>
          </a:ln>
        </p:spPr>
      </p:sp>
      <p:sp>
        <p:nvSpPr>
          <p:cNvPr id="12" name="Text 9"/>
          <p:cNvSpPr txBox="1"/>
          <p:nvPr/>
        </p:nvSpPr>
        <p:spPr>
          <a:xfrm>
            <a:off x="6236208" y="1600200"/>
            <a:ext cx="2295144" cy="1097280"/>
          </a:xfrm>
          <a:prstGeom prst="rect">
            <a:avLst/>
          </a:prstGeom>
          <a:noFill/>
          <a:ln/>
        </p:spPr>
        <p:txBody>
          <a:bodyPr wrap="square" lIns="0" tIns="0" rIns="0" bIns="0" rtlCol="0" anchor="ctr"/>
          <a:lstStyle/>
          <a:p>
            <a:pPr indent="0" marL="0">
              <a:buNone/>
            </a:pPr>
            <a:r>
              <a:rPr lang="en-US" sz="1350" b="1" dirty="0">
                <a:solidFill>
                  <a:srgbClr val="EA580C"/>
                </a:solidFill>
              </a:rPr>
              <a:t>Read 'Aggregated' row</a:t>
            </a:r>
            <a:endParaRPr lang="en-US" sz="1350" dirty="0"/>
          </a:p>
          <a:p>
            <a:pPr indent="0" marL="0">
              <a:buNone/>
            </a:pPr>
            <a:r>
              <a:rPr lang="en-US" sz="1150" dirty="0">
                <a:solidFill>
                  <a:srgbClr val="334155"/>
                </a:solidFill>
              </a:rPr>
              <a:t>requests, failures, avg, median, 95 %, max, req/s</a:t>
            </a:r>
            <a:endParaRPr lang="en-US" sz="1350" dirty="0"/>
          </a:p>
        </p:txBody>
      </p:sp>
      <p:sp>
        <p:nvSpPr>
          <p:cNvPr id="13" name="Text 10"/>
          <p:cNvSpPr txBox="1"/>
          <p:nvPr/>
        </p:nvSpPr>
        <p:spPr>
          <a:xfrm>
            <a:off x="548640" y="2926080"/>
            <a:ext cx="2743200" cy="274320"/>
          </a:xfrm>
          <a:prstGeom prst="rect">
            <a:avLst/>
          </a:prstGeom>
          <a:noFill/>
          <a:ln/>
        </p:spPr>
        <p:txBody>
          <a:bodyPr wrap="square" lIns="0" tIns="0" rIns="0" bIns="0" rtlCol="0" anchor="ctr"/>
          <a:lstStyle/>
          <a:p>
            <a:pPr indent="0" marL="0">
              <a:buNone/>
            </a:pPr>
            <a:r>
              <a:rPr lang="en-US" sz="1200" b="1" dirty="0">
                <a:solidFill>
                  <a:srgbClr val="2563EB"/>
                </a:solidFill>
              </a:rPr>
              <a:t>Background thread</a:t>
            </a:r>
            <a:endParaRPr lang="en-US" sz="1200" dirty="0"/>
          </a:p>
        </p:txBody>
      </p:sp>
      <p:sp>
        <p:nvSpPr>
          <p:cNvPr id="14" name="card"/>
          <p:cNvSpPr/>
          <p:nvPr/>
        </p:nvSpPr>
        <p:spPr>
          <a:xfrm>
            <a:off x="548640" y="3246120"/>
            <a:ext cx="2514600" cy="1097280"/>
          </a:xfrm>
          <a:prstGeom prst="roundRect">
            <a:avLst>
              <a:gd name="adj" fmla="val 10000"/>
            </a:avLst>
          </a:prstGeom>
          <a:solidFill>
            <a:srgbClr val="DBEAFE"/>
          </a:solidFill>
          <a:ln w="12700">
            <a:solidFill>
              <a:srgbClr val="DBEAFE"/>
            </a:solidFill>
            <a:prstDash val="solid"/>
          </a:ln>
        </p:spPr>
      </p:sp>
      <p:sp>
        <p:nvSpPr>
          <p:cNvPr id="15" name="Text 12"/>
          <p:cNvSpPr txBox="1"/>
          <p:nvPr/>
        </p:nvSpPr>
        <p:spPr>
          <a:xfrm>
            <a:off x="658368" y="3246120"/>
            <a:ext cx="2295144" cy="1097280"/>
          </a:xfrm>
          <a:prstGeom prst="rect">
            <a:avLst/>
          </a:prstGeom>
          <a:noFill/>
          <a:ln/>
        </p:spPr>
        <p:txBody>
          <a:bodyPr wrap="square" lIns="0" tIns="0" rIns="0" bIns="0" rtlCol="0" anchor="ctr"/>
          <a:lstStyle/>
          <a:p>
            <a:pPr indent="0" marL="0">
              <a:buNone/>
            </a:pPr>
            <a:r>
              <a:rPr lang="en-US" sz="1350" b="1" dirty="0">
                <a:solidFill>
                  <a:srgbClr val="2563EB"/>
                </a:solidFill>
              </a:rPr>
              <a:t>StatsSampler</a:t>
            </a:r>
            <a:endParaRPr lang="en-US" sz="1350" dirty="0"/>
          </a:p>
          <a:p>
            <a:pPr indent="0" marL="0">
              <a:buNone/>
            </a:pPr>
            <a:r>
              <a:rPr lang="en-US" sz="1150" dirty="0">
                <a:solidFill>
                  <a:srgbClr val="334155"/>
                </a:solidFill>
              </a:rPr>
              <a:t>docker stats --no-stream every ~2 s, tagged W1…W5</a:t>
            </a:r>
            <a:endParaRPr lang="en-US" sz="1350" dirty="0"/>
          </a:p>
        </p:txBody>
      </p:sp>
      <p:sp>
        <p:nvSpPr>
          <p:cNvPr id="16" name="card"/>
          <p:cNvSpPr/>
          <p:nvPr/>
        </p:nvSpPr>
        <p:spPr>
          <a:xfrm>
            <a:off x="3337560" y="3246120"/>
            <a:ext cx="2514600" cy="1097280"/>
          </a:xfrm>
          <a:prstGeom prst="roundRect">
            <a:avLst>
              <a:gd name="adj" fmla="val 10000"/>
            </a:avLst>
          </a:prstGeom>
          <a:solidFill>
            <a:srgbClr val="DBEAFE"/>
          </a:solidFill>
          <a:ln w="12700">
            <a:solidFill>
              <a:srgbClr val="DBEAFE"/>
            </a:solidFill>
            <a:prstDash val="solid"/>
          </a:ln>
        </p:spPr>
      </p:sp>
      <p:sp>
        <p:nvSpPr>
          <p:cNvPr id="17" name="Text 14"/>
          <p:cNvSpPr txBox="1"/>
          <p:nvPr/>
        </p:nvSpPr>
        <p:spPr>
          <a:xfrm>
            <a:off x="3447288" y="3246120"/>
            <a:ext cx="2295144" cy="1097280"/>
          </a:xfrm>
          <a:prstGeom prst="rect">
            <a:avLst/>
          </a:prstGeom>
          <a:noFill/>
          <a:ln/>
        </p:spPr>
        <p:txBody>
          <a:bodyPr wrap="square" lIns="0" tIns="0" rIns="0" bIns="0" rtlCol="0" anchor="ctr"/>
          <a:lstStyle/>
          <a:p>
            <a:pPr indent="0" marL="0">
              <a:buNone/>
            </a:pPr>
            <a:r>
              <a:rPr lang="en-US" sz="1350" b="1" dirty="0">
                <a:solidFill>
                  <a:srgbClr val="2563EB"/>
                </a:solidFill>
              </a:rPr>
              <a:t>~30 samples / container / level</a:t>
            </a:r>
            <a:endParaRPr lang="en-US" sz="1350" dirty="0"/>
          </a:p>
          <a:p>
            <a:pPr indent="0" marL="0">
              <a:buNone/>
            </a:pPr>
            <a:r>
              <a:rPr lang="en-US" sz="1150" dirty="0">
                <a:solidFill>
                  <a:srgbClr val="334155"/>
                </a:solidFill>
              </a:rPr>
              <a:t>pause samples discarded</a:t>
            </a:r>
            <a:endParaRPr lang="en-US" sz="1350" dirty="0"/>
          </a:p>
        </p:txBody>
      </p:sp>
      <p:sp>
        <p:nvSpPr>
          <p:cNvPr id="18" name="card"/>
          <p:cNvSpPr/>
          <p:nvPr/>
        </p:nvSpPr>
        <p:spPr>
          <a:xfrm>
            <a:off x="6126480" y="3246120"/>
            <a:ext cx="2514600" cy="1097280"/>
          </a:xfrm>
          <a:prstGeom prst="roundRect">
            <a:avLst>
              <a:gd name="adj" fmla="val 10000"/>
            </a:avLst>
          </a:prstGeom>
          <a:solidFill>
            <a:srgbClr val="DBEAFE"/>
          </a:solidFill>
          <a:ln w="12700">
            <a:solidFill>
              <a:srgbClr val="DBEAFE"/>
            </a:solidFill>
            <a:prstDash val="solid"/>
          </a:ln>
        </p:spPr>
      </p:sp>
      <p:sp>
        <p:nvSpPr>
          <p:cNvPr id="19" name="Text 16"/>
          <p:cNvSpPr txBox="1"/>
          <p:nvPr/>
        </p:nvSpPr>
        <p:spPr>
          <a:xfrm>
            <a:off x="6236208" y="3246120"/>
            <a:ext cx="2295144" cy="1097280"/>
          </a:xfrm>
          <a:prstGeom prst="rect">
            <a:avLst/>
          </a:prstGeom>
          <a:noFill/>
          <a:ln/>
        </p:spPr>
        <p:txBody>
          <a:bodyPr wrap="square" lIns="0" tIns="0" rIns="0" bIns="0" rtlCol="0" anchor="ctr"/>
          <a:lstStyle/>
          <a:p>
            <a:pPr indent="0" marL="0">
              <a:buNone/>
            </a:pPr>
            <a:r>
              <a:rPr lang="en-US" sz="1350" b="1" dirty="0">
                <a:solidFill>
                  <a:srgbClr val="2563EB"/>
                </a:solidFill>
              </a:rPr>
              <a:t>Group by workload + container</a:t>
            </a:r>
            <a:endParaRPr lang="en-US" sz="1350" dirty="0"/>
          </a:p>
          <a:p>
            <a:pPr indent="0" marL="0">
              <a:buNone/>
            </a:pPr>
            <a:r>
              <a:rPr lang="en-US" sz="1150" dirty="0">
                <a:solidFill>
                  <a:srgbClr val="334155"/>
                </a:solidFill>
              </a:rPr>
              <a:t>avg CPU, max CPU, avg MiB</a:t>
            </a:r>
            <a:endParaRPr lang="en-US" sz="1350" dirty="0"/>
          </a:p>
        </p:txBody>
      </p:sp>
      <p:sp>
        <p:nvSpPr>
          <p:cNvPr id="20" name="arrow"/>
          <p:cNvSpPr/>
          <p:nvPr/>
        </p:nvSpPr>
        <p:spPr>
          <a:xfrm>
            <a:off x="3063240" y="2148840"/>
            <a:ext cx="274320" cy="914"/>
          </a:xfrm>
          <a:prstGeom prst="line">
            <a:avLst/>
          </a:prstGeom>
          <a:noFill/>
          <a:ln w="25400">
            <a:solidFill>
              <a:srgbClr val="64748B"/>
            </a:solidFill>
            <a:prstDash val="solid"/>
            <a:tailEnd type="triangle"/>
          </a:ln>
        </p:spPr>
      </p:sp>
      <p:sp>
        <p:nvSpPr>
          <p:cNvPr id="21" name="arrow"/>
          <p:cNvSpPr/>
          <p:nvPr/>
        </p:nvSpPr>
        <p:spPr>
          <a:xfrm>
            <a:off x="5852160" y="2148840"/>
            <a:ext cx="274320" cy="914"/>
          </a:xfrm>
          <a:prstGeom prst="line">
            <a:avLst/>
          </a:prstGeom>
          <a:noFill/>
          <a:ln w="25400">
            <a:solidFill>
              <a:srgbClr val="64748B"/>
            </a:solidFill>
            <a:prstDash val="solid"/>
            <a:tailEnd type="triangle"/>
          </a:ln>
        </p:spPr>
      </p:sp>
      <p:sp>
        <p:nvSpPr>
          <p:cNvPr id="22" name="arrow"/>
          <p:cNvSpPr/>
          <p:nvPr/>
        </p:nvSpPr>
        <p:spPr>
          <a:xfrm>
            <a:off x="3063240" y="3794760"/>
            <a:ext cx="274320" cy="914"/>
          </a:xfrm>
          <a:prstGeom prst="line">
            <a:avLst/>
          </a:prstGeom>
          <a:noFill/>
          <a:ln w="25400">
            <a:solidFill>
              <a:srgbClr val="64748B"/>
            </a:solidFill>
            <a:prstDash val="solid"/>
            <a:tailEnd type="triangle"/>
          </a:ln>
        </p:spPr>
      </p:sp>
      <p:sp>
        <p:nvSpPr>
          <p:cNvPr id="23" name="arrow"/>
          <p:cNvSpPr/>
          <p:nvPr/>
        </p:nvSpPr>
        <p:spPr>
          <a:xfrm>
            <a:off x="5852160" y="3794760"/>
            <a:ext cx="274320" cy="914"/>
          </a:xfrm>
          <a:prstGeom prst="line">
            <a:avLst/>
          </a:prstGeom>
          <a:noFill/>
          <a:ln w="25400">
            <a:solidFill>
              <a:srgbClr val="64748B"/>
            </a:solidFill>
            <a:prstDash val="solid"/>
            <a:tailEnd type="triangle"/>
          </a:ln>
        </p:spPr>
      </p:sp>
      <p:sp>
        <p:nvSpPr>
          <p:cNvPr id="24" name="arrow"/>
          <p:cNvSpPr/>
          <p:nvPr/>
        </p:nvSpPr>
        <p:spPr>
          <a:xfrm>
            <a:off x="8641080" y="2148840"/>
            <a:ext cx="365760" cy="594360"/>
          </a:xfrm>
          <a:prstGeom prst="line">
            <a:avLst/>
          </a:prstGeom>
          <a:noFill/>
          <a:ln w="25400">
            <a:solidFill>
              <a:srgbClr val="64748B"/>
            </a:solidFill>
            <a:prstDash val="solid"/>
            <a:tailEnd type="triangle"/>
          </a:ln>
        </p:spPr>
      </p:sp>
      <p:sp>
        <p:nvSpPr>
          <p:cNvPr id="25" name="arrow"/>
          <p:cNvSpPr/>
          <p:nvPr/>
        </p:nvSpPr>
        <p:spPr>
          <a:xfrm flipV="1">
            <a:off x="8641080" y="3246120"/>
            <a:ext cx="365760" cy="548640"/>
          </a:xfrm>
          <a:prstGeom prst="line">
            <a:avLst/>
          </a:prstGeom>
          <a:noFill/>
          <a:ln w="25400">
            <a:solidFill>
              <a:srgbClr val="64748B"/>
            </a:solidFill>
            <a:prstDash val="solid"/>
            <a:tailEnd type="triangle"/>
          </a:ln>
        </p:spPr>
      </p:sp>
      <p:sp>
        <p:nvSpPr>
          <p:cNvPr id="26" name="card"/>
          <p:cNvSpPr/>
          <p:nvPr/>
        </p:nvSpPr>
        <p:spPr>
          <a:xfrm>
            <a:off x="9006840" y="1600200"/>
            <a:ext cx="2651760" cy="2743200"/>
          </a:xfrm>
          <a:prstGeom prst="roundRect">
            <a:avLst>
              <a:gd name="adj" fmla="val 4138"/>
            </a:avLst>
          </a:prstGeom>
          <a:solidFill>
            <a:srgbClr val="EDE9FE"/>
          </a:solidFill>
          <a:ln w="12700">
            <a:solidFill>
              <a:srgbClr val="EDE9FE"/>
            </a:solidFill>
            <a:prstDash val="solid"/>
          </a:ln>
        </p:spPr>
      </p:sp>
      <p:sp>
        <p:nvSpPr>
          <p:cNvPr id="27" name="Text 24"/>
          <p:cNvSpPr txBox="1"/>
          <p:nvPr/>
        </p:nvSpPr>
        <p:spPr>
          <a:xfrm>
            <a:off x="9144000" y="1645920"/>
            <a:ext cx="2423160" cy="2651760"/>
          </a:xfrm>
          <a:prstGeom prst="rect">
            <a:avLst/>
          </a:prstGeom>
          <a:noFill/>
          <a:ln/>
        </p:spPr>
        <p:txBody>
          <a:bodyPr wrap="square" lIns="0" tIns="0" rIns="0" bIns="0" rtlCol="0" anchor="t"/>
          <a:lstStyle/>
          <a:p>
            <a:pPr indent="0" marL="0">
              <a:buNone/>
            </a:pPr>
            <a:r>
              <a:rPr lang="en-US" sz="1400" b="1" dirty="0">
                <a:solidFill>
                  <a:srgbClr val="7C3AED"/>
                </a:solidFill>
              </a:rPr>
              <a:t>Outputs</a:t>
            </a:r>
            <a:endParaRPr lang="en-US" sz="1200" dirty="0"/>
          </a:p>
          <a:p>
            <a:pPr indent="0" marL="0">
              <a:buNone/>
            </a:pPr>
            <a:r>
              <a:rPr lang="en-US" sz="1200" dirty="0">
                <a:solidFill>
                  <a:srgbClr val="0F172A"/>
                </a:solidFill>
                <a:latin typeface="Consolas" pitchFamily="34" charset="0"/>
                <a:ea typeface="Consolas" pitchFamily="34" charset="-122"/>
                <a:cs typeface="Consolas" pitchFamily="34" charset="-120"/>
              </a:rPr>
              <a:t>observation_table.csv</a:t>
            </a:r>
            <a:endParaRPr lang="en-US" sz="1200" dirty="0"/>
          </a:p>
          <a:p>
            <a:pPr indent="0" marL="0">
              <a:buNone/>
            </a:pPr>
            <a:r>
              <a:rPr lang="en-US" sz="1100" dirty="0">
                <a:solidFill>
                  <a:srgbClr val="334155"/>
                </a:solidFill>
              </a:rPr>
              <a:t>one row per level; CPU &amp; memory = sum of 4 containers</a:t>
            </a:r>
            <a:endParaRPr lang="en-US" sz="1200" dirty="0"/>
          </a:p>
          <a:p>
            <a:pPr indent="0" marL="0">
              <a:buNone/>
            </a:pPr>
            <a:r>
              <a:rPr lang="en-US" sz="1200" dirty="0">
                <a:solidFill>
                  <a:srgbClr val="0F172A"/>
                </a:solidFill>
                <a:latin typeface="Consolas" pitchFamily="34" charset="0"/>
                <a:ea typeface="Consolas" pitchFamily="34" charset="-122"/>
                <a:cs typeface="Consolas" pitchFamily="34" charset="-120"/>
              </a:rPr>
              <a:t>container_usage.csv</a:t>
            </a:r>
            <a:endParaRPr lang="en-US" sz="1200" dirty="0"/>
          </a:p>
          <a:p>
            <a:pPr indent="0" marL="0">
              <a:buNone/>
            </a:pPr>
            <a:r>
              <a:rPr lang="en-US" sz="1100" dirty="0">
                <a:solidFill>
                  <a:srgbClr val="334155"/>
                </a:solidFill>
              </a:rPr>
              <a:t>per container, per level</a:t>
            </a:r>
            <a:endParaRPr lang="en-US" sz="1200" dirty="0"/>
          </a:p>
          <a:p>
            <a:pPr indent="0" marL="0">
              <a:buNone/>
            </a:pPr>
            <a:r>
              <a:rPr lang="en-US" sz="1200" dirty="0">
                <a:solidFill>
                  <a:srgbClr val="0F172A"/>
                </a:solidFill>
                <a:latin typeface="Consolas" pitchFamily="34" charset="0"/>
                <a:ea typeface="Consolas" pitchFamily="34" charset="-122"/>
                <a:cs typeface="Consolas" pitchFamily="34" charset="-120"/>
              </a:rPr>
              <a:t>raw/</a:t>
            </a:r>
            <a:endParaRPr lang="en-US" sz="1200" dirty="0"/>
          </a:p>
          <a:p>
            <a:pPr indent="0" marL="0">
              <a:buNone/>
            </a:pPr>
            <a:r>
              <a:rPr lang="en-US" sz="1100" dirty="0">
                <a:solidFill>
                  <a:srgbClr val="334155"/>
                </a:solidFill>
              </a:rPr>
              <a:t>Locust CSVs + every sample</a:t>
            </a:r>
            <a:endParaRPr lang="en-US" sz="1200" dirty="0"/>
          </a:p>
        </p:txBody>
      </p:sp>
      <p:sp>
        <p:nvSpPr>
          <p:cNvPr id="28" name="code bg"/>
          <p:cNvSpPr/>
          <p:nvPr/>
        </p:nvSpPr>
        <p:spPr>
          <a:xfrm>
            <a:off x="548640" y="4572000"/>
            <a:ext cx="11109960" cy="685800"/>
          </a:xfrm>
          <a:prstGeom prst="roundRect">
            <a:avLst>
              <a:gd name="adj" fmla="val 13333"/>
            </a:avLst>
          </a:prstGeom>
          <a:solidFill>
            <a:srgbClr val="1E293B"/>
          </a:solidFill>
          <a:ln w="12700">
            <a:solidFill>
              <a:srgbClr val="1E293B"/>
            </a:solidFill>
            <a:prstDash val="solid"/>
          </a:ln>
        </p:spPr>
      </p:sp>
      <p:sp>
        <p:nvSpPr>
          <p:cNvPr id="29" name="Text 26"/>
          <p:cNvSpPr txBox="1"/>
          <p:nvPr/>
        </p:nvSpPr>
        <p:spPr>
          <a:xfrm>
            <a:off x="731520" y="4709160"/>
            <a:ext cx="10744200" cy="411480"/>
          </a:xfrm>
          <a:prstGeom prst="rect">
            <a:avLst/>
          </a:prstGeom>
          <a:noFill/>
          <a:ln/>
        </p:spPr>
        <p:txBody>
          <a:bodyPr wrap="square" lIns="0" tIns="0" rIns="0" bIns="0" rtlCol="0" anchor="t"/>
          <a:lstStyle/>
          <a:p>
            <a:pPr indent="0" marL="0">
              <a:buNone/>
            </a:pPr>
            <a:r>
              <a:rPr lang="en-US" sz="1250" dirty="0">
                <a:solidFill>
                  <a:srgbClr val="E2E8F0"/>
                </a:solidFill>
                <a:latin typeface="Consolas" pitchFamily="34" charset="0"/>
                <a:ea typeface="Consolas" pitchFamily="34" charset="-122"/>
                <a:cs typeface="Consolas" pitchFamily="34" charset="-120"/>
              </a:rPr>
              <a:t>python -m locust -f loadtest\locustfile.py --headless -u 4 -r 4 -t 60s --host http://127.0.0.1:8003 --csv results\raw\W3_4u --only-summary --stop-timeout 5</a:t>
            </a:r>
            <a:endParaRPr lang="en-US" sz="1250" dirty="0"/>
          </a:p>
        </p:txBody>
      </p:sp>
      <p:sp>
        <p:nvSpPr>
          <p:cNvPr id="30" name="card"/>
          <p:cNvSpPr/>
          <p:nvPr/>
        </p:nvSpPr>
        <p:spPr>
          <a:xfrm>
            <a:off x="548640" y="5394960"/>
            <a:ext cx="1508760" cy="822960"/>
          </a:xfrm>
          <a:prstGeom prst="roundRect">
            <a:avLst>
              <a:gd name="adj" fmla="val 13333"/>
            </a:avLst>
          </a:prstGeom>
          <a:solidFill>
            <a:srgbClr val="F1F5F9"/>
          </a:solidFill>
          <a:ln w="12700">
            <a:solidFill>
              <a:srgbClr val="F1F5F9"/>
            </a:solidFill>
            <a:prstDash val="solid"/>
          </a:ln>
        </p:spPr>
      </p:sp>
      <p:sp>
        <p:nvSpPr>
          <p:cNvPr id="31" name="Text 28"/>
          <p:cNvSpPr txBox="1"/>
          <p:nvPr/>
        </p:nvSpPr>
        <p:spPr>
          <a:xfrm>
            <a:off x="594360" y="5394960"/>
            <a:ext cx="1417320" cy="822960"/>
          </a:xfrm>
          <a:prstGeom prst="rect">
            <a:avLst/>
          </a:prstGeom>
          <a:noFill/>
          <a:ln/>
        </p:spPr>
        <p:txBody>
          <a:bodyPr wrap="square" lIns="0" tIns="0" rIns="0" bIns="0" rtlCol="0" anchor="ctr"/>
          <a:lstStyle/>
          <a:p>
            <a:pPr algn="ctr" indent="0" marL="0">
              <a:buNone/>
            </a:pPr>
            <a:r>
              <a:rPr lang="en-US" sz="1150" b="1" dirty="0">
                <a:solidFill>
                  <a:srgbClr val="EA580C"/>
                </a:solidFill>
                <a:latin typeface="Consolas" pitchFamily="34" charset="0"/>
                <a:ea typeface="Consolas" pitchFamily="34" charset="-122"/>
                <a:cs typeface="Consolas" pitchFamily="34" charset="-120"/>
              </a:rPr>
              <a:t>--headless</a:t>
            </a:r>
            <a:endParaRPr lang="en-US" sz="1150" dirty="0"/>
          </a:p>
          <a:p>
            <a:pPr algn="ctr" indent="0" marL="0">
              <a:buNone/>
            </a:pPr>
            <a:r>
              <a:rPr lang="en-US" sz="1100" dirty="0">
                <a:solidFill>
                  <a:srgbClr val="334155"/>
                </a:solidFill>
              </a:rPr>
              <a:t>no web UI</a:t>
            </a:r>
            <a:endParaRPr lang="en-US" sz="1150" dirty="0"/>
          </a:p>
        </p:txBody>
      </p:sp>
      <p:sp>
        <p:nvSpPr>
          <p:cNvPr id="32" name="card"/>
          <p:cNvSpPr/>
          <p:nvPr/>
        </p:nvSpPr>
        <p:spPr>
          <a:xfrm>
            <a:off x="2148840" y="5394960"/>
            <a:ext cx="1508760" cy="822960"/>
          </a:xfrm>
          <a:prstGeom prst="roundRect">
            <a:avLst>
              <a:gd name="adj" fmla="val 13333"/>
            </a:avLst>
          </a:prstGeom>
          <a:solidFill>
            <a:srgbClr val="F1F5F9"/>
          </a:solidFill>
          <a:ln w="12700">
            <a:solidFill>
              <a:srgbClr val="F1F5F9"/>
            </a:solidFill>
            <a:prstDash val="solid"/>
          </a:ln>
        </p:spPr>
      </p:sp>
      <p:sp>
        <p:nvSpPr>
          <p:cNvPr id="33" name="Text 30"/>
          <p:cNvSpPr txBox="1"/>
          <p:nvPr/>
        </p:nvSpPr>
        <p:spPr>
          <a:xfrm>
            <a:off x="2194560" y="5394960"/>
            <a:ext cx="1417320" cy="822960"/>
          </a:xfrm>
          <a:prstGeom prst="rect">
            <a:avLst/>
          </a:prstGeom>
          <a:noFill/>
          <a:ln/>
        </p:spPr>
        <p:txBody>
          <a:bodyPr wrap="square" lIns="0" tIns="0" rIns="0" bIns="0" rtlCol="0" anchor="ctr"/>
          <a:lstStyle/>
          <a:p>
            <a:pPr algn="ctr" indent="0" marL="0">
              <a:buNone/>
            </a:pPr>
            <a:r>
              <a:rPr lang="en-US" sz="1150" b="1" dirty="0">
                <a:solidFill>
                  <a:srgbClr val="EA580C"/>
                </a:solidFill>
                <a:latin typeface="Consolas" pitchFamily="34" charset="0"/>
                <a:ea typeface="Consolas" pitchFamily="34" charset="-122"/>
                <a:cs typeface="Consolas" pitchFamily="34" charset="-120"/>
              </a:rPr>
              <a:t>-u 4</a:t>
            </a:r>
            <a:endParaRPr lang="en-US" sz="1150" dirty="0"/>
          </a:p>
          <a:p>
            <a:pPr algn="ctr" indent="0" marL="0">
              <a:buNone/>
            </a:pPr>
            <a:r>
              <a:rPr lang="en-US" sz="1100" dirty="0">
                <a:solidFill>
                  <a:srgbClr val="334155"/>
                </a:solidFill>
              </a:rPr>
              <a:t>4 users</a:t>
            </a:r>
            <a:endParaRPr lang="en-US" sz="1150" dirty="0"/>
          </a:p>
        </p:txBody>
      </p:sp>
      <p:sp>
        <p:nvSpPr>
          <p:cNvPr id="34" name="card"/>
          <p:cNvSpPr/>
          <p:nvPr/>
        </p:nvSpPr>
        <p:spPr>
          <a:xfrm>
            <a:off x="3749040" y="5394960"/>
            <a:ext cx="1508760" cy="822960"/>
          </a:xfrm>
          <a:prstGeom prst="roundRect">
            <a:avLst>
              <a:gd name="adj" fmla="val 13333"/>
            </a:avLst>
          </a:prstGeom>
          <a:solidFill>
            <a:srgbClr val="F1F5F9"/>
          </a:solidFill>
          <a:ln w="12700">
            <a:solidFill>
              <a:srgbClr val="F1F5F9"/>
            </a:solidFill>
            <a:prstDash val="solid"/>
          </a:ln>
        </p:spPr>
      </p:sp>
      <p:sp>
        <p:nvSpPr>
          <p:cNvPr id="35" name="Text 32"/>
          <p:cNvSpPr txBox="1"/>
          <p:nvPr/>
        </p:nvSpPr>
        <p:spPr>
          <a:xfrm>
            <a:off x="3794760" y="5394960"/>
            <a:ext cx="1417320" cy="822960"/>
          </a:xfrm>
          <a:prstGeom prst="rect">
            <a:avLst/>
          </a:prstGeom>
          <a:noFill/>
          <a:ln/>
        </p:spPr>
        <p:txBody>
          <a:bodyPr wrap="square" lIns="0" tIns="0" rIns="0" bIns="0" rtlCol="0" anchor="ctr"/>
          <a:lstStyle/>
          <a:p>
            <a:pPr algn="ctr" indent="0" marL="0">
              <a:buNone/>
            </a:pPr>
            <a:r>
              <a:rPr lang="en-US" sz="1150" b="1" dirty="0">
                <a:solidFill>
                  <a:srgbClr val="EA580C"/>
                </a:solidFill>
                <a:latin typeface="Consolas" pitchFamily="34" charset="0"/>
                <a:ea typeface="Consolas" pitchFamily="34" charset="-122"/>
                <a:cs typeface="Consolas" pitchFamily="34" charset="-120"/>
              </a:rPr>
              <a:t>-r 4</a:t>
            </a:r>
            <a:endParaRPr lang="en-US" sz="1150" dirty="0"/>
          </a:p>
          <a:p>
            <a:pPr algn="ctr" indent="0" marL="0">
              <a:buNone/>
            </a:pPr>
            <a:r>
              <a:rPr lang="en-US" sz="1100" dirty="0">
                <a:solidFill>
                  <a:srgbClr val="334155"/>
                </a:solidFill>
              </a:rPr>
              <a:t>start 4 users/s</a:t>
            </a:r>
            <a:endParaRPr lang="en-US" sz="1150" dirty="0"/>
          </a:p>
        </p:txBody>
      </p:sp>
      <p:sp>
        <p:nvSpPr>
          <p:cNvPr id="36" name="card"/>
          <p:cNvSpPr/>
          <p:nvPr/>
        </p:nvSpPr>
        <p:spPr>
          <a:xfrm>
            <a:off x="5349240" y="5394960"/>
            <a:ext cx="1508760" cy="822960"/>
          </a:xfrm>
          <a:prstGeom prst="roundRect">
            <a:avLst>
              <a:gd name="adj" fmla="val 13333"/>
            </a:avLst>
          </a:prstGeom>
          <a:solidFill>
            <a:srgbClr val="F1F5F9"/>
          </a:solidFill>
          <a:ln w="12700">
            <a:solidFill>
              <a:srgbClr val="F1F5F9"/>
            </a:solidFill>
            <a:prstDash val="solid"/>
          </a:ln>
        </p:spPr>
      </p:sp>
      <p:sp>
        <p:nvSpPr>
          <p:cNvPr id="37" name="Text 34"/>
          <p:cNvSpPr txBox="1"/>
          <p:nvPr/>
        </p:nvSpPr>
        <p:spPr>
          <a:xfrm>
            <a:off x="5394960" y="5394960"/>
            <a:ext cx="1417320" cy="822960"/>
          </a:xfrm>
          <a:prstGeom prst="rect">
            <a:avLst/>
          </a:prstGeom>
          <a:noFill/>
          <a:ln/>
        </p:spPr>
        <p:txBody>
          <a:bodyPr wrap="square" lIns="0" tIns="0" rIns="0" bIns="0" rtlCol="0" anchor="ctr"/>
          <a:lstStyle/>
          <a:p>
            <a:pPr algn="ctr" indent="0" marL="0">
              <a:buNone/>
            </a:pPr>
            <a:r>
              <a:rPr lang="en-US" sz="1150" b="1" dirty="0">
                <a:solidFill>
                  <a:srgbClr val="EA580C"/>
                </a:solidFill>
                <a:latin typeface="Consolas" pitchFamily="34" charset="0"/>
                <a:ea typeface="Consolas" pitchFamily="34" charset="-122"/>
                <a:cs typeface="Consolas" pitchFamily="34" charset="-120"/>
              </a:rPr>
              <a:t>-t 60s</a:t>
            </a:r>
            <a:endParaRPr lang="en-US" sz="1150" dirty="0"/>
          </a:p>
          <a:p>
            <a:pPr algn="ctr" indent="0" marL="0">
              <a:buNone/>
            </a:pPr>
            <a:r>
              <a:rPr lang="en-US" sz="1100" dirty="0">
                <a:solidFill>
                  <a:srgbClr val="334155"/>
                </a:solidFill>
              </a:rPr>
              <a:t>run 60 s</a:t>
            </a:r>
            <a:endParaRPr lang="en-US" sz="1150" dirty="0"/>
          </a:p>
        </p:txBody>
      </p:sp>
      <p:sp>
        <p:nvSpPr>
          <p:cNvPr id="38" name="card"/>
          <p:cNvSpPr/>
          <p:nvPr/>
        </p:nvSpPr>
        <p:spPr>
          <a:xfrm>
            <a:off x="6949440" y="5394960"/>
            <a:ext cx="1508760" cy="822960"/>
          </a:xfrm>
          <a:prstGeom prst="roundRect">
            <a:avLst>
              <a:gd name="adj" fmla="val 13333"/>
            </a:avLst>
          </a:prstGeom>
          <a:solidFill>
            <a:srgbClr val="F1F5F9"/>
          </a:solidFill>
          <a:ln w="12700">
            <a:solidFill>
              <a:srgbClr val="F1F5F9"/>
            </a:solidFill>
            <a:prstDash val="solid"/>
          </a:ln>
        </p:spPr>
      </p:sp>
      <p:sp>
        <p:nvSpPr>
          <p:cNvPr id="39" name="Text 36"/>
          <p:cNvSpPr txBox="1"/>
          <p:nvPr/>
        </p:nvSpPr>
        <p:spPr>
          <a:xfrm>
            <a:off x="6995160" y="5394960"/>
            <a:ext cx="1417320" cy="822960"/>
          </a:xfrm>
          <a:prstGeom prst="rect">
            <a:avLst/>
          </a:prstGeom>
          <a:noFill/>
          <a:ln/>
        </p:spPr>
        <p:txBody>
          <a:bodyPr wrap="square" lIns="0" tIns="0" rIns="0" bIns="0" rtlCol="0" anchor="ctr"/>
          <a:lstStyle/>
          <a:p>
            <a:pPr algn="ctr" indent="0" marL="0">
              <a:buNone/>
            </a:pPr>
            <a:r>
              <a:rPr lang="en-US" sz="1150" b="1" dirty="0">
                <a:solidFill>
                  <a:srgbClr val="EA580C"/>
                </a:solidFill>
                <a:latin typeface="Consolas" pitchFamily="34" charset="0"/>
                <a:ea typeface="Consolas" pitchFamily="34" charset="-122"/>
                <a:cs typeface="Consolas" pitchFamily="34" charset="-120"/>
              </a:rPr>
              <a:t>--csv</a:t>
            </a:r>
            <a:endParaRPr lang="en-US" sz="1150" dirty="0"/>
          </a:p>
          <a:p>
            <a:pPr algn="ctr" indent="0" marL="0">
              <a:buNone/>
            </a:pPr>
            <a:r>
              <a:rPr lang="en-US" sz="1100" dirty="0">
                <a:solidFill>
                  <a:srgbClr val="334155"/>
                </a:solidFill>
              </a:rPr>
              <a:t>save CSV files</a:t>
            </a:r>
            <a:endParaRPr lang="en-US" sz="1150" dirty="0"/>
          </a:p>
        </p:txBody>
      </p:sp>
      <p:sp>
        <p:nvSpPr>
          <p:cNvPr id="40" name="card"/>
          <p:cNvSpPr/>
          <p:nvPr/>
        </p:nvSpPr>
        <p:spPr>
          <a:xfrm>
            <a:off x="8549640" y="5394960"/>
            <a:ext cx="1508760" cy="822960"/>
          </a:xfrm>
          <a:prstGeom prst="roundRect">
            <a:avLst>
              <a:gd name="adj" fmla="val 13333"/>
            </a:avLst>
          </a:prstGeom>
          <a:solidFill>
            <a:srgbClr val="F1F5F9"/>
          </a:solidFill>
          <a:ln w="12700">
            <a:solidFill>
              <a:srgbClr val="F1F5F9"/>
            </a:solidFill>
            <a:prstDash val="solid"/>
          </a:ln>
        </p:spPr>
      </p:sp>
      <p:sp>
        <p:nvSpPr>
          <p:cNvPr id="41" name="Text 38"/>
          <p:cNvSpPr txBox="1"/>
          <p:nvPr/>
        </p:nvSpPr>
        <p:spPr>
          <a:xfrm>
            <a:off x="8595360" y="5394960"/>
            <a:ext cx="1417320" cy="822960"/>
          </a:xfrm>
          <a:prstGeom prst="rect">
            <a:avLst/>
          </a:prstGeom>
          <a:noFill/>
          <a:ln/>
        </p:spPr>
        <p:txBody>
          <a:bodyPr wrap="square" lIns="0" tIns="0" rIns="0" bIns="0" rtlCol="0" anchor="ctr"/>
          <a:lstStyle/>
          <a:p>
            <a:pPr algn="ctr" indent="0" marL="0">
              <a:buNone/>
            </a:pPr>
            <a:r>
              <a:rPr lang="en-US" sz="1150" b="1" dirty="0">
                <a:solidFill>
                  <a:srgbClr val="EA580C"/>
                </a:solidFill>
                <a:latin typeface="Consolas" pitchFamily="34" charset="0"/>
                <a:ea typeface="Consolas" pitchFamily="34" charset="-122"/>
                <a:cs typeface="Consolas" pitchFamily="34" charset="-120"/>
              </a:rPr>
              <a:t>--only-summary</a:t>
            </a:r>
            <a:endParaRPr lang="en-US" sz="1150" dirty="0"/>
          </a:p>
          <a:p>
            <a:pPr algn="ctr" indent="0" marL="0">
              <a:buNone/>
            </a:pPr>
            <a:r>
              <a:rPr lang="en-US" sz="1100" dirty="0">
                <a:solidFill>
                  <a:srgbClr val="334155"/>
                </a:solidFill>
              </a:rPr>
              <a:t>final table only</a:t>
            </a:r>
            <a:endParaRPr lang="en-US" sz="1150" dirty="0"/>
          </a:p>
        </p:txBody>
      </p:sp>
      <p:sp>
        <p:nvSpPr>
          <p:cNvPr id="42" name="card"/>
          <p:cNvSpPr/>
          <p:nvPr/>
        </p:nvSpPr>
        <p:spPr>
          <a:xfrm>
            <a:off x="10149840" y="5394960"/>
            <a:ext cx="1508760" cy="822960"/>
          </a:xfrm>
          <a:prstGeom prst="roundRect">
            <a:avLst>
              <a:gd name="adj" fmla="val 13333"/>
            </a:avLst>
          </a:prstGeom>
          <a:solidFill>
            <a:srgbClr val="F1F5F9"/>
          </a:solidFill>
          <a:ln w="12700">
            <a:solidFill>
              <a:srgbClr val="F1F5F9"/>
            </a:solidFill>
            <a:prstDash val="solid"/>
          </a:ln>
        </p:spPr>
      </p:sp>
      <p:sp>
        <p:nvSpPr>
          <p:cNvPr id="43" name="Text 40"/>
          <p:cNvSpPr txBox="1"/>
          <p:nvPr/>
        </p:nvSpPr>
        <p:spPr>
          <a:xfrm>
            <a:off x="10195560" y="5394960"/>
            <a:ext cx="1417320" cy="822960"/>
          </a:xfrm>
          <a:prstGeom prst="rect">
            <a:avLst/>
          </a:prstGeom>
          <a:noFill/>
          <a:ln/>
        </p:spPr>
        <p:txBody>
          <a:bodyPr wrap="square" lIns="0" tIns="0" rIns="0" bIns="0" rtlCol="0" anchor="ctr"/>
          <a:lstStyle/>
          <a:p>
            <a:pPr algn="ctr" indent="0" marL="0">
              <a:buNone/>
            </a:pPr>
            <a:r>
              <a:rPr lang="en-US" sz="1150" b="1" dirty="0">
                <a:solidFill>
                  <a:srgbClr val="EA580C"/>
                </a:solidFill>
                <a:latin typeface="Consolas" pitchFamily="34" charset="0"/>
                <a:ea typeface="Consolas" pitchFamily="34" charset="-122"/>
                <a:cs typeface="Consolas" pitchFamily="34" charset="-120"/>
              </a:rPr>
              <a:t>--stop-timeout 5</a:t>
            </a:r>
            <a:endParaRPr lang="en-US" sz="1150" dirty="0"/>
          </a:p>
          <a:p>
            <a:pPr algn="ctr" indent="0" marL="0">
              <a:buNone/>
            </a:pPr>
            <a:r>
              <a:rPr lang="en-US" sz="1100" dirty="0">
                <a:solidFill>
                  <a:srgbClr val="334155"/>
                </a:solidFill>
              </a:rPr>
              <a:t>let in-flight finish</a:t>
            </a:r>
            <a:endParaRPr lang="en-US" sz="1150" dirty="0"/>
          </a:p>
        </p:txBody>
      </p:sp>
      <p:sp>
        <p:nvSpPr>
          <p:cNvPr id="25" name="Slide Number Placeholder 0"/>
          <p:cNvSpPr>
            <a:spLocks noGrp="1"/>
          </p:cNvSpPr>
          <p:nvPr>
            <p:ph type="sldNum" sz="quarter" idx="4294967295"/>
          </p:nvPr>
        </p:nvSpPr>
        <p:spPr>
          <a:xfrm>
            <a:off x="1115568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235440" cy="777240"/>
          </a:xfrm>
          <a:prstGeom prst="rect">
            <a:avLst/>
          </a:prstGeom>
          <a:noFill/>
          <a:ln/>
        </p:spPr>
        <p:txBody>
          <a:bodyPr wrap="square" lIns="0" tIns="0" rIns="0" bIns="0" rtlCol="0" anchor="ctr"/>
          <a:lstStyle/>
          <a:p>
            <a:pPr algn="l" indent="0" marL="0">
              <a:buNone/>
            </a:pPr>
            <a:r>
              <a:rPr lang="en-US" sz="2800" b="1" dirty="0">
                <a:solidFill>
                  <a:schemeClr val="tx1"/>
                </a:solidFill>
              </a:rPr>
              <a:t>Monitoring every container with docker stats</a:t>
            </a:r>
            <a:endParaRPr lang="en-US" sz="2800" dirty="0"/>
          </a:p>
        </p:txBody>
      </p:sp>
      <p:sp>
        <p:nvSpPr>
          <p:cNvPr id="3" name="cp badge"/>
          <p:cNvSpPr/>
          <p:nvPr/>
        </p:nvSpPr>
        <p:spPr>
          <a:xfrm>
            <a:off x="9921240" y="457200"/>
            <a:ext cx="1737360" cy="438912"/>
          </a:xfrm>
          <a:prstGeom prst="roundRect">
            <a:avLst>
              <a:gd name="adj" fmla="val 50000"/>
            </a:avLst>
          </a:prstGeom>
          <a:solidFill>
            <a:srgbClr val="EA580C"/>
          </a:solidFill>
          <a:ln w="12700">
            <a:solidFill>
              <a:srgbClr val="EA580C"/>
            </a:solidFill>
            <a:prstDash val="solid"/>
          </a:ln>
        </p:spPr>
      </p:sp>
      <p:sp>
        <p:nvSpPr>
          <p:cNvPr id="4" name="Text 2"/>
          <p:cNvSpPr txBox="1"/>
          <p:nvPr/>
        </p:nvSpPr>
        <p:spPr>
          <a:xfrm>
            <a:off x="9921240" y="457200"/>
            <a:ext cx="1737360" cy="438912"/>
          </a:xfrm>
          <a:prstGeom prst="rect">
            <a:avLst/>
          </a:prstGeom>
          <a:noFill/>
          <a:ln/>
        </p:spPr>
        <p:txBody>
          <a:bodyPr wrap="square" lIns="0" tIns="0" rIns="0" bIns="0" rtlCol="0" anchor="ctr"/>
          <a:lstStyle/>
          <a:p>
            <a:pPr algn="ctr" indent="0" marL="0">
              <a:buNone/>
            </a:pPr>
            <a:r>
              <a:rPr lang="en-US" sz="1150" b="1" spc="100" kern="0" dirty="0">
                <a:solidFill>
                  <a:schemeClr val="bg1"/>
                </a:solidFill>
              </a:rPr>
              <a:t>CP4 · WORKLOAD</a:t>
            </a:r>
            <a:endParaRPr lang="en-US" sz="1150" dirty="0"/>
          </a:p>
        </p:txBody>
      </p:sp>
      <p:sp>
        <p:nvSpPr>
          <p:cNvPr id="6" name="frame"/>
          <p:cNvSpPr/>
          <p:nvPr/>
        </p:nvSpPr>
        <p:spPr>
          <a:xfrm>
            <a:off x="493776" y="1271016"/>
            <a:ext cx="11219688" cy="2097198"/>
          </a:xfrm>
          <a:prstGeom prst="roundRect">
            <a:avLst>
              <a:gd name="adj" fmla="val 2616"/>
            </a:avLst>
          </a:prstGeom>
          <a:solidFill>
            <a:srgbClr val="FFFFFF"/>
          </a:solidFill>
          <a:ln w="9525">
            <a:solidFill>
              <a:srgbClr val="CBD5E1"/>
            </a:solidFill>
            <a:prstDash val="solid"/>
          </a:ln>
          <a:effectLst>
            <a:outerShdw sx="100000" sy="100000" kx="0" ky="0" algn="bl" rotWithShape="0" blurRad="76200" dist="25400" dir="5400000">
              <a:srgbClr val="000000">
                <a:alpha val="18000"/>
              </a:srgbClr>
            </a:outerShdw>
          </a:effectLst>
        </p:spPr>
      </p:sp>
      <p:pic>
        <p:nvPicPr>
          <p:cNvPr id="7" name="43_docker_stats_during_W5.png" descr="C:/Users/Asus/Desktop/Cloud_computing/PGC/PGC_lab/CC_github/CC_lab_evaluation/screenshots/CP4_Load_testing/43_docker_stats_during_W5.png">    </p:cNvPr>
          <p:cNvPicPr>
            <a:picLocks noChangeAspect="1"/>
          </p:cNvPicPr>
          <p:nvPr/>
        </p:nvPicPr>
        <p:blipFill>
          <a:blip r:embed="rId1"/>
          <a:stretch>
            <a:fillRect/>
          </a:stretch>
        </p:blipFill>
        <p:spPr>
          <a:xfrm>
            <a:off x="548640" y="1325880"/>
            <a:ext cx="11109960" cy="1987470"/>
          </a:xfrm>
          <a:prstGeom prst="rect">
            <a:avLst/>
          </a:prstGeom>
        </p:spPr>
      </p:pic>
      <p:sp>
        <p:nvSpPr>
          <p:cNvPr id="8" name="Text 4"/>
          <p:cNvSpPr txBox="1"/>
          <p:nvPr/>
        </p:nvSpPr>
        <p:spPr>
          <a:xfrm>
            <a:off x="457200" y="3404790"/>
            <a:ext cx="11292840" cy="292608"/>
          </a:xfrm>
          <a:prstGeom prst="rect">
            <a:avLst/>
          </a:prstGeom>
          <a:noFill/>
          <a:ln/>
        </p:spPr>
        <p:txBody>
          <a:bodyPr wrap="square" lIns="0" tIns="0" rIns="0" bIns="0" rtlCol="0" anchor="ctr"/>
          <a:lstStyle/>
          <a:p>
            <a:pPr algn="ctr" indent="0" marL="0">
              <a:buNone/>
            </a:pPr>
            <a:r>
              <a:rPr lang="en-US" sz="1100" i="1" dirty="0">
                <a:solidFill>
                  <a:schemeClr val="tx2"/>
                </a:solidFill>
              </a:rPr>
              <a:t>docker stats book-service member-service borrow-service notification-service — during W5, 16 users (screenshot 43)</a:t>
            </a:r>
            <a:endParaRPr lang="en-US" sz="1100" dirty="0"/>
          </a:p>
        </p:txBody>
      </p:sp>
      <p:sp>
        <p:nvSpPr>
          <p:cNvPr id="9" name="card"/>
          <p:cNvSpPr/>
          <p:nvPr/>
        </p:nvSpPr>
        <p:spPr>
          <a:xfrm>
            <a:off x="548640" y="3840480"/>
            <a:ext cx="2670048" cy="1005840"/>
          </a:xfrm>
          <a:prstGeom prst="roundRect">
            <a:avLst>
              <a:gd name="adj" fmla="val 10909"/>
            </a:avLst>
          </a:prstGeom>
          <a:solidFill>
            <a:srgbClr val="F1F5F9"/>
          </a:solidFill>
          <a:ln w="12700">
            <a:solidFill>
              <a:srgbClr val="F1F5F9"/>
            </a:solidFill>
            <a:prstDash val="solid"/>
          </a:ln>
        </p:spPr>
      </p:sp>
      <p:sp>
        <p:nvSpPr>
          <p:cNvPr id="10" name="Text 6"/>
          <p:cNvSpPr txBox="1"/>
          <p:nvPr/>
        </p:nvSpPr>
        <p:spPr>
          <a:xfrm>
            <a:off x="685800" y="3840480"/>
            <a:ext cx="2423160" cy="1005840"/>
          </a:xfrm>
          <a:prstGeom prst="rect">
            <a:avLst/>
          </a:prstGeom>
          <a:noFill/>
          <a:ln/>
        </p:spPr>
        <p:txBody>
          <a:bodyPr wrap="square" lIns="0" tIns="0" rIns="0" bIns="0" rtlCol="0" anchor="ctr"/>
          <a:lstStyle/>
          <a:p>
            <a:pPr indent="0" marL="0">
              <a:buNone/>
            </a:pPr>
            <a:r>
              <a:rPr lang="en-US" sz="1400" b="1" dirty="0">
                <a:solidFill>
                  <a:srgbClr val="7C3AED"/>
                </a:solidFill>
                <a:latin typeface="Consolas" pitchFamily="34" charset="0"/>
                <a:ea typeface="Consolas" pitchFamily="34" charset="-122"/>
                <a:cs typeface="Consolas" pitchFamily="34" charset="-120"/>
              </a:rPr>
              <a:t>CPU %</a:t>
            </a:r>
            <a:endParaRPr lang="en-US" sz="1400" dirty="0"/>
          </a:p>
          <a:p>
            <a:pPr indent="0" marL="0">
              <a:buNone/>
            </a:pPr>
            <a:r>
              <a:rPr lang="en-US" sz="1200" dirty="0">
                <a:solidFill>
                  <a:srgbClr val="0F172A"/>
                </a:solidFill>
              </a:rPr>
              <a:t>100 % = one core. Borrow 126.66 % ≈ 1.27 cores</a:t>
            </a:r>
            <a:endParaRPr lang="en-US" sz="1400" dirty="0"/>
          </a:p>
        </p:txBody>
      </p:sp>
      <p:sp>
        <p:nvSpPr>
          <p:cNvPr id="11" name="card"/>
          <p:cNvSpPr/>
          <p:nvPr/>
        </p:nvSpPr>
        <p:spPr>
          <a:xfrm>
            <a:off x="3364992" y="3840480"/>
            <a:ext cx="2670048" cy="1005840"/>
          </a:xfrm>
          <a:prstGeom prst="roundRect">
            <a:avLst>
              <a:gd name="adj" fmla="val 10909"/>
            </a:avLst>
          </a:prstGeom>
          <a:solidFill>
            <a:srgbClr val="F1F5F9"/>
          </a:solidFill>
          <a:ln w="12700">
            <a:solidFill>
              <a:srgbClr val="F1F5F9"/>
            </a:solidFill>
            <a:prstDash val="solid"/>
          </a:ln>
        </p:spPr>
      </p:sp>
      <p:sp>
        <p:nvSpPr>
          <p:cNvPr id="12" name="Text 8"/>
          <p:cNvSpPr txBox="1"/>
          <p:nvPr/>
        </p:nvSpPr>
        <p:spPr>
          <a:xfrm>
            <a:off x="3502152" y="3840480"/>
            <a:ext cx="2423160" cy="1005840"/>
          </a:xfrm>
          <a:prstGeom prst="rect">
            <a:avLst/>
          </a:prstGeom>
          <a:noFill/>
          <a:ln/>
        </p:spPr>
        <p:txBody>
          <a:bodyPr wrap="square" lIns="0" tIns="0" rIns="0" bIns="0" rtlCol="0" anchor="ctr"/>
          <a:lstStyle/>
          <a:p>
            <a:pPr indent="0" marL="0">
              <a:buNone/>
            </a:pPr>
            <a:r>
              <a:rPr lang="en-US" sz="1400" b="1" dirty="0">
                <a:solidFill>
                  <a:srgbClr val="16A34A"/>
                </a:solidFill>
                <a:latin typeface="Consolas" pitchFamily="34" charset="0"/>
                <a:ea typeface="Consolas" pitchFamily="34" charset="-122"/>
                <a:cs typeface="Consolas" pitchFamily="34" charset="-120"/>
              </a:rPr>
              <a:t>MEM USAGE</a:t>
            </a:r>
            <a:endParaRPr lang="en-US" sz="1400" dirty="0"/>
          </a:p>
          <a:p>
            <a:pPr indent="0" marL="0">
              <a:buNone/>
            </a:pPr>
            <a:r>
              <a:rPr lang="en-US" sz="1200" dirty="0">
                <a:solidFill>
                  <a:srgbClr val="0F172A"/>
                </a:solidFill>
              </a:rPr>
              <a:t>RAM in MiB; limit 7.664 GiB (no limit set)</a:t>
            </a:r>
            <a:endParaRPr lang="en-US" sz="1400" dirty="0"/>
          </a:p>
        </p:txBody>
      </p:sp>
      <p:sp>
        <p:nvSpPr>
          <p:cNvPr id="13" name="card"/>
          <p:cNvSpPr/>
          <p:nvPr/>
        </p:nvSpPr>
        <p:spPr>
          <a:xfrm>
            <a:off x="6181344" y="3840480"/>
            <a:ext cx="2670048" cy="1005840"/>
          </a:xfrm>
          <a:prstGeom prst="roundRect">
            <a:avLst>
              <a:gd name="adj" fmla="val 10909"/>
            </a:avLst>
          </a:prstGeom>
          <a:solidFill>
            <a:srgbClr val="F1F5F9"/>
          </a:solidFill>
          <a:ln w="12700">
            <a:solidFill>
              <a:srgbClr val="F1F5F9"/>
            </a:solidFill>
            <a:prstDash val="solid"/>
          </a:ln>
        </p:spPr>
      </p:sp>
      <p:sp>
        <p:nvSpPr>
          <p:cNvPr id="14" name="Text 10"/>
          <p:cNvSpPr txBox="1"/>
          <p:nvPr/>
        </p:nvSpPr>
        <p:spPr>
          <a:xfrm>
            <a:off x="6318504" y="3840480"/>
            <a:ext cx="2423160" cy="1005840"/>
          </a:xfrm>
          <a:prstGeom prst="rect">
            <a:avLst/>
          </a:prstGeom>
          <a:noFill/>
          <a:ln/>
        </p:spPr>
        <p:txBody>
          <a:bodyPr wrap="square" lIns="0" tIns="0" rIns="0" bIns="0" rtlCol="0" anchor="ctr"/>
          <a:lstStyle/>
          <a:p>
            <a:pPr indent="0" marL="0">
              <a:buNone/>
            </a:pPr>
            <a:r>
              <a:rPr lang="en-US" sz="1400" b="1" dirty="0">
                <a:solidFill>
                  <a:srgbClr val="2563EB"/>
                </a:solidFill>
                <a:latin typeface="Consolas" pitchFamily="34" charset="0"/>
                <a:ea typeface="Consolas" pitchFamily="34" charset="-122"/>
                <a:cs typeface="Consolas" pitchFamily="34" charset="-120"/>
              </a:rPr>
              <a:t>NET I/O</a:t>
            </a:r>
            <a:endParaRPr lang="en-US" sz="1400" dirty="0"/>
          </a:p>
          <a:p>
            <a:pPr indent="0" marL="0">
              <a:buNone/>
            </a:pPr>
            <a:r>
              <a:rPr lang="en-US" sz="1200" dirty="0">
                <a:solidFill>
                  <a:srgbClr val="0F172A"/>
                </a:solidFill>
              </a:rPr>
              <a:t>Running total in / out since start — not a rate</a:t>
            </a:r>
            <a:endParaRPr lang="en-US" sz="1400" dirty="0"/>
          </a:p>
        </p:txBody>
      </p:sp>
      <p:sp>
        <p:nvSpPr>
          <p:cNvPr id="15" name="card"/>
          <p:cNvSpPr/>
          <p:nvPr/>
        </p:nvSpPr>
        <p:spPr>
          <a:xfrm>
            <a:off x="8997696" y="3840480"/>
            <a:ext cx="2670048" cy="1005840"/>
          </a:xfrm>
          <a:prstGeom prst="roundRect">
            <a:avLst>
              <a:gd name="adj" fmla="val 10909"/>
            </a:avLst>
          </a:prstGeom>
          <a:solidFill>
            <a:srgbClr val="F1F5F9"/>
          </a:solidFill>
          <a:ln w="12700">
            <a:solidFill>
              <a:srgbClr val="F1F5F9"/>
            </a:solidFill>
            <a:prstDash val="solid"/>
          </a:ln>
        </p:spPr>
      </p:sp>
      <p:sp>
        <p:nvSpPr>
          <p:cNvPr id="16" name="Text 12"/>
          <p:cNvSpPr txBox="1"/>
          <p:nvPr/>
        </p:nvSpPr>
        <p:spPr>
          <a:xfrm>
            <a:off x="9134856" y="3840480"/>
            <a:ext cx="2423160" cy="1005840"/>
          </a:xfrm>
          <a:prstGeom prst="rect">
            <a:avLst/>
          </a:prstGeom>
          <a:noFill/>
          <a:ln/>
        </p:spPr>
        <p:txBody>
          <a:bodyPr wrap="square" lIns="0" tIns="0" rIns="0" bIns="0" rtlCol="0" anchor="ctr"/>
          <a:lstStyle/>
          <a:p>
            <a:pPr indent="0" marL="0">
              <a:buNone/>
            </a:pPr>
            <a:r>
              <a:rPr lang="en-US" sz="1400" b="1" dirty="0">
                <a:solidFill>
                  <a:srgbClr val="EA580C"/>
                </a:solidFill>
                <a:latin typeface="Consolas" pitchFamily="34" charset="0"/>
                <a:ea typeface="Consolas" pitchFamily="34" charset="-122"/>
                <a:cs typeface="Consolas" pitchFamily="34" charset="-120"/>
              </a:rPr>
              <a:t>PIDS</a:t>
            </a:r>
            <a:endParaRPr lang="en-US" sz="1400" dirty="0"/>
          </a:p>
          <a:p>
            <a:pPr indent="0" marL="0">
              <a:buNone/>
            </a:pPr>
            <a:r>
              <a:rPr lang="en-US" sz="1200" dirty="0">
                <a:solidFill>
                  <a:srgbClr val="0F172A"/>
                </a:solidFill>
              </a:rPr>
              <a:t>Threads: Borrow 3 (W1) → 17 (W5), Uvicorn thread pool</a:t>
            </a:r>
            <a:endParaRPr lang="en-US" sz="14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4983480"/>
          <a:ext cx="11109960" cy="914400"/>
        </p:xfrm>
        <a:graphic>
          <a:graphicData uri="http://schemas.openxmlformats.org/drawingml/2006/table">
            <a:tbl>
              <a:tblPr/>
              <a:tblGrid>
                <a:gridCol w="2788920"/>
                <a:gridCol w="1600200"/>
                <a:gridCol w="1600200"/>
                <a:gridCol w="1691640"/>
                <a:gridCol w="1874520"/>
                <a:gridCol w="1554480"/>
              </a:tblGrid>
              <a:tr h="329184">
                <a:tc>
                  <a:txBody>
                    <a:bodyPr/>
                    <a:lstStyle/>
                    <a:p>
                      <a:pPr algn="ctr" indent="0" marL="0">
                        <a:buNone/>
                      </a:pPr>
                      <a:r>
                        <a:rPr lang="en-US" sz="1250" b="1" dirty="0">
                          <a:solidFill>
                            <a:srgbClr val="FFFFFF"/>
                          </a:solidFill>
                          <a:latin typeface="Segoe UI" pitchFamily="34" charset="0"/>
                          <a:ea typeface="Segoe UI" pitchFamily="34" charset="-122"/>
                          <a:cs typeface="Segoe UI" pitchFamily="34" charset="-120"/>
                        </a:rPr>
                        <a:t>Moment</a:t>
                      </a:r>
                      <a:endParaRPr lang="en-US" sz="1250" dirty="0">
                        <a:latin typeface="Segoe UI" charset="0"/>
                        <a:ea typeface="Segoe UI" charset="0"/>
                        <a:cs typeface="Segoe UI" charset="0"/>
                      </a:endParaRPr>
                    </a:p>
                  </a:txBody>
                  <a:tcPr marL="63500" marR="635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172A"/>
                    </a:solidFill>
                  </a:tcPr>
                </a:tc>
                <a:tc>
                  <a:txBody>
                    <a:bodyPr/>
                    <a:lstStyle/>
                    <a:p>
                      <a:pPr algn="ctr" indent="0" marL="0">
                        <a:buNone/>
                      </a:pPr>
                      <a:r>
                        <a:rPr lang="en-US" sz="1250" b="1" dirty="0">
                          <a:solidFill>
                            <a:srgbClr val="FFFFFF"/>
                          </a:solidFill>
                          <a:latin typeface="Segoe UI" pitchFamily="34" charset="0"/>
                          <a:ea typeface="Segoe UI" pitchFamily="34" charset="-122"/>
                          <a:cs typeface="Segoe UI" pitchFamily="34" charset="-120"/>
                        </a:rPr>
                        <a:t>book</a:t>
                      </a:r>
                      <a:endParaRPr lang="en-US" sz="1250" dirty="0">
                        <a:latin typeface="Segoe UI" charset="0"/>
                        <a:ea typeface="Segoe UI" charset="0"/>
                        <a:cs typeface="Segoe UI" charset="0"/>
                      </a:endParaRPr>
                    </a:p>
                  </a:txBody>
                  <a:tcPr marL="63500" marR="635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172A"/>
                    </a:solidFill>
                  </a:tcPr>
                </a:tc>
                <a:tc>
                  <a:txBody>
                    <a:bodyPr/>
                    <a:lstStyle/>
                    <a:p>
                      <a:pPr algn="ctr" indent="0" marL="0">
                        <a:buNone/>
                      </a:pPr>
                      <a:r>
                        <a:rPr lang="en-US" sz="1250" b="1" dirty="0">
                          <a:solidFill>
                            <a:srgbClr val="FFFFFF"/>
                          </a:solidFill>
                          <a:latin typeface="Segoe UI" pitchFamily="34" charset="0"/>
                          <a:ea typeface="Segoe UI" pitchFamily="34" charset="-122"/>
                          <a:cs typeface="Segoe UI" pitchFamily="34" charset="-120"/>
                        </a:rPr>
                        <a:t>member</a:t>
                      </a:r>
                      <a:endParaRPr lang="en-US" sz="1250" dirty="0">
                        <a:latin typeface="Segoe UI" charset="0"/>
                        <a:ea typeface="Segoe UI" charset="0"/>
                        <a:cs typeface="Segoe UI" charset="0"/>
                      </a:endParaRPr>
                    </a:p>
                  </a:txBody>
                  <a:tcPr marL="63500" marR="635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172A"/>
                    </a:solidFill>
                  </a:tcPr>
                </a:tc>
                <a:tc>
                  <a:txBody>
                    <a:bodyPr/>
                    <a:lstStyle/>
                    <a:p>
                      <a:pPr algn="ctr" indent="0" marL="0">
                        <a:buNone/>
                      </a:pPr>
                      <a:r>
                        <a:rPr lang="en-US" sz="1250" b="1" dirty="0">
                          <a:solidFill>
                            <a:srgbClr val="FFFFFF"/>
                          </a:solidFill>
                          <a:latin typeface="Segoe UI" pitchFamily="34" charset="0"/>
                          <a:ea typeface="Segoe UI" pitchFamily="34" charset="-122"/>
                          <a:cs typeface="Segoe UI" pitchFamily="34" charset="-120"/>
                        </a:rPr>
                        <a:t>borrow</a:t>
                      </a:r>
                      <a:endParaRPr lang="en-US" sz="1250" dirty="0">
                        <a:latin typeface="Segoe UI" charset="0"/>
                        <a:ea typeface="Segoe UI" charset="0"/>
                        <a:cs typeface="Segoe UI" charset="0"/>
                      </a:endParaRPr>
                    </a:p>
                  </a:txBody>
                  <a:tcPr marL="63500" marR="635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172A"/>
                    </a:solidFill>
                  </a:tcPr>
                </a:tc>
                <a:tc>
                  <a:txBody>
                    <a:bodyPr/>
                    <a:lstStyle/>
                    <a:p>
                      <a:pPr algn="ctr" indent="0" marL="0">
                        <a:buNone/>
                      </a:pPr>
                      <a:r>
                        <a:rPr lang="en-US" sz="1250" b="1" dirty="0">
                          <a:solidFill>
                            <a:srgbClr val="FFFFFF"/>
                          </a:solidFill>
                          <a:latin typeface="Segoe UI" pitchFamily="34" charset="0"/>
                          <a:ea typeface="Segoe UI" pitchFamily="34" charset="-122"/>
                          <a:cs typeface="Segoe UI" pitchFamily="34" charset="-120"/>
                        </a:rPr>
                        <a:t>notification</a:t>
                      </a:r>
                      <a:endParaRPr lang="en-US" sz="1250" dirty="0">
                        <a:latin typeface="Segoe UI" charset="0"/>
                        <a:ea typeface="Segoe UI" charset="0"/>
                        <a:cs typeface="Segoe UI" charset="0"/>
                      </a:endParaRPr>
                    </a:p>
                  </a:txBody>
                  <a:tcPr marL="63500" marR="635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172A"/>
                    </a:solidFill>
                  </a:tcPr>
                </a:tc>
                <a:tc>
                  <a:txBody>
                    <a:bodyPr/>
                    <a:lstStyle/>
                    <a:p>
                      <a:pPr algn="ctr" indent="0" marL="0">
                        <a:buNone/>
                      </a:pPr>
                      <a:r>
                        <a:rPr lang="en-US" sz="1250" b="1" dirty="0">
                          <a:solidFill>
                            <a:srgbClr val="FFFFFF"/>
                          </a:solidFill>
                          <a:latin typeface="Segoe UI" pitchFamily="34" charset="0"/>
                          <a:ea typeface="Segoe UI" pitchFamily="34" charset="-122"/>
                          <a:cs typeface="Segoe UI" pitchFamily="34" charset="-120"/>
                        </a:rPr>
                        <a:t>Screenshot</a:t>
                      </a:r>
                      <a:endParaRPr lang="en-US" sz="1250" dirty="0">
                        <a:latin typeface="Segoe UI" charset="0"/>
                        <a:ea typeface="Segoe UI" charset="0"/>
                        <a:cs typeface="Segoe UI" charset="0"/>
                      </a:endParaRPr>
                    </a:p>
                  </a:txBody>
                  <a:tcPr marL="63500" marR="635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172A"/>
                    </a:solidFill>
                  </a:tcPr>
                </a:tc>
              </a:tr>
              <a:tr h="329184">
                <a:tc>
                  <a:txBody>
                    <a:bodyPr/>
                    <a:lstStyle/>
                    <a:p>
                      <a:pPr algn="ctr" indent="0" marL="0">
                        <a:buNone/>
                      </a:pPr>
                      <a:r>
                        <a:rPr lang="en-US" sz="1250" dirty="0">
                          <a:solidFill>
                            <a:srgbClr val="0F172A"/>
                          </a:solidFill>
                          <a:latin typeface="Segoe UI" pitchFamily="34" charset="0"/>
                          <a:ea typeface="Segoe UI" pitchFamily="34" charset="-122"/>
                          <a:cs typeface="Segoe UI" pitchFamily="34" charset="-120"/>
                        </a:rPr>
                        <a:t>Idle, before test</a:t>
                      </a:r>
                      <a:endParaRPr lang="en-US" sz="1250" dirty="0">
                        <a:latin typeface="Segoe UI" charset="0"/>
                        <a:ea typeface="Segoe UI" charset="0"/>
                        <a:cs typeface="Segoe UI" charset="0"/>
                      </a:endParaRPr>
                    </a:p>
                  </a:txBody>
                  <a:tcPr marL="63500" marR="635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0F172A"/>
                          </a:solidFill>
                          <a:latin typeface="Segoe UI" pitchFamily="34" charset="0"/>
                          <a:ea typeface="Segoe UI" pitchFamily="34" charset="-122"/>
                          <a:cs typeface="Segoe UI" pitchFamily="34" charset="-120"/>
                        </a:rPr>
                        <a:t>0.18 %</a:t>
                      </a:r>
                      <a:endParaRPr lang="en-US" sz="1250" dirty="0">
                        <a:latin typeface="Segoe UI" charset="0"/>
                        <a:ea typeface="Segoe UI" charset="0"/>
                        <a:cs typeface="Segoe UI" charset="0"/>
                      </a:endParaRPr>
                    </a:p>
                  </a:txBody>
                  <a:tcPr marL="63500" marR="635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0F172A"/>
                          </a:solidFill>
                          <a:latin typeface="Segoe UI" pitchFamily="34" charset="0"/>
                          <a:ea typeface="Segoe UI" pitchFamily="34" charset="-122"/>
                          <a:cs typeface="Segoe UI" pitchFamily="34" charset="-120"/>
                        </a:rPr>
                        <a:t>0.32 %</a:t>
                      </a:r>
                      <a:endParaRPr lang="en-US" sz="1250" dirty="0">
                        <a:latin typeface="Segoe UI" charset="0"/>
                        <a:ea typeface="Segoe UI" charset="0"/>
                        <a:cs typeface="Segoe UI" charset="0"/>
                      </a:endParaRPr>
                    </a:p>
                  </a:txBody>
                  <a:tcPr marL="63500" marR="635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0F172A"/>
                          </a:solidFill>
                          <a:latin typeface="Segoe UI" pitchFamily="34" charset="0"/>
                          <a:ea typeface="Segoe UI" pitchFamily="34" charset="-122"/>
                          <a:cs typeface="Segoe UI" pitchFamily="34" charset="-120"/>
                        </a:rPr>
                        <a:t>0.18 %</a:t>
                      </a:r>
                      <a:endParaRPr lang="en-US" sz="1250" dirty="0">
                        <a:latin typeface="Segoe UI" charset="0"/>
                        <a:ea typeface="Segoe UI" charset="0"/>
                        <a:cs typeface="Segoe UI" charset="0"/>
                      </a:endParaRPr>
                    </a:p>
                  </a:txBody>
                  <a:tcPr marL="63500" marR="635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0F172A"/>
                          </a:solidFill>
                          <a:latin typeface="Segoe UI" pitchFamily="34" charset="0"/>
                          <a:ea typeface="Segoe UI" pitchFamily="34" charset="-122"/>
                          <a:cs typeface="Segoe UI" pitchFamily="34" charset="-120"/>
                        </a:rPr>
                        <a:t>0.24 %</a:t>
                      </a:r>
                      <a:endParaRPr lang="en-US" sz="1250" dirty="0">
                        <a:latin typeface="Segoe UI" charset="0"/>
                        <a:ea typeface="Segoe UI" charset="0"/>
                        <a:cs typeface="Segoe UI" charset="0"/>
                      </a:endParaRPr>
                    </a:p>
                  </a:txBody>
                  <a:tcPr marL="63500" marR="635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0F172A"/>
                          </a:solidFill>
                          <a:latin typeface="Segoe UI" pitchFamily="34" charset="0"/>
                          <a:ea typeface="Segoe UI" pitchFamily="34" charset="-122"/>
                          <a:cs typeface="Segoe UI" pitchFamily="34" charset="-120"/>
                        </a:rPr>
                        <a:t>37</a:t>
                      </a:r>
                      <a:endParaRPr lang="en-US" sz="1250" dirty="0">
                        <a:latin typeface="Segoe UI" charset="0"/>
                        <a:ea typeface="Segoe UI" charset="0"/>
                        <a:cs typeface="Segoe UI" charset="0"/>
                      </a:endParaRPr>
                    </a:p>
                  </a:txBody>
                  <a:tcPr marL="63500" marR="635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29184">
                <a:tc>
                  <a:txBody>
                    <a:bodyPr/>
                    <a:lstStyle/>
                    <a:p>
                      <a:pPr algn="ctr" indent="0" marL="0">
                        <a:buNone/>
                      </a:pPr>
                      <a:r>
                        <a:rPr lang="en-US" sz="1250" dirty="0">
                          <a:solidFill>
                            <a:srgbClr val="0F172A"/>
                          </a:solidFill>
                          <a:latin typeface="Segoe UI" pitchFamily="34" charset="0"/>
                          <a:ea typeface="Segoe UI" pitchFamily="34" charset="-122"/>
                          <a:cs typeface="Segoe UI" pitchFamily="34" charset="-120"/>
                        </a:rPr>
                        <a:t>During W1 (1 user)</a:t>
                      </a:r>
                      <a:endParaRPr lang="en-US" sz="1250" dirty="0">
                        <a:latin typeface="Segoe UI" charset="0"/>
                        <a:ea typeface="Segoe UI" charset="0"/>
                        <a:cs typeface="Segoe UI" charset="0"/>
                      </a:endParaRPr>
                    </a:p>
                  </a:txBody>
                  <a:tcPr marL="63500" marR="635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algn="ctr" indent="0" marL="0">
                        <a:buNone/>
                      </a:pPr>
                      <a:r>
                        <a:rPr lang="en-US" sz="1250" dirty="0">
                          <a:solidFill>
                            <a:srgbClr val="0F172A"/>
                          </a:solidFill>
                          <a:latin typeface="Segoe UI" pitchFamily="34" charset="0"/>
                          <a:ea typeface="Segoe UI" pitchFamily="34" charset="-122"/>
                          <a:cs typeface="Segoe UI" pitchFamily="34" charset="-120"/>
                        </a:rPr>
                        <a:t>36.74 %</a:t>
                      </a:r>
                      <a:endParaRPr lang="en-US" sz="1250" dirty="0">
                        <a:latin typeface="Segoe UI" charset="0"/>
                        <a:ea typeface="Segoe UI" charset="0"/>
                        <a:cs typeface="Segoe UI" charset="0"/>
                      </a:endParaRPr>
                    </a:p>
                  </a:txBody>
                  <a:tcPr marL="63500" marR="635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algn="ctr" indent="0" marL="0">
                        <a:buNone/>
                      </a:pPr>
                      <a:r>
                        <a:rPr lang="en-US" sz="1250" dirty="0">
                          <a:solidFill>
                            <a:srgbClr val="0F172A"/>
                          </a:solidFill>
                          <a:latin typeface="Segoe UI" pitchFamily="34" charset="0"/>
                          <a:ea typeface="Segoe UI" pitchFamily="34" charset="-122"/>
                          <a:cs typeface="Segoe UI" pitchFamily="34" charset="-120"/>
                        </a:rPr>
                        <a:t>35.03 %</a:t>
                      </a:r>
                      <a:endParaRPr lang="en-US" sz="1250" dirty="0">
                        <a:latin typeface="Segoe UI" charset="0"/>
                        <a:ea typeface="Segoe UI" charset="0"/>
                        <a:cs typeface="Segoe UI" charset="0"/>
                      </a:endParaRPr>
                    </a:p>
                  </a:txBody>
                  <a:tcPr marL="63500" marR="635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algn="ctr" indent="0" marL="0">
                        <a:buNone/>
                      </a:pPr>
                      <a:r>
                        <a:rPr lang="en-US" sz="1250" b="1" dirty="0">
                          <a:solidFill>
                            <a:srgbClr val="7C3AED"/>
                          </a:solidFill>
                          <a:latin typeface="Segoe UI" pitchFamily="34" charset="0"/>
                          <a:ea typeface="Segoe UI" pitchFamily="34" charset="-122"/>
                          <a:cs typeface="Segoe UI" pitchFamily="34" charset="-120"/>
                        </a:rPr>
                        <a:t>54.03 %</a:t>
                      </a:r>
                      <a:endParaRPr lang="en-US" sz="1250" dirty="0">
                        <a:latin typeface="Segoe UI" charset="0"/>
                        <a:ea typeface="Segoe UI" charset="0"/>
                        <a:cs typeface="Segoe UI" charset="0"/>
                      </a:endParaRPr>
                    </a:p>
                  </a:txBody>
                  <a:tcPr marL="63500" marR="635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algn="ctr" indent="0" marL="0">
                        <a:buNone/>
                      </a:pPr>
                      <a:r>
                        <a:rPr lang="en-US" sz="1250" dirty="0">
                          <a:solidFill>
                            <a:srgbClr val="0F172A"/>
                          </a:solidFill>
                          <a:latin typeface="Segoe UI" pitchFamily="34" charset="0"/>
                          <a:ea typeface="Segoe UI" pitchFamily="34" charset="-122"/>
                          <a:cs typeface="Segoe UI" pitchFamily="34" charset="-120"/>
                        </a:rPr>
                        <a:t>15.27 %</a:t>
                      </a:r>
                      <a:endParaRPr lang="en-US" sz="1250" dirty="0">
                        <a:latin typeface="Segoe UI" charset="0"/>
                        <a:ea typeface="Segoe UI" charset="0"/>
                        <a:cs typeface="Segoe UI" charset="0"/>
                      </a:endParaRPr>
                    </a:p>
                  </a:txBody>
                  <a:tcPr marL="63500" marR="635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algn="ctr" indent="0" marL="0">
                        <a:buNone/>
                      </a:pPr>
                      <a:r>
                        <a:rPr lang="en-US" sz="1250" dirty="0">
                          <a:solidFill>
                            <a:srgbClr val="0F172A"/>
                          </a:solidFill>
                          <a:latin typeface="Segoe UI" pitchFamily="34" charset="0"/>
                          <a:ea typeface="Segoe UI" pitchFamily="34" charset="-122"/>
                          <a:cs typeface="Segoe UI" pitchFamily="34" charset="-120"/>
                        </a:rPr>
                        <a:t>38</a:t>
                      </a:r>
                      <a:endParaRPr lang="en-US" sz="1250" dirty="0">
                        <a:latin typeface="Segoe UI" charset="0"/>
                        <a:ea typeface="Segoe UI" charset="0"/>
                        <a:cs typeface="Segoe UI" charset="0"/>
                      </a:endParaRPr>
                    </a:p>
                  </a:txBody>
                  <a:tcPr marL="63500" marR="635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r>
              <a:tr h="329184">
                <a:tc>
                  <a:txBody>
                    <a:bodyPr/>
                    <a:lstStyle/>
                    <a:p>
                      <a:pPr algn="ctr" indent="0" marL="0">
                        <a:buNone/>
                      </a:pPr>
                      <a:r>
                        <a:rPr lang="en-US" sz="1250" dirty="0">
                          <a:solidFill>
                            <a:srgbClr val="0F172A"/>
                          </a:solidFill>
                          <a:latin typeface="Segoe UI" pitchFamily="34" charset="0"/>
                          <a:ea typeface="Segoe UI" pitchFamily="34" charset="-122"/>
                          <a:cs typeface="Segoe UI" pitchFamily="34" charset="-120"/>
                        </a:rPr>
                        <a:t>During W5 (16 users)</a:t>
                      </a:r>
                      <a:endParaRPr lang="en-US" sz="1250" dirty="0">
                        <a:latin typeface="Segoe UI" charset="0"/>
                        <a:ea typeface="Segoe UI" charset="0"/>
                        <a:cs typeface="Segoe UI" charset="0"/>
                      </a:endParaRPr>
                    </a:p>
                  </a:txBody>
                  <a:tcPr marL="63500" marR="635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0F172A"/>
                          </a:solidFill>
                          <a:latin typeface="Segoe UI" pitchFamily="34" charset="0"/>
                          <a:ea typeface="Segoe UI" pitchFamily="34" charset="-122"/>
                          <a:cs typeface="Segoe UI" pitchFamily="34" charset="-120"/>
                        </a:rPr>
                        <a:t>35.71 %</a:t>
                      </a:r>
                      <a:endParaRPr lang="en-US" sz="1250" dirty="0">
                        <a:latin typeface="Segoe UI" charset="0"/>
                        <a:ea typeface="Segoe UI" charset="0"/>
                        <a:cs typeface="Segoe UI" charset="0"/>
                      </a:endParaRPr>
                    </a:p>
                  </a:txBody>
                  <a:tcPr marL="63500" marR="635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0F172A"/>
                          </a:solidFill>
                          <a:latin typeface="Segoe UI" pitchFamily="34" charset="0"/>
                          <a:ea typeface="Segoe UI" pitchFamily="34" charset="-122"/>
                          <a:cs typeface="Segoe UI" pitchFamily="34" charset="-120"/>
                        </a:rPr>
                        <a:t>34.79 %</a:t>
                      </a:r>
                      <a:endParaRPr lang="en-US" sz="1250" dirty="0">
                        <a:latin typeface="Segoe UI" charset="0"/>
                        <a:ea typeface="Segoe UI" charset="0"/>
                        <a:cs typeface="Segoe UI" charset="0"/>
                      </a:endParaRPr>
                    </a:p>
                  </a:txBody>
                  <a:tcPr marL="63500" marR="635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7C3AED"/>
                          </a:solidFill>
                          <a:latin typeface="Segoe UI" pitchFamily="34" charset="0"/>
                          <a:ea typeface="Segoe UI" pitchFamily="34" charset="-122"/>
                          <a:cs typeface="Segoe UI" pitchFamily="34" charset="-120"/>
                        </a:rPr>
                        <a:t>126.66 %</a:t>
                      </a:r>
                      <a:endParaRPr lang="en-US" sz="1250" dirty="0">
                        <a:latin typeface="Segoe UI" charset="0"/>
                        <a:ea typeface="Segoe UI" charset="0"/>
                        <a:cs typeface="Segoe UI" charset="0"/>
                      </a:endParaRPr>
                    </a:p>
                  </a:txBody>
                  <a:tcPr marL="63500" marR="635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0F172A"/>
                          </a:solidFill>
                          <a:latin typeface="Segoe UI" pitchFamily="34" charset="0"/>
                          <a:ea typeface="Segoe UI" pitchFamily="34" charset="-122"/>
                          <a:cs typeface="Segoe UI" pitchFamily="34" charset="-120"/>
                        </a:rPr>
                        <a:t>0.18 %</a:t>
                      </a:r>
                      <a:endParaRPr lang="en-US" sz="1250" dirty="0">
                        <a:latin typeface="Segoe UI" charset="0"/>
                        <a:ea typeface="Segoe UI" charset="0"/>
                        <a:cs typeface="Segoe UI" charset="0"/>
                      </a:endParaRPr>
                    </a:p>
                  </a:txBody>
                  <a:tcPr marL="63500" marR="635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0F172A"/>
                          </a:solidFill>
                          <a:latin typeface="Segoe UI" pitchFamily="34" charset="0"/>
                          <a:ea typeface="Segoe UI" pitchFamily="34" charset="-122"/>
                          <a:cs typeface="Segoe UI" pitchFamily="34" charset="-120"/>
                        </a:rPr>
                        <a:t>43</a:t>
                      </a:r>
                      <a:endParaRPr lang="en-US" sz="1250" dirty="0">
                        <a:latin typeface="Segoe UI" charset="0"/>
                        <a:ea typeface="Segoe UI" charset="0"/>
                        <a:cs typeface="Segoe UI" charset="0"/>
                      </a:endParaRPr>
                    </a:p>
                  </a:txBody>
                  <a:tcPr marL="63500" marR="635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235440" cy="777240"/>
          </a:xfrm>
          <a:prstGeom prst="rect">
            <a:avLst/>
          </a:prstGeom>
          <a:noFill/>
          <a:ln/>
        </p:spPr>
        <p:txBody>
          <a:bodyPr wrap="square" lIns="0" tIns="0" rIns="0" bIns="0" rtlCol="0" anchor="ctr"/>
          <a:lstStyle/>
          <a:p>
            <a:pPr algn="l" indent="0" marL="0">
              <a:buNone/>
            </a:pPr>
            <a:r>
              <a:rPr lang="en-US" sz="2800" b="1" dirty="0">
                <a:solidFill>
                  <a:schemeClr val="tx1"/>
                </a:solidFill>
              </a:rPr>
              <a:t>Locust web UI at 8 users repeats the result</a:t>
            </a:r>
            <a:endParaRPr lang="en-US" sz="2800" dirty="0"/>
          </a:p>
        </p:txBody>
      </p:sp>
      <p:sp>
        <p:nvSpPr>
          <p:cNvPr id="3" name="cp badge"/>
          <p:cNvSpPr/>
          <p:nvPr/>
        </p:nvSpPr>
        <p:spPr>
          <a:xfrm>
            <a:off x="9921240" y="457200"/>
            <a:ext cx="1737360" cy="438912"/>
          </a:xfrm>
          <a:prstGeom prst="roundRect">
            <a:avLst>
              <a:gd name="adj" fmla="val 50000"/>
            </a:avLst>
          </a:prstGeom>
          <a:solidFill>
            <a:srgbClr val="EA580C"/>
          </a:solidFill>
          <a:ln w="12700">
            <a:solidFill>
              <a:srgbClr val="EA580C"/>
            </a:solidFill>
            <a:prstDash val="solid"/>
          </a:ln>
        </p:spPr>
      </p:sp>
      <p:sp>
        <p:nvSpPr>
          <p:cNvPr id="4" name="Text 2"/>
          <p:cNvSpPr txBox="1"/>
          <p:nvPr/>
        </p:nvSpPr>
        <p:spPr>
          <a:xfrm>
            <a:off x="9921240" y="457200"/>
            <a:ext cx="1737360" cy="438912"/>
          </a:xfrm>
          <a:prstGeom prst="rect">
            <a:avLst/>
          </a:prstGeom>
          <a:noFill/>
          <a:ln/>
        </p:spPr>
        <p:txBody>
          <a:bodyPr wrap="square" lIns="0" tIns="0" rIns="0" bIns="0" rtlCol="0" anchor="ctr"/>
          <a:lstStyle/>
          <a:p>
            <a:pPr algn="ctr" indent="0" marL="0">
              <a:buNone/>
            </a:pPr>
            <a:r>
              <a:rPr lang="en-US" sz="1150" b="1" spc="100" kern="0" dirty="0">
                <a:solidFill>
                  <a:schemeClr val="bg1"/>
                </a:solidFill>
              </a:rPr>
              <a:t>CP4 · WORKLOAD</a:t>
            </a:r>
            <a:endParaRPr lang="en-US" sz="1150" dirty="0"/>
          </a:p>
        </p:txBody>
      </p:sp>
      <p:sp>
        <p:nvSpPr>
          <p:cNvPr id="6" name="frame"/>
          <p:cNvSpPr/>
          <p:nvPr/>
        </p:nvSpPr>
        <p:spPr>
          <a:xfrm>
            <a:off x="493776" y="1271016"/>
            <a:ext cx="5230368" cy="3371282"/>
          </a:xfrm>
          <a:prstGeom prst="roundRect">
            <a:avLst>
              <a:gd name="adj" fmla="val 1627"/>
            </a:avLst>
          </a:prstGeom>
          <a:solidFill>
            <a:srgbClr val="FFFFFF"/>
          </a:solidFill>
          <a:ln w="9525">
            <a:solidFill>
              <a:srgbClr val="CBD5E1"/>
            </a:solidFill>
            <a:prstDash val="solid"/>
          </a:ln>
          <a:effectLst>
            <a:outerShdw sx="100000" sy="100000" kx="0" ky="0" algn="bl" rotWithShape="0" blurRad="76200" dist="25400" dir="5400000">
              <a:srgbClr val="000000">
                <a:alpha val="18000"/>
              </a:srgbClr>
            </a:outerShdw>
          </a:effectLst>
        </p:spPr>
      </p:sp>
      <p:pic>
        <p:nvPicPr>
          <p:cNvPr id="7" name="36_locust_ui_charts_8_users.png" descr="C:/Users/Asus/Desktop/Cloud_computing/PGC/PGC_lab/CC_github/CC_lab_evaluation/screenshots/CP4_Load_testing/36_locust_ui_charts_8_users.png">    </p:cNvPr>
          <p:cNvPicPr>
            <a:picLocks noChangeAspect="1"/>
          </p:cNvPicPr>
          <p:nvPr/>
        </p:nvPicPr>
        <p:blipFill>
          <a:blip r:embed="rId1"/>
          <a:stretch>
            <a:fillRect/>
          </a:stretch>
        </p:blipFill>
        <p:spPr>
          <a:xfrm>
            <a:off x="548640" y="1325880"/>
            <a:ext cx="5120640" cy="3261554"/>
          </a:xfrm>
          <a:prstGeom prst="rect">
            <a:avLst/>
          </a:prstGeom>
        </p:spPr>
      </p:pic>
      <p:sp>
        <p:nvSpPr>
          <p:cNvPr id="8" name="Text 4"/>
          <p:cNvSpPr txBox="1"/>
          <p:nvPr/>
        </p:nvSpPr>
        <p:spPr>
          <a:xfrm>
            <a:off x="457200" y="4678874"/>
            <a:ext cx="5303520" cy="292608"/>
          </a:xfrm>
          <a:prstGeom prst="rect">
            <a:avLst/>
          </a:prstGeom>
          <a:noFill/>
          <a:ln/>
        </p:spPr>
        <p:txBody>
          <a:bodyPr wrap="square" lIns="0" tIns="0" rIns="0" bIns="0" rtlCol="0" anchor="ctr"/>
          <a:lstStyle/>
          <a:p>
            <a:pPr algn="ctr" indent="0" marL="0">
              <a:buNone/>
            </a:pPr>
            <a:r>
              <a:rPr lang="en-US" sz="1100" i="1" dirty="0">
                <a:solidFill>
                  <a:schemeClr val="tx2"/>
                </a:solidFill>
              </a:rPr>
              <a:t>Charts tab: RPS, response times, users (screenshot 36)</a:t>
            </a:r>
            <a:endParaRPr lang="en-US" sz="1100" dirty="0"/>
          </a:p>
        </p:txBody>
      </p:sp>
      <p:sp>
        <p:nvSpPr>
          <p:cNvPr id="9" name="frame"/>
          <p:cNvSpPr/>
          <p:nvPr/>
        </p:nvSpPr>
        <p:spPr>
          <a:xfrm>
            <a:off x="5934456" y="1271016"/>
            <a:ext cx="5779008" cy="1548632"/>
          </a:xfrm>
          <a:prstGeom prst="roundRect">
            <a:avLst>
              <a:gd name="adj" fmla="val 3543"/>
            </a:avLst>
          </a:prstGeom>
          <a:solidFill>
            <a:srgbClr val="FFFFFF"/>
          </a:solidFill>
          <a:ln w="9525">
            <a:solidFill>
              <a:srgbClr val="CBD5E1"/>
            </a:solidFill>
            <a:prstDash val="solid"/>
          </a:ln>
          <a:effectLst>
            <a:outerShdw sx="100000" sy="100000" kx="0" ky="0" algn="bl" rotWithShape="0" blurRad="76200" dist="25400" dir="5400000">
              <a:srgbClr val="000000">
                <a:alpha val="18000"/>
              </a:srgbClr>
            </a:outerShdw>
          </a:effectLst>
        </p:spPr>
      </p:sp>
      <p:pic>
        <p:nvPicPr>
          <p:cNvPr id="10" name="35_locust_ui_statistics_8_users.png" descr="C:/Users/Asus/Desktop/Cloud_computing/PGC/PGC_lab/CC_github/CC_lab_evaluation/screenshots/CP4_Load_testing/35_locust_ui_statistics_8_users.png">    </p:cNvPr>
          <p:cNvPicPr>
            <a:picLocks noChangeAspect="1"/>
          </p:cNvPicPr>
          <p:nvPr/>
        </p:nvPicPr>
        <p:blipFill>
          <a:blip r:embed="rId2"/>
          <a:stretch>
            <a:fillRect/>
          </a:stretch>
        </p:blipFill>
        <p:spPr>
          <a:xfrm>
            <a:off x="5989320" y="1325880"/>
            <a:ext cx="5669280" cy="1438904"/>
          </a:xfrm>
          <a:prstGeom prst="rect">
            <a:avLst/>
          </a:prstGeom>
        </p:spPr>
      </p:pic>
      <p:sp>
        <p:nvSpPr>
          <p:cNvPr id="11" name="Text 6"/>
          <p:cNvSpPr txBox="1"/>
          <p:nvPr/>
        </p:nvSpPr>
        <p:spPr>
          <a:xfrm>
            <a:off x="5897880" y="2856224"/>
            <a:ext cx="5852160" cy="292608"/>
          </a:xfrm>
          <a:prstGeom prst="rect">
            <a:avLst/>
          </a:prstGeom>
          <a:noFill/>
          <a:ln/>
        </p:spPr>
        <p:txBody>
          <a:bodyPr wrap="square" lIns="0" tIns="0" rIns="0" bIns="0" rtlCol="0" anchor="ctr"/>
          <a:lstStyle/>
          <a:p>
            <a:pPr algn="ctr" indent="0" marL="0">
              <a:buNone/>
            </a:pPr>
            <a:r>
              <a:rPr lang="en-US" sz="1100" i="1" dirty="0">
                <a:solidFill>
                  <a:schemeClr val="tx2"/>
                </a:solidFill>
              </a:rPr>
              <a:t>Statistics tab, 8 users (screenshot 35)</a:t>
            </a:r>
            <a:endParaRPr lang="en-US" sz="1100" dirty="0"/>
          </a:p>
        </p:txBody>
      </p:sp>
      <p:sp>
        <p:nvSpPr>
          <p:cNvPr id="12" name="stat"/>
          <p:cNvSpPr/>
          <p:nvPr/>
        </p:nvSpPr>
        <p:spPr>
          <a:xfrm>
            <a:off x="5989320" y="3337560"/>
            <a:ext cx="1783080" cy="1143000"/>
          </a:xfrm>
          <a:prstGeom prst="roundRect">
            <a:avLst>
              <a:gd name="adj" fmla="val 9600"/>
            </a:avLst>
          </a:prstGeom>
          <a:solidFill>
            <a:srgbClr val="FFEDD5"/>
          </a:solidFill>
          <a:ln w="12700">
            <a:solidFill>
              <a:srgbClr val="FFEDD5"/>
            </a:solidFill>
            <a:prstDash val="solid"/>
          </a:ln>
        </p:spPr>
      </p:sp>
      <p:sp>
        <p:nvSpPr>
          <p:cNvPr id="13" name="Text 8"/>
          <p:cNvSpPr txBox="1"/>
          <p:nvPr/>
        </p:nvSpPr>
        <p:spPr>
          <a:xfrm>
            <a:off x="6126480" y="3429000"/>
            <a:ext cx="1508760" cy="594360"/>
          </a:xfrm>
          <a:prstGeom prst="rect">
            <a:avLst/>
          </a:prstGeom>
          <a:noFill/>
          <a:ln/>
        </p:spPr>
        <p:txBody>
          <a:bodyPr wrap="square" lIns="0" tIns="0" rIns="0" bIns="0" rtlCol="0" anchor="ctr"/>
          <a:lstStyle/>
          <a:p>
            <a:pPr algn="l" indent="0" marL="0">
              <a:buNone/>
            </a:pPr>
            <a:r>
              <a:rPr lang="en-US" sz="2800" b="1" dirty="0">
                <a:solidFill>
                  <a:srgbClr val="EA580C"/>
                </a:solidFill>
              </a:rPr>
              <a:t>148</a:t>
            </a:r>
            <a:endParaRPr lang="en-US" sz="2800" dirty="0"/>
          </a:p>
        </p:txBody>
      </p:sp>
      <p:sp>
        <p:nvSpPr>
          <p:cNvPr id="14" name="Text 9"/>
          <p:cNvSpPr txBox="1"/>
          <p:nvPr/>
        </p:nvSpPr>
        <p:spPr>
          <a:xfrm>
            <a:off x="6126480" y="4023360"/>
            <a:ext cx="1508760" cy="384048"/>
          </a:xfrm>
          <a:prstGeom prst="rect">
            <a:avLst/>
          </a:prstGeom>
          <a:noFill/>
          <a:ln/>
        </p:spPr>
        <p:txBody>
          <a:bodyPr wrap="square" lIns="0" tIns="0" rIns="0" bIns="0" rtlCol="0" anchor="t"/>
          <a:lstStyle/>
          <a:p>
            <a:pPr algn="l" indent="0" marL="0">
              <a:buNone/>
            </a:pPr>
            <a:r>
              <a:rPr lang="en-US" sz="1200" dirty="0">
                <a:solidFill>
                  <a:schemeClr val="tx2"/>
                </a:solidFill>
              </a:rPr>
              <a:t>req/s (UI)</a:t>
            </a:r>
            <a:endParaRPr lang="en-US" sz="1200" dirty="0"/>
          </a:p>
        </p:txBody>
      </p:sp>
      <p:sp>
        <p:nvSpPr>
          <p:cNvPr id="15" name="stat"/>
          <p:cNvSpPr/>
          <p:nvPr/>
        </p:nvSpPr>
        <p:spPr>
          <a:xfrm>
            <a:off x="7927848" y="3337560"/>
            <a:ext cx="1783080" cy="1143000"/>
          </a:xfrm>
          <a:prstGeom prst="roundRect">
            <a:avLst>
              <a:gd name="adj" fmla="val 9600"/>
            </a:avLst>
          </a:prstGeom>
          <a:solidFill>
            <a:srgbClr val="FFEDD5"/>
          </a:solidFill>
          <a:ln w="12700">
            <a:solidFill>
              <a:srgbClr val="FFEDD5"/>
            </a:solidFill>
            <a:prstDash val="solid"/>
          </a:ln>
        </p:spPr>
      </p:sp>
      <p:sp>
        <p:nvSpPr>
          <p:cNvPr id="16" name="Text 11"/>
          <p:cNvSpPr txBox="1"/>
          <p:nvPr/>
        </p:nvSpPr>
        <p:spPr>
          <a:xfrm>
            <a:off x="8065008" y="3429000"/>
            <a:ext cx="1508760" cy="594360"/>
          </a:xfrm>
          <a:prstGeom prst="rect">
            <a:avLst/>
          </a:prstGeom>
          <a:noFill/>
          <a:ln/>
        </p:spPr>
        <p:txBody>
          <a:bodyPr wrap="square" lIns="0" tIns="0" rIns="0" bIns="0" rtlCol="0" anchor="ctr"/>
          <a:lstStyle/>
          <a:p>
            <a:pPr algn="l" indent="0" marL="0">
              <a:buNone/>
            </a:pPr>
            <a:r>
              <a:rPr lang="en-US" sz="2800" b="1" dirty="0">
                <a:solidFill>
                  <a:srgbClr val="EA580C"/>
                </a:solidFill>
              </a:rPr>
              <a:t>53.97</a:t>
            </a:r>
            <a:endParaRPr lang="en-US" sz="2800" dirty="0"/>
          </a:p>
        </p:txBody>
      </p:sp>
      <p:sp>
        <p:nvSpPr>
          <p:cNvPr id="17" name="Text 12"/>
          <p:cNvSpPr txBox="1"/>
          <p:nvPr/>
        </p:nvSpPr>
        <p:spPr>
          <a:xfrm>
            <a:off x="8065008" y="4023360"/>
            <a:ext cx="1508760" cy="384048"/>
          </a:xfrm>
          <a:prstGeom prst="rect">
            <a:avLst/>
          </a:prstGeom>
          <a:noFill/>
          <a:ln/>
        </p:spPr>
        <p:txBody>
          <a:bodyPr wrap="square" lIns="0" tIns="0" rIns="0" bIns="0" rtlCol="0" anchor="t"/>
          <a:lstStyle/>
          <a:p>
            <a:pPr algn="l" indent="0" marL="0">
              <a:buNone/>
            </a:pPr>
            <a:r>
              <a:rPr lang="en-US" sz="1200" dirty="0">
                <a:solidFill>
                  <a:schemeClr val="tx2"/>
                </a:solidFill>
              </a:rPr>
              <a:t>ms average</a:t>
            </a:r>
            <a:endParaRPr lang="en-US" sz="1200" dirty="0"/>
          </a:p>
        </p:txBody>
      </p:sp>
      <p:sp>
        <p:nvSpPr>
          <p:cNvPr id="18" name="stat"/>
          <p:cNvSpPr/>
          <p:nvPr/>
        </p:nvSpPr>
        <p:spPr>
          <a:xfrm>
            <a:off x="9875520" y="3337560"/>
            <a:ext cx="1783080" cy="1143000"/>
          </a:xfrm>
          <a:prstGeom prst="roundRect">
            <a:avLst>
              <a:gd name="adj" fmla="val 9600"/>
            </a:avLst>
          </a:prstGeom>
          <a:solidFill>
            <a:srgbClr val="DCFCE7"/>
          </a:solidFill>
          <a:ln w="12700">
            <a:solidFill>
              <a:srgbClr val="DCFCE7"/>
            </a:solidFill>
            <a:prstDash val="solid"/>
          </a:ln>
        </p:spPr>
      </p:sp>
      <p:sp>
        <p:nvSpPr>
          <p:cNvPr id="19" name="Text 14"/>
          <p:cNvSpPr txBox="1"/>
          <p:nvPr/>
        </p:nvSpPr>
        <p:spPr>
          <a:xfrm>
            <a:off x="10012680" y="3429000"/>
            <a:ext cx="1508760" cy="594360"/>
          </a:xfrm>
          <a:prstGeom prst="rect">
            <a:avLst/>
          </a:prstGeom>
          <a:noFill/>
          <a:ln/>
        </p:spPr>
        <p:txBody>
          <a:bodyPr wrap="square" lIns="0" tIns="0" rIns="0" bIns="0" rtlCol="0" anchor="ctr"/>
          <a:lstStyle/>
          <a:p>
            <a:pPr algn="l" indent="0" marL="0">
              <a:buNone/>
            </a:pPr>
            <a:r>
              <a:rPr lang="en-US" sz="2800" b="1" dirty="0">
                <a:solidFill>
                  <a:srgbClr val="16A34A"/>
                </a:solidFill>
              </a:rPr>
              <a:t>0</a:t>
            </a:r>
            <a:endParaRPr lang="en-US" sz="2800" dirty="0"/>
          </a:p>
        </p:txBody>
      </p:sp>
      <p:sp>
        <p:nvSpPr>
          <p:cNvPr id="20" name="Text 15"/>
          <p:cNvSpPr txBox="1"/>
          <p:nvPr/>
        </p:nvSpPr>
        <p:spPr>
          <a:xfrm>
            <a:off x="10012680" y="4023360"/>
            <a:ext cx="1508760" cy="384048"/>
          </a:xfrm>
          <a:prstGeom prst="rect">
            <a:avLst/>
          </a:prstGeom>
          <a:noFill/>
          <a:ln/>
        </p:spPr>
        <p:txBody>
          <a:bodyPr wrap="square" lIns="0" tIns="0" rIns="0" bIns="0" rtlCol="0" anchor="t"/>
          <a:lstStyle/>
          <a:p>
            <a:pPr algn="l" indent="0" marL="0">
              <a:buNone/>
            </a:pPr>
            <a:r>
              <a:rPr lang="en-US" sz="1200" dirty="0">
                <a:solidFill>
                  <a:schemeClr val="tx2"/>
                </a:solidFill>
              </a:rPr>
              <a:t>failures of 11,984</a:t>
            </a:r>
            <a:endParaRPr lang="en-US" sz="1200" dirty="0"/>
          </a:p>
        </p:txBody>
      </p:sp>
      <p:sp>
        <p:nvSpPr>
          <p:cNvPr id="21" name="card"/>
          <p:cNvSpPr/>
          <p:nvPr/>
        </p:nvSpPr>
        <p:spPr>
          <a:xfrm>
            <a:off x="5989320" y="4663440"/>
            <a:ext cx="5669280" cy="1554480"/>
          </a:xfrm>
          <a:prstGeom prst="roundRect">
            <a:avLst>
              <a:gd name="adj" fmla="val 7059"/>
            </a:avLst>
          </a:prstGeom>
          <a:solidFill>
            <a:srgbClr val="F1F5F9"/>
          </a:solidFill>
          <a:ln w="12700">
            <a:solidFill>
              <a:srgbClr val="F1F5F9"/>
            </a:solidFill>
            <a:prstDash val="solid"/>
          </a:ln>
        </p:spPr>
      </p:sp>
      <p:sp>
        <p:nvSpPr>
          <p:cNvPr id="22" name="Text 17"/>
          <p:cNvSpPr txBox="1"/>
          <p:nvPr/>
        </p:nvSpPr>
        <p:spPr>
          <a:xfrm>
            <a:off x="6172200" y="4663440"/>
            <a:ext cx="5349240" cy="1554480"/>
          </a:xfrm>
          <a:prstGeom prst="rect">
            <a:avLst/>
          </a:prstGeom>
          <a:noFill/>
          <a:ln/>
        </p:spPr>
        <p:txBody>
          <a:bodyPr wrap="square" lIns="0" tIns="0" rIns="0" bIns="0" rtlCol="0" anchor="ctr"/>
          <a:lstStyle/>
          <a:p>
            <a:pPr indent="0" marL="0">
              <a:buNone/>
            </a:pPr>
            <a:r>
              <a:rPr lang="en-US" sz="1400" b="1" dirty="0">
                <a:solidFill>
                  <a:srgbClr val="0F172A"/>
                </a:solidFill>
              </a:rPr>
              <a:t>Same load, scripted W4 (8 users): </a:t>
            </a:r>
            <a:pPr indent="0" marL="0">
              <a:buNone/>
            </a:pPr>
            <a:r>
              <a:rPr lang="en-US" sz="1400" b="1" dirty="0">
                <a:solidFill>
                  <a:srgbClr val="7C3AED"/>
                </a:solidFill>
              </a:rPr>
              <a:t>149.9 req/s, 53.2 ms.</a:t>
            </a:r>
            <a:endParaRPr lang="en-US" sz="1400" dirty="0"/>
          </a:p>
          <a:p>
            <a:pPr indent="0" marL="0">
              <a:buNone/>
            </a:pPr>
            <a:r>
              <a:rPr lang="en-US" sz="1400" dirty="0">
                <a:solidFill>
                  <a:srgbClr val="0F172A"/>
                </a:solidFill>
              </a:rPr>
              <a:t>Two separate runs agree within 1–2 % → the measurement repeats well.</a:t>
            </a:r>
            <a:endParaRPr lang="en-US" sz="1400" dirty="0"/>
          </a:p>
        </p:txBody>
      </p:sp>
      <p:sp>
        <p:nvSpPr>
          <p:cNvPr id="25" name="Slide Number Placeholder 0"/>
          <p:cNvSpPr>
            <a:spLocks noGrp="1"/>
          </p:cNvSpPr>
          <p:nvPr>
            <p:ph type="sldNum" sz="quarter" idx="4294967295"/>
          </p:nvPr>
        </p:nvSpPr>
        <p:spPr>
          <a:xfrm>
            <a:off x="1115568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235440" cy="777240"/>
          </a:xfrm>
          <a:prstGeom prst="rect">
            <a:avLst/>
          </a:prstGeom>
          <a:noFill/>
          <a:ln/>
        </p:spPr>
        <p:txBody>
          <a:bodyPr wrap="square" lIns="0" tIns="0" rIns="0" bIns="0" rtlCol="0" anchor="ctr"/>
          <a:lstStyle/>
          <a:p>
            <a:pPr algn="l" indent="0" marL="0">
              <a:buNone/>
            </a:pPr>
            <a:r>
              <a:rPr lang="en-US" sz="2800" b="1" dirty="0">
                <a:solidFill>
                  <a:schemeClr val="tx1"/>
                </a:solidFill>
              </a:rPr>
              <a:t>Which command produced each screenshot</a:t>
            </a:r>
            <a:endParaRPr lang="en-US" sz="2800" dirty="0"/>
          </a:p>
        </p:txBody>
      </p:sp>
      <p:sp>
        <p:nvSpPr>
          <p:cNvPr id="3" name="cp badge"/>
          <p:cNvSpPr/>
          <p:nvPr/>
        </p:nvSpPr>
        <p:spPr>
          <a:xfrm>
            <a:off x="9921240" y="457200"/>
            <a:ext cx="1737360" cy="438912"/>
          </a:xfrm>
          <a:prstGeom prst="roundRect">
            <a:avLst>
              <a:gd name="adj" fmla="val 50000"/>
            </a:avLst>
          </a:prstGeom>
          <a:solidFill>
            <a:srgbClr val="EA580C"/>
          </a:solidFill>
          <a:ln w="12700">
            <a:solidFill>
              <a:srgbClr val="EA580C"/>
            </a:solidFill>
            <a:prstDash val="solid"/>
          </a:ln>
        </p:spPr>
      </p:sp>
      <p:sp>
        <p:nvSpPr>
          <p:cNvPr id="4" name="Text 2"/>
          <p:cNvSpPr txBox="1"/>
          <p:nvPr/>
        </p:nvSpPr>
        <p:spPr>
          <a:xfrm>
            <a:off x="9921240" y="457200"/>
            <a:ext cx="1737360" cy="438912"/>
          </a:xfrm>
          <a:prstGeom prst="rect">
            <a:avLst/>
          </a:prstGeom>
          <a:noFill/>
          <a:ln/>
        </p:spPr>
        <p:txBody>
          <a:bodyPr wrap="square" lIns="0" tIns="0" rIns="0" bIns="0" rtlCol="0" anchor="ctr"/>
          <a:lstStyle/>
          <a:p>
            <a:pPr algn="ctr" indent="0" marL="0">
              <a:buNone/>
            </a:pPr>
            <a:r>
              <a:rPr lang="en-US" sz="1150" b="1" spc="100" kern="0" dirty="0">
                <a:solidFill>
                  <a:schemeClr val="bg1"/>
                </a:solidFill>
              </a:rPr>
              <a:t>CP4 · WORKLOAD</a:t>
            </a:r>
            <a:endParaRPr lang="en-US" sz="115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914400"/>
        </p:xfrm>
        <a:graphic>
          <a:graphicData uri="http://schemas.openxmlformats.org/drawingml/2006/table">
            <a:tbl>
              <a:tblPr/>
              <a:tblGrid>
                <a:gridCol w="1463040"/>
                <a:gridCol w="6629400"/>
                <a:gridCol w="3017520"/>
              </a:tblGrid>
              <a:tr h="457200">
                <a:tc>
                  <a:txBody>
                    <a:bodyPr/>
                    <a:lstStyle/>
                    <a:p>
                      <a:pPr algn="ctr" indent="0" marL="0">
                        <a:buNone/>
                      </a:pPr>
                      <a:r>
                        <a:rPr lang="en-US" sz="1250" b="1" dirty="0">
                          <a:solidFill>
                            <a:srgbClr val="FFFFFF"/>
                          </a:solidFill>
                          <a:latin typeface="Segoe UI" pitchFamily="34" charset="0"/>
                          <a:ea typeface="Segoe UI" pitchFamily="34" charset="-122"/>
                          <a:cs typeface="Segoe UI" pitchFamily="34" charset="-120"/>
                        </a:rPr>
                        <a:t>Screens</a:t>
                      </a:r>
                      <a:endParaRPr lang="en-US" sz="1250" dirty="0">
                        <a:latin typeface="Segoe UI" charset="0"/>
                        <a:ea typeface="Segoe UI" charset="0"/>
                        <a:cs typeface="Segoe UI" charset="0"/>
                      </a:endParaRPr>
                    </a:p>
                  </a:txBody>
                  <a:tcPr marL="63500" marR="635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172A"/>
                    </a:solidFill>
                  </a:tcPr>
                </a:tc>
                <a:tc>
                  <a:txBody>
                    <a:bodyPr/>
                    <a:lstStyle/>
                    <a:p>
                      <a:pPr algn="ctr" indent="0" marL="0">
                        <a:buNone/>
                      </a:pPr>
                      <a:r>
                        <a:rPr lang="en-US" sz="1250" b="1" dirty="0">
                          <a:solidFill>
                            <a:srgbClr val="FFFFFF"/>
                          </a:solidFill>
                          <a:latin typeface="Segoe UI" pitchFamily="34" charset="0"/>
                          <a:ea typeface="Segoe UI" pitchFamily="34" charset="-122"/>
                          <a:cs typeface="Segoe UI" pitchFamily="34" charset="-120"/>
                        </a:rPr>
                        <a:t>Command</a:t>
                      </a:r>
                      <a:endParaRPr lang="en-US" sz="1250" dirty="0">
                        <a:latin typeface="Segoe UI" charset="0"/>
                        <a:ea typeface="Segoe UI" charset="0"/>
                        <a:cs typeface="Segoe UI" charset="0"/>
                      </a:endParaRPr>
                    </a:p>
                  </a:txBody>
                  <a:tcPr marL="63500" marR="635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172A"/>
                    </a:solidFill>
                  </a:tcPr>
                </a:tc>
                <a:tc>
                  <a:txBody>
                    <a:bodyPr/>
                    <a:lstStyle/>
                    <a:p>
                      <a:pPr algn="ctr" indent="0" marL="0">
                        <a:buNone/>
                      </a:pPr>
                      <a:r>
                        <a:rPr lang="en-US" sz="1250" b="1" dirty="0">
                          <a:solidFill>
                            <a:srgbClr val="FFFFFF"/>
                          </a:solidFill>
                          <a:latin typeface="Segoe UI" pitchFamily="34" charset="0"/>
                          <a:ea typeface="Segoe UI" pitchFamily="34" charset="-122"/>
                          <a:cs typeface="Segoe UI" pitchFamily="34" charset="-120"/>
                        </a:rPr>
                        <a:t>What it shows</a:t>
                      </a:r>
                      <a:endParaRPr lang="en-US" sz="1250" dirty="0">
                        <a:latin typeface="Segoe UI" charset="0"/>
                        <a:ea typeface="Segoe UI" charset="0"/>
                        <a:cs typeface="Segoe UI" charset="0"/>
                      </a:endParaRPr>
                    </a:p>
                  </a:txBody>
                  <a:tcPr marL="63500" marR="635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172A"/>
                    </a:solidFill>
                  </a:tcPr>
                </a:tc>
              </a:tr>
              <a:tr h="457200">
                <a:tc>
                  <a:txBody>
                    <a:bodyPr/>
                    <a:lstStyle/>
                    <a:p>
                      <a:pPr algn="ctr" indent="0" marL="0">
                        <a:buNone/>
                      </a:pPr>
                      <a:r>
                        <a:rPr lang="en-US" sz="1250" dirty="0">
                          <a:solidFill>
                            <a:srgbClr val="0F172A"/>
                          </a:solidFill>
                          <a:latin typeface="Segoe UI" pitchFamily="34" charset="0"/>
                          <a:ea typeface="Segoe UI" pitchFamily="34" charset="-122"/>
                          <a:cs typeface="Segoe UI" pitchFamily="34" charset="-120"/>
                        </a:rPr>
                        <a:t>35 – 36</a:t>
                      </a:r>
                      <a:endParaRPr lang="en-US" sz="1250" dirty="0">
                        <a:latin typeface="Segoe UI" charset="0"/>
                        <a:ea typeface="Segoe UI" charset="0"/>
                        <a:cs typeface="Segoe UI" charset="0"/>
                      </a:endParaRPr>
                    </a:p>
                  </a:txBody>
                  <a:tcPr marL="63500" marR="635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r>
                        <a:rPr lang="en-US" sz="1250" dirty="0">
                          <a:solidFill>
                            <a:srgbClr val="EA580C"/>
                          </a:solidFill>
                          <a:latin typeface="Segoe UI" pitchFamily="34" charset="0"/>
                          <a:ea typeface="Segoe UI" pitchFamily="34" charset="-122"/>
                          <a:cs typeface="Segoe UI" pitchFamily="34" charset="-120"/>
                        </a:rPr>
                        <a:t>python -m locust -f loadtest\locustfile.py --host http://127.0.0.1:8003</a:t>
                      </a:r>
                      <a:endParaRPr lang="en-US" sz="1250" dirty="0">
                        <a:latin typeface="Segoe UI" charset="0"/>
                        <a:ea typeface="Segoe UI" charset="0"/>
                        <a:cs typeface="Segoe UI" charset="0"/>
                      </a:endParaRPr>
                    </a:p>
                  </a:txBody>
                  <a:tcPr marL="63500" marR="635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r>
                        <a:rPr lang="en-US" sz="1250" dirty="0">
                          <a:solidFill>
                            <a:srgbClr val="0F172A"/>
                          </a:solidFill>
                          <a:latin typeface="Segoe UI" pitchFamily="34" charset="0"/>
                          <a:ea typeface="Segoe UI" pitchFamily="34" charset="-122"/>
                          <a:cs typeface="Segoe UI" pitchFamily="34" charset="-120"/>
                        </a:rPr>
                        <a:t>Locust web UI, 8 users</a:t>
                      </a:r>
                      <a:endParaRPr lang="en-US" sz="1250" dirty="0">
                        <a:latin typeface="Segoe UI" charset="0"/>
                        <a:ea typeface="Segoe UI" charset="0"/>
                        <a:cs typeface="Segoe UI" charset="0"/>
                      </a:endParaRPr>
                    </a:p>
                  </a:txBody>
                  <a:tcPr marL="63500" marR="635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algn="ctr" indent="0" marL="0">
                        <a:buNone/>
                      </a:pPr>
                      <a:r>
                        <a:rPr lang="en-US" sz="1250" dirty="0">
                          <a:solidFill>
                            <a:srgbClr val="0F172A"/>
                          </a:solidFill>
                          <a:latin typeface="Segoe UI" pitchFamily="34" charset="0"/>
                          <a:ea typeface="Segoe UI" pitchFamily="34" charset="-122"/>
                          <a:cs typeface="Segoe UI" pitchFamily="34" charset="-120"/>
                        </a:rPr>
                        <a:t>37, 38, 43</a:t>
                      </a:r>
                      <a:endParaRPr lang="en-US" sz="1250" dirty="0">
                        <a:latin typeface="Segoe UI" charset="0"/>
                        <a:ea typeface="Segoe UI" charset="0"/>
                        <a:cs typeface="Segoe UI" charset="0"/>
                      </a:endParaRPr>
                    </a:p>
                  </a:txBody>
                  <a:tcPr marL="63500" marR="635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algn="l" indent="0" marL="0">
                        <a:buNone/>
                      </a:pPr>
                      <a:r>
                        <a:rPr lang="en-US" sz="1250" dirty="0">
                          <a:solidFill>
                            <a:srgbClr val="2563EB"/>
                          </a:solidFill>
                          <a:latin typeface="Segoe UI" pitchFamily="34" charset="0"/>
                          <a:ea typeface="Segoe UI" pitchFamily="34" charset="-122"/>
                          <a:cs typeface="Segoe UI" pitchFamily="34" charset="-120"/>
                        </a:rPr>
                        <a:t>docker stats book-service member-service borrow-service notification-service</a:t>
                      </a:r>
                      <a:endParaRPr lang="en-US" sz="1250" dirty="0">
                        <a:latin typeface="Segoe UI" charset="0"/>
                        <a:ea typeface="Segoe UI" charset="0"/>
                        <a:cs typeface="Segoe UI" charset="0"/>
                      </a:endParaRPr>
                    </a:p>
                  </a:txBody>
                  <a:tcPr marL="63500" marR="635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algn="l" indent="0" marL="0">
                        <a:buNone/>
                      </a:pPr>
                      <a:r>
                        <a:rPr lang="en-US" sz="1250" dirty="0">
                          <a:solidFill>
                            <a:srgbClr val="0F172A"/>
                          </a:solidFill>
                          <a:latin typeface="Segoe UI" pitchFamily="34" charset="0"/>
                          <a:ea typeface="Segoe UI" pitchFamily="34" charset="-122"/>
                          <a:cs typeface="Segoe UI" pitchFamily="34" charset="-120"/>
                        </a:rPr>
                        <a:t>CPU / memory: idle, W1, W5</a:t>
                      </a:r>
                      <a:endParaRPr lang="en-US" sz="1250" dirty="0">
                        <a:latin typeface="Segoe UI" charset="0"/>
                        <a:ea typeface="Segoe UI" charset="0"/>
                        <a:cs typeface="Segoe UI" charset="0"/>
                      </a:endParaRPr>
                    </a:p>
                  </a:txBody>
                  <a:tcPr marL="63500" marR="635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r>
              <a:tr h="457200">
                <a:tc>
                  <a:txBody>
                    <a:bodyPr/>
                    <a:lstStyle/>
                    <a:p>
                      <a:pPr algn="ctr" indent="0" marL="0">
                        <a:buNone/>
                      </a:pPr>
                      <a:r>
                        <a:rPr lang="en-US" sz="1250" dirty="0">
                          <a:solidFill>
                            <a:srgbClr val="0F172A"/>
                          </a:solidFill>
                          <a:latin typeface="Segoe UI" pitchFamily="34" charset="0"/>
                          <a:ea typeface="Segoe UI" pitchFamily="34" charset="-122"/>
                          <a:cs typeface="Segoe UI" pitchFamily="34" charset="-120"/>
                        </a:rPr>
                        <a:t>39 – 42, 44</a:t>
                      </a:r>
                      <a:endParaRPr lang="en-US" sz="1250" dirty="0">
                        <a:latin typeface="Segoe UI" charset="0"/>
                        <a:ea typeface="Segoe UI" charset="0"/>
                        <a:cs typeface="Segoe UI" charset="0"/>
                      </a:endParaRPr>
                    </a:p>
                  </a:txBody>
                  <a:tcPr marL="63500" marR="635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r>
                        <a:rPr lang="en-US" sz="1250" dirty="0">
                          <a:solidFill>
                            <a:srgbClr val="7C3AED"/>
                          </a:solidFill>
                          <a:latin typeface="Segoe UI" pitchFamily="34" charset="0"/>
                          <a:ea typeface="Segoe UI" pitchFamily="34" charset="-122"/>
                          <a:cs typeface="Segoe UI" pitchFamily="34" charset="-120"/>
                        </a:rPr>
                        <a:t>python loadtest\run_workloads.py</a:t>
                      </a:r>
                      <a:endParaRPr lang="en-US" sz="1250" dirty="0">
                        <a:latin typeface="Segoe UI" charset="0"/>
                        <a:ea typeface="Segoe UI" charset="0"/>
                        <a:cs typeface="Segoe UI" charset="0"/>
                      </a:endParaRPr>
                    </a:p>
                  </a:txBody>
                  <a:tcPr marL="63500" marR="635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r>
                        <a:rPr lang="en-US" sz="1250" dirty="0">
                          <a:solidFill>
                            <a:srgbClr val="0F172A"/>
                          </a:solidFill>
                          <a:latin typeface="Segoe UI" pitchFamily="34" charset="0"/>
                          <a:ea typeface="Segoe UI" pitchFamily="34" charset="-122"/>
                          <a:cs typeface="Segoe UI" pitchFamily="34" charset="-120"/>
                        </a:rPr>
                        <a:t>Console output of each level W1–W5</a:t>
                      </a:r>
                      <a:endParaRPr lang="en-US" sz="1250" dirty="0">
                        <a:latin typeface="Segoe UI" charset="0"/>
                        <a:ea typeface="Segoe UI" charset="0"/>
                        <a:cs typeface="Segoe UI" charset="0"/>
                      </a:endParaRPr>
                    </a:p>
                  </a:txBody>
                  <a:tcPr marL="63500" marR="635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algn="ctr" indent="0" marL="0">
                        <a:buNone/>
                      </a:pPr>
                      <a:r>
                        <a:rPr lang="en-US" sz="1250" dirty="0">
                          <a:solidFill>
                            <a:srgbClr val="0F172A"/>
                          </a:solidFill>
                          <a:latin typeface="Segoe UI" pitchFamily="34" charset="0"/>
                          <a:ea typeface="Segoe UI" pitchFamily="34" charset="-122"/>
                          <a:cs typeface="Segoe UI" pitchFamily="34" charset="-120"/>
                        </a:rPr>
                        <a:t>45</a:t>
                      </a:r>
                      <a:endParaRPr lang="en-US" sz="1250" dirty="0">
                        <a:latin typeface="Segoe UI" charset="0"/>
                        <a:ea typeface="Segoe UI" charset="0"/>
                        <a:cs typeface="Segoe UI" charset="0"/>
                      </a:endParaRPr>
                    </a:p>
                  </a:txBody>
                  <a:tcPr marL="63500" marR="635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algn="l" indent="0" marL="0">
                        <a:buNone/>
                      </a:pPr>
                      <a:r>
                        <a:rPr lang="en-US" sz="1250" dirty="0">
                          <a:solidFill>
                            <a:srgbClr val="7C3AED"/>
                          </a:solidFill>
                          <a:latin typeface="Segoe UI" pitchFamily="34" charset="0"/>
                          <a:ea typeface="Segoe UI" pitchFamily="34" charset="-122"/>
                          <a:cs typeface="Segoe UI" pitchFamily="34" charset="-120"/>
                        </a:rPr>
                        <a:t>python loadtest\run_workloads.py  (end of run)</a:t>
                      </a:r>
                      <a:endParaRPr lang="en-US" sz="1250" dirty="0">
                        <a:latin typeface="Segoe UI" charset="0"/>
                        <a:ea typeface="Segoe UI" charset="0"/>
                        <a:cs typeface="Segoe UI" charset="0"/>
                      </a:endParaRPr>
                    </a:p>
                  </a:txBody>
                  <a:tcPr marL="63500" marR="635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algn="l" indent="0" marL="0">
                        <a:buNone/>
                      </a:pPr>
                      <a:r>
                        <a:rPr lang="en-US" sz="1250" dirty="0">
                          <a:solidFill>
                            <a:srgbClr val="0F172A"/>
                          </a:solidFill>
                          <a:latin typeface="Segoe UI" pitchFamily="34" charset="0"/>
                          <a:ea typeface="Segoe UI" pitchFamily="34" charset="-122"/>
                          <a:cs typeface="Segoe UI" pitchFamily="34" charset="-120"/>
                        </a:rPr>
                        <a:t>Final observation table</a:t>
                      </a:r>
                      <a:endParaRPr lang="en-US" sz="1250" dirty="0">
                        <a:latin typeface="Segoe UI" charset="0"/>
                        <a:ea typeface="Segoe UI" charset="0"/>
                        <a:cs typeface="Segoe UI" charset="0"/>
                      </a:endParaRPr>
                    </a:p>
                  </a:txBody>
                  <a:tcPr marL="63500" marR="635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r>
            </a:tbl>
          </a:graphicData>
        </a:graphic>
      </p:graphicFrame>
      <p:sp>
        <p:nvSpPr>
          <p:cNvPr id="7" name="frame"/>
          <p:cNvSpPr/>
          <p:nvPr/>
        </p:nvSpPr>
        <p:spPr>
          <a:xfrm>
            <a:off x="493776" y="4014216"/>
            <a:ext cx="6876288" cy="2010447"/>
          </a:xfrm>
          <a:prstGeom prst="roundRect">
            <a:avLst>
              <a:gd name="adj" fmla="val 2729"/>
            </a:avLst>
          </a:prstGeom>
          <a:solidFill>
            <a:srgbClr val="FFFFFF"/>
          </a:solidFill>
          <a:ln w="9525">
            <a:solidFill>
              <a:srgbClr val="CBD5E1"/>
            </a:solidFill>
            <a:prstDash val="solid"/>
          </a:ln>
          <a:effectLst>
            <a:outerShdw sx="100000" sy="100000" kx="0" ky="0" algn="bl" rotWithShape="0" blurRad="76200" dist="25400" dir="5400000">
              <a:srgbClr val="000000">
                <a:alpha val="18000"/>
              </a:srgbClr>
            </a:outerShdw>
          </a:effectLst>
        </p:spPr>
      </p:sp>
      <p:pic>
        <p:nvPicPr>
          <p:cNvPr id="8" name="45_observation_table.png" descr="C:/Users/Asus/Desktop/Cloud_computing/PGC/PGC_lab/CC_github/CC_lab_evaluation/screenshots/CP4_Load_testing/45_observation_table.png">    </p:cNvPr>
          <p:cNvPicPr>
            <a:picLocks noChangeAspect="1"/>
          </p:cNvPicPr>
          <p:nvPr/>
        </p:nvPicPr>
        <p:blipFill>
          <a:blip r:embed="rId1"/>
          <a:stretch>
            <a:fillRect/>
          </a:stretch>
        </p:blipFill>
        <p:spPr>
          <a:xfrm>
            <a:off x="548640" y="4069080"/>
            <a:ext cx="6766560" cy="1900719"/>
          </a:xfrm>
          <a:prstGeom prst="rect">
            <a:avLst/>
          </a:prstGeom>
        </p:spPr>
      </p:pic>
      <p:sp>
        <p:nvSpPr>
          <p:cNvPr id="9" name="Text 4"/>
          <p:cNvSpPr txBox="1"/>
          <p:nvPr/>
        </p:nvSpPr>
        <p:spPr>
          <a:xfrm>
            <a:off x="457200" y="6061239"/>
            <a:ext cx="6949440" cy="292608"/>
          </a:xfrm>
          <a:prstGeom prst="rect">
            <a:avLst/>
          </a:prstGeom>
          <a:noFill/>
          <a:ln/>
        </p:spPr>
        <p:txBody>
          <a:bodyPr wrap="square" lIns="0" tIns="0" rIns="0" bIns="0" rtlCol="0" anchor="ctr"/>
          <a:lstStyle/>
          <a:p>
            <a:pPr algn="ctr" indent="0" marL="0">
              <a:buNone/>
            </a:pPr>
            <a:r>
              <a:rPr lang="en-US" sz="1100" i="1" dirty="0">
                <a:solidFill>
                  <a:schemeClr val="tx2"/>
                </a:solidFill>
              </a:rPr>
              <a:t>Final table printed by run_workloads.py (screenshot 45)</a:t>
            </a:r>
            <a:endParaRPr lang="en-US" sz="1100" dirty="0"/>
          </a:p>
        </p:txBody>
      </p:sp>
      <p:sp>
        <p:nvSpPr>
          <p:cNvPr id="10" name="card"/>
          <p:cNvSpPr/>
          <p:nvPr/>
        </p:nvSpPr>
        <p:spPr>
          <a:xfrm>
            <a:off x="7635240" y="4023360"/>
            <a:ext cx="4023360" cy="2011680"/>
          </a:xfrm>
          <a:prstGeom prst="roundRect">
            <a:avLst>
              <a:gd name="adj" fmla="val 5455"/>
            </a:avLst>
          </a:prstGeom>
          <a:solidFill>
            <a:srgbClr val="FEF3C7"/>
          </a:solidFill>
          <a:ln w="12700">
            <a:solidFill>
              <a:srgbClr val="FEF3C7"/>
            </a:solidFill>
            <a:prstDash val="solid"/>
          </a:ln>
        </p:spPr>
      </p:sp>
      <p:sp>
        <p:nvSpPr>
          <p:cNvPr id="11" name="Text 6"/>
          <p:cNvSpPr txBox="1"/>
          <p:nvPr/>
        </p:nvSpPr>
        <p:spPr>
          <a:xfrm>
            <a:off x="7818120" y="4023360"/>
            <a:ext cx="3703320" cy="2011680"/>
          </a:xfrm>
          <a:prstGeom prst="rect">
            <a:avLst/>
          </a:prstGeom>
          <a:noFill/>
          <a:ln/>
        </p:spPr>
        <p:txBody>
          <a:bodyPr wrap="square" lIns="0" tIns="0" rIns="0" bIns="0" rtlCol="0" anchor="ctr"/>
          <a:lstStyle/>
          <a:p>
            <a:pPr indent="0" marL="0">
              <a:buNone/>
            </a:pPr>
            <a:r>
              <a:rPr lang="en-US" sz="1400" b="1" dirty="0">
                <a:solidFill>
                  <a:srgbClr val="92400E"/>
                </a:solidFill>
              </a:rPr>
              <a:t>Console vs CSV</a:t>
            </a:r>
            <a:endParaRPr lang="en-US" sz="1400" dirty="0"/>
          </a:p>
          <a:p>
            <a:pPr indent="0" marL="0">
              <a:buNone/>
            </a:pPr>
            <a:r>
              <a:rPr lang="en-US" sz="1250" dirty="0">
                <a:solidFill>
                  <a:srgbClr val="0F172A"/>
                </a:solidFill>
              </a:rPr>
              <a:t>Console W1: 5,228 requests. CSV: 5,205. The CSV is saved ~0.3 s before the console summary. Difference &lt; 1 %. We report the CSV.</a:t>
            </a:r>
            <a:endParaRPr lang="en-US" sz="1400" dirty="0"/>
          </a:p>
        </p:txBody>
      </p:sp>
      <p:sp>
        <p:nvSpPr>
          <p:cNvPr id="25" name="Slide Number Placeholder 0"/>
          <p:cNvSpPr>
            <a:spLocks noGrp="1"/>
          </p:cNvSpPr>
          <p:nvPr>
            <p:ph type="sldNum" sz="quarter" idx="4294967295"/>
          </p:nvPr>
        </p:nvSpPr>
        <p:spPr>
          <a:xfrm>
            <a:off x="1115568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235440" cy="777240"/>
          </a:xfrm>
          <a:prstGeom prst="rect">
            <a:avLst/>
          </a:prstGeom>
          <a:noFill/>
          <a:ln/>
        </p:spPr>
        <p:txBody>
          <a:bodyPr wrap="square" lIns="0" tIns="0" rIns="0" bIns="0" rtlCol="0" anchor="ctr"/>
          <a:lstStyle/>
          <a:p>
            <a:pPr algn="l" indent="0" marL="0">
              <a:buNone/>
            </a:pPr>
            <a:r>
              <a:rPr lang="en-US" sz="2800" b="1" dirty="0">
                <a:solidFill>
                  <a:schemeClr val="tx1"/>
                </a:solidFill>
              </a:rPr>
              <a:t>Observation table — all measured values</a:t>
            </a:r>
            <a:endParaRPr lang="en-US" sz="2800" dirty="0"/>
          </a:p>
        </p:txBody>
      </p:sp>
      <p:sp>
        <p:nvSpPr>
          <p:cNvPr id="3" name="cp badge"/>
          <p:cNvSpPr/>
          <p:nvPr/>
        </p:nvSpPr>
        <p:spPr>
          <a:xfrm>
            <a:off x="9921240" y="457200"/>
            <a:ext cx="1737360" cy="438912"/>
          </a:xfrm>
          <a:prstGeom prst="roundRect">
            <a:avLst>
              <a:gd name="adj" fmla="val 50000"/>
            </a:avLst>
          </a:prstGeom>
          <a:solidFill>
            <a:srgbClr val="7C3AED"/>
          </a:solidFill>
          <a:ln w="12700">
            <a:solidFill>
              <a:srgbClr val="7C3AED"/>
            </a:solidFill>
            <a:prstDash val="solid"/>
          </a:ln>
        </p:spPr>
      </p:sp>
      <p:sp>
        <p:nvSpPr>
          <p:cNvPr id="4" name="Text 2"/>
          <p:cNvSpPr txBox="1"/>
          <p:nvPr/>
        </p:nvSpPr>
        <p:spPr>
          <a:xfrm>
            <a:off x="9921240" y="457200"/>
            <a:ext cx="1737360" cy="438912"/>
          </a:xfrm>
          <a:prstGeom prst="rect">
            <a:avLst/>
          </a:prstGeom>
          <a:noFill/>
          <a:ln/>
        </p:spPr>
        <p:txBody>
          <a:bodyPr wrap="square" lIns="0" tIns="0" rIns="0" bIns="0" rtlCol="0" anchor="ctr"/>
          <a:lstStyle/>
          <a:p>
            <a:pPr algn="ctr" indent="0" marL="0">
              <a:buNone/>
            </a:pPr>
            <a:r>
              <a:rPr lang="en-US" sz="1150" b="1" spc="100" kern="0" dirty="0">
                <a:solidFill>
                  <a:schemeClr val="bg1"/>
                </a:solidFill>
              </a:rPr>
              <a:t>CP5 · ANALYSIS</a:t>
            </a:r>
            <a:endParaRPr lang="en-US" sz="115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914400"/>
        </p:xfrm>
        <a:graphic>
          <a:graphicData uri="http://schemas.openxmlformats.org/drawingml/2006/table">
            <a:tbl>
              <a:tblPr/>
              <a:tblGrid>
                <a:gridCol w="1005840"/>
                <a:gridCol w="731520"/>
                <a:gridCol w="1051560"/>
                <a:gridCol w="1051560"/>
                <a:gridCol w="914400"/>
                <a:gridCol w="960120"/>
                <a:gridCol w="1783080"/>
                <a:gridCol w="822960"/>
                <a:gridCol w="1417320"/>
                <a:gridCol w="1371600"/>
              </a:tblGrid>
              <a:tr h="438912">
                <a:tc>
                  <a:txBody>
                    <a:bodyPr/>
                    <a:lstStyle/>
                    <a:p>
                      <a:pPr algn="ctr" indent="0" marL="0">
                        <a:buNone/>
                      </a:pPr>
                      <a:r>
                        <a:rPr lang="en-US" sz="1300" b="1" dirty="0">
                          <a:solidFill>
                            <a:srgbClr val="FFFFFF"/>
                          </a:solidFill>
                          <a:latin typeface="Segoe UI" pitchFamily="34" charset="0"/>
                          <a:ea typeface="Segoe UI" pitchFamily="34" charset="-122"/>
                          <a:cs typeface="Segoe UI" pitchFamily="34" charset="-120"/>
                        </a:rPr>
                        <a:t>Workload</a:t>
                      </a:r>
                      <a:endParaRPr lang="en-US" sz="1300" dirty="0">
                        <a:latin typeface="Segoe UI" charset="0"/>
                        <a:ea typeface="Segoe UI" charset="0"/>
                        <a:cs typeface="Segoe UI" charset="0"/>
                      </a:endParaRPr>
                    </a:p>
                  </a:txBody>
                  <a:tcPr marL="63500" marR="635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7C3AED"/>
                    </a:solidFill>
                  </a:tcPr>
                </a:tc>
                <a:tc>
                  <a:txBody>
                    <a:bodyPr/>
                    <a:lstStyle/>
                    <a:p>
                      <a:pPr algn="ctr" indent="0" marL="0">
                        <a:buNone/>
                      </a:pPr>
                      <a:r>
                        <a:rPr lang="en-US" sz="1300" b="1" dirty="0">
                          <a:solidFill>
                            <a:srgbClr val="FFFFFF"/>
                          </a:solidFill>
                          <a:latin typeface="Segoe UI" pitchFamily="34" charset="0"/>
                          <a:ea typeface="Segoe UI" pitchFamily="34" charset="-122"/>
                          <a:cs typeface="Segoe UI" pitchFamily="34" charset="-120"/>
                        </a:rPr>
                        <a:t>Users</a:t>
                      </a:r>
                      <a:endParaRPr lang="en-US" sz="1300" dirty="0">
                        <a:latin typeface="Segoe UI" charset="0"/>
                        <a:ea typeface="Segoe UI" charset="0"/>
                        <a:cs typeface="Segoe UI" charset="0"/>
                      </a:endParaRPr>
                    </a:p>
                  </a:txBody>
                  <a:tcPr marL="63500" marR="635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7C3AED"/>
                    </a:solidFill>
                  </a:tcPr>
                </a:tc>
                <a:tc>
                  <a:txBody>
                    <a:bodyPr/>
                    <a:lstStyle/>
                    <a:p>
                      <a:pPr algn="ctr" indent="0" marL="0">
                        <a:buNone/>
                      </a:pPr>
                      <a:r>
                        <a:rPr lang="en-US" sz="1300" b="1" dirty="0">
                          <a:solidFill>
                            <a:srgbClr val="FFFFFF"/>
                          </a:solidFill>
                          <a:latin typeface="Segoe UI" pitchFamily="34" charset="0"/>
                          <a:ea typeface="Segoe UI" pitchFamily="34" charset="-122"/>
                          <a:cs typeface="Segoe UI" pitchFamily="34" charset="-120"/>
                        </a:rPr>
                        <a:t>Requests</a:t>
                      </a:r>
                      <a:endParaRPr lang="en-US" sz="1300" dirty="0">
                        <a:latin typeface="Segoe UI" charset="0"/>
                        <a:ea typeface="Segoe UI" charset="0"/>
                        <a:cs typeface="Segoe UI" charset="0"/>
                      </a:endParaRPr>
                    </a:p>
                  </a:txBody>
                  <a:tcPr marL="63500" marR="635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7C3AED"/>
                    </a:solidFill>
                  </a:tcPr>
                </a:tc>
                <a:tc>
                  <a:txBody>
                    <a:bodyPr/>
                    <a:lstStyle/>
                    <a:p>
                      <a:pPr algn="ctr" indent="0" marL="0">
                        <a:buNone/>
                      </a:pPr>
                      <a:r>
                        <a:rPr lang="en-US" sz="1300" b="1" dirty="0">
                          <a:solidFill>
                            <a:srgbClr val="FFFFFF"/>
                          </a:solidFill>
                          <a:latin typeface="Segoe UI" pitchFamily="34" charset="0"/>
                          <a:ea typeface="Segoe UI" pitchFamily="34" charset="-122"/>
                          <a:cs typeface="Segoe UI" pitchFamily="34" charset="-120"/>
                        </a:rPr>
                        <a:t>Avg (ms)</a:t>
                      </a:r>
                      <a:endParaRPr lang="en-US" sz="1300" dirty="0">
                        <a:latin typeface="Segoe UI" charset="0"/>
                        <a:ea typeface="Segoe UI" charset="0"/>
                        <a:cs typeface="Segoe UI" charset="0"/>
                      </a:endParaRPr>
                    </a:p>
                  </a:txBody>
                  <a:tcPr marL="63500" marR="635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7C3AED"/>
                    </a:solidFill>
                  </a:tcPr>
                </a:tc>
                <a:tc>
                  <a:txBody>
                    <a:bodyPr/>
                    <a:lstStyle/>
                    <a:p>
                      <a:pPr algn="ctr" indent="0" marL="0">
                        <a:buNone/>
                      </a:pPr>
                      <a:r>
                        <a:rPr lang="en-US" sz="1300" b="1" dirty="0">
                          <a:solidFill>
                            <a:srgbClr val="FFFFFF"/>
                          </a:solidFill>
                          <a:latin typeface="Segoe UI" pitchFamily="34" charset="0"/>
                          <a:ea typeface="Segoe UI" pitchFamily="34" charset="-122"/>
                          <a:cs typeface="Segoe UI" pitchFamily="34" charset="-120"/>
                        </a:rPr>
                        <a:t>Median</a:t>
                      </a:r>
                      <a:endParaRPr lang="en-US" sz="1300" dirty="0">
                        <a:latin typeface="Segoe UI" charset="0"/>
                        <a:ea typeface="Segoe UI" charset="0"/>
                        <a:cs typeface="Segoe UI" charset="0"/>
                      </a:endParaRPr>
                    </a:p>
                  </a:txBody>
                  <a:tcPr marL="63500" marR="635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7C3AED"/>
                    </a:solidFill>
                  </a:tcPr>
                </a:tc>
                <a:tc>
                  <a:txBody>
                    <a:bodyPr/>
                    <a:lstStyle/>
                    <a:p>
                      <a:pPr algn="ctr" indent="0" marL="0">
                        <a:buNone/>
                      </a:pPr>
                      <a:r>
                        <a:rPr lang="en-US" sz="1300" b="1" dirty="0">
                          <a:solidFill>
                            <a:srgbClr val="FFFFFF"/>
                          </a:solidFill>
                          <a:latin typeface="Segoe UI" pitchFamily="34" charset="0"/>
                          <a:ea typeface="Segoe UI" pitchFamily="34" charset="-122"/>
                          <a:cs typeface="Segoe UI" pitchFamily="34" charset="-120"/>
                        </a:rPr>
                        <a:t>95th pct</a:t>
                      </a:r>
                      <a:endParaRPr lang="en-US" sz="1300" dirty="0">
                        <a:latin typeface="Segoe UI" charset="0"/>
                        <a:ea typeface="Segoe UI" charset="0"/>
                        <a:cs typeface="Segoe UI" charset="0"/>
                      </a:endParaRPr>
                    </a:p>
                  </a:txBody>
                  <a:tcPr marL="63500" marR="635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7C3AED"/>
                    </a:solidFill>
                  </a:tcPr>
                </a:tc>
                <a:tc>
                  <a:txBody>
                    <a:bodyPr/>
                    <a:lstStyle/>
                    <a:p>
                      <a:pPr algn="ctr" indent="0" marL="0">
                        <a:buNone/>
                      </a:pPr>
                      <a:r>
                        <a:rPr lang="en-US" sz="1300" b="1" dirty="0">
                          <a:solidFill>
                            <a:srgbClr val="FFFFFF"/>
                          </a:solidFill>
                          <a:latin typeface="Segoe UI" pitchFamily="34" charset="0"/>
                          <a:ea typeface="Segoe UI" pitchFamily="34" charset="-122"/>
                          <a:cs typeface="Segoe UI" pitchFamily="34" charset="-120"/>
                        </a:rPr>
                        <a:t>Throughput (req/s)</a:t>
                      </a:r>
                      <a:endParaRPr lang="en-US" sz="1300" dirty="0">
                        <a:latin typeface="Segoe UI" charset="0"/>
                        <a:ea typeface="Segoe UI" charset="0"/>
                        <a:cs typeface="Segoe UI" charset="0"/>
                      </a:endParaRPr>
                    </a:p>
                  </a:txBody>
                  <a:tcPr marL="63500" marR="635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7C3AED"/>
                    </a:solidFill>
                  </a:tcPr>
                </a:tc>
                <a:tc>
                  <a:txBody>
                    <a:bodyPr/>
                    <a:lstStyle/>
                    <a:p>
                      <a:pPr algn="ctr" indent="0" marL="0">
                        <a:buNone/>
                      </a:pPr>
                      <a:r>
                        <a:rPr lang="en-US" sz="1300" b="1" dirty="0">
                          <a:solidFill>
                            <a:srgbClr val="FFFFFF"/>
                          </a:solidFill>
                          <a:latin typeface="Segoe UI" pitchFamily="34" charset="0"/>
                          <a:ea typeface="Segoe UI" pitchFamily="34" charset="-122"/>
                          <a:cs typeface="Segoe UI" pitchFamily="34" charset="-120"/>
                        </a:rPr>
                        <a:t>Failed</a:t>
                      </a:r>
                      <a:endParaRPr lang="en-US" sz="1300" dirty="0">
                        <a:latin typeface="Segoe UI" charset="0"/>
                        <a:ea typeface="Segoe UI" charset="0"/>
                        <a:cs typeface="Segoe UI" charset="0"/>
                      </a:endParaRPr>
                    </a:p>
                  </a:txBody>
                  <a:tcPr marL="63500" marR="635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7C3AED"/>
                    </a:solidFill>
                  </a:tcPr>
                </a:tc>
                <a:tc>
                  <a:txBody>
                    <a:bodyPr/>
                    <a:lstStyle/>
                    <a:p>
                      <a:pPr algn="ctr" indent="0" marL="0">
                        <a:buNone/>
                      </a:pPr>
                      <a:r>
                        <a:rPr lang="en-US" sz="1300" b="1" dirty="0">
                          <a:solidFill>
                            <a:srgbClr val="FFFFFF"/>
                          </a:solidFill>
                          <a:latin typeface="Segoe UI" pitchFamily="34" charset="0"/>
                          <a:ea typeface="Segoe UI" pitchFamily="34" charset="-122"/>
                          <a:cs typeface="Segoe UI" pitchFamily="34" charset="-120"/>
                        </a:rPr>
                        <a:t>CPU, 4 svc (%)</a:t>
                      </a:r>
                      <a:endParaRPr lang="en-US" sz="1300" dirty="0">
                        <a:latin typeface="Segoe UI" charset="0"/>
                        <a:ea typeface="Segoe UI" charset="0"/>
                        <a:cs typeface="Segoe UI" charset="0"/>
                      </a:endParaRPr>
                    </a:p>
                  </a:txBody>
                  <a:tcPr marL="63500" marR="635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7C3AED"/>
                    </a:solidFill>
                  </a:tcPr>
                </a:tc>
                <a:tc>
                  <a:txBody>
                    <a:bodyPr/>
                    <a:lstStyle/>
                    <a:p>
                      <a:pPr algn="ctr" indent="0" marL="0">
                        <a:buNone/>
                      </a:pPr>
                      <a:r>
                        <a:rPr lang="en-US" sz="1300" b="1" dirty="0">
                          <a:solidFill>
                            <a:srgbClr val="FFFFFF"/>
                          </a:solidFill>
                          <a:latin typeface="Segoe UI" pitchFamily="34" charset="0"/>
                          <a:ea typeface="Segoe UI" pitchFamily="34" charset="-122"/>
                          <a:cs typeface="Segoe UI" pitchFamily="34" charset="-120"/>
                        </a:rPr>
                        <a:t>Memory (MiB)</a:t>
                      </a:r>
                      <a:endParaRPr lang="en-US" sz="1300" dirty="0">
                        <a:latin typeface="Segoe UI" charset="0"/>
                        <a:ea typeface="Segoe UI" charset="0"/>
                        <a:cs typeface="Segoe UI" charset="0"/>
                      </a:endParaRPr>
                    </a:p>
                  </a:txBody>
                  <a:tcPr marL="63500" marR="635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7C3AED"/>
                    </a:solidFill>
                  </a:tcPr>
                </a:tc>
              </a:tr>
              <a:tr h="438912">
                <a:tc>
                  <a:txBody>
                    <a:bodyPr/>
                    <a:lstStyle/>
                    <a:p>
                      <a:pPr algn="ctr" indent="0" marL="0">
                        <a:buNone/>
                      </a:pPr>
                      <a:r>
                        <a:rPr lang="en-US" sz="1300" dirty="0">
                          <a:solidFill>
                            <a:srgbClr val="0F172A"/>
                          </a:solidFill>
                          <a:latin typeface="Segoe UI" pitchFamily="34" charset="0"/>
                          <a:ea typeface="Segoe UI" pitchFamily="34" charset="-122"/>
                          <a:cs typeface="Segoe UI" pitchFamily="34" charset="-120"/>
                        </a:rPr>
                        <a:t>W1</a:t>
                      </a:r>
                      <a:endParaRPr lang="en-US" sz="1300" dirty="0">
                        <a:latin typeface="Segoe UI" charset="0"/>
                        <a:ea typeface="Segoe UI" charset="0"/>
                        <a:cs typeface="Segoe UI" charset="0"/>
                      </a:endParaRPr>
                    </a:p>
                  </a:txBody>
                  <a:tcPr marL="63500" marR="635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0F172A"/>
                          </a:solidFill>
                          <a:latin typeface="Segoe UI" pitchFamily="34" charset="0"/>
                          <a:ea typeface="Segoe UI" pitchFamily="34" charset="-122"/>
                          <a:cs typeface="Segoe UI" pitchFamily="34" charset="-120"/>
                        </a:rPr>
                        <a:t>1</a:t>
                      </a:r>
                      <a:endParaRPr lang="en-US" sz="1300" dirty="0">
                        <a:latin typeface="Segoe UI" charset="0"/>
                        <a:ea typeface="Segoe UI" charset="0"/>
                        <a:cs typeface="Segoe UI" charset="0"/>
                      </a:endParaRPr>
                    </a:p>
                  </a:txBody>
                  <a:tcPr marL="63500" marR="635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0F172A"/>
                          </a:solidFill>
                          <a:latin typeface="Segoe UI" pitchFamily="34" charset="0"/>
                          <a:ea typeface="Segoe UI" pitchFamily="34" charset="-122"/>
                          <a:cs typeface="Segoe UI" pitchFamily="34" charset="-120"/>
                        </a:rPr>
                        <a:t>5,205</a:t>
                      </a:r>
                      <a:endParaRPr lang="en-US" sz="1300" dirty="0">
                        <a:latin typeface="Segoe UI" charset="0"/>
                        <a:ea typeface="Segoe UI" charset="0"/>
                        <a:cs typeface="Segoe UI" charset="0"/>
                      </a:endParaRPr>
                    </a:p>
                  </a:txBody>
                  <a:tcPr marL="63500" marR="635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0F172A"/>
                          </a:solidFill>
                          <a:latin typeface="Segoe UI" pitchFamily="34" charset="0"/>
                          <a:ea typeface="Segoe UI" pitchFamily="34" charset="-122"/>
                          <a:cs typeface="Segoe UI" pitchFamily="34" charset="-120"/>
                        </a:rPr>
                        <a:t>11.04</a:t>
                      </a:r>
                      <a:endParaRPr lang="en-US" sz="1300" dirty="0">
                        <a:latin typeface="Segoe UI" charset="0"/>
                        <a:ea typeface="Segoe UI" charset="0"/>
                        <a:cs typeface="Segoe UI" charset="0"/>
                      </a:endParaRPr>
                    </a:p>
                  </a:txBody>
                  <a:tcPr marL="63500" marR="635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0F172A"/>
                          </a:solidFill>
                          <a:latin typeface="Segoe UI" pitchFamily="34" charset="0"/>
                          <a:ea typeface="Segoe UI" pitchFamily="34" charset="-122"/>
                          <a:cs typeface="Segoe UI" pitchFamily="34" charset="-120"/>
                        </a:rPr>
                        <a:t>11</a:t>
                      </a:r>
                      <a:endParaRPr lang="en-US" sz="1300" dirty="0">
                        <a:latin typeface="Segoe UI" charset="0"/>
                        <a:ea typeface="Segoe UI" charset="0"/>
                        <a:cs typeface="Segoe UI" charset="0"/>
                      </a:endParaRPr>
                    </a:p>
                  </a:txBody>
                  <a:tcPr marL="63500" marR="635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0F172A"/>
                          </a:solidFill>
                          <a:latin typeface="Segoe UI" pitchFamily="34" charset="0"/>
                          <a:ea typeface="Segoe UI" pitchFamily="34" charset="-122"/>
                          <a:cs typeface="Segoe UI" pitchFamily="34" charset="-120"/>
                        </a:rPr>
                        <a:t>14</a:t>
                      </a:r>
                      <a:endParaRPr lang="en-US" sz="1300" dirty="0">
                        <a:latin typeface="Segoe UI" charset="0"/>
                        <a:ea typeface="Segoe UI" charset="0"/>
                        <a:cs typeface="Segoe UI" charset="0"/>
                      </a:endParaRPr>
                    </a:p>
                  </a:txBody>
                  <a:tcPr marL="63500" marR="635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0F172A"/>
                          </a:solidFill>
                          <a:latin typeface="Segoe UI" pitchFamily="34" charset="0"/>
                          <a:ea typeface="Segoe UI" pitchFamily="34" charset="-122"/>
                          <a:cs typeface="Segoe UI" pitchFamily="34" charset="-120"/>
                        </a:rPr>
                        <a:t>89.45</a:t>
                      </a:r>
                      <a:endParaRPr lang="en-US" sz="1300" dirty="0">
                        <a:latin typeface="Segoe UI" charset="0"/>
                        <a:ea typeface="Segoe UI" charset="0"/>
                        <a:cs typeface="Segoe UI" charset="0"/>
                      </a:endParaRPr>
                    </a:p>
                  </a:txBody>
                  <a:tcPr marL="63500" marR="635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0F172A"/>
                          </a:solidFill>
                          <a:latin typeface="Segoe UI" pitchFamily="34" charset="0"/>
                          <a:ea typeface="Segoe UI" pitchFamily="34" charset="-122"/>
                          <a:cs typeface="Segoe UI" pitchFamily="34" charset="-120"/>
                        </a:rPr>
                        <a:t>0</a:t>
                      </a:r>
                      <a:endParaRPr lang="en-US" sz="1300" dirty="0">
                        <a:latin typeface="Segoe UI" charset="0"/>
                        <a:ea typeface="Segoe UI" charset="0"/>
                        <a:cs typeface="Segoe UI" charset="0"/>
                      </a:endParaRPr>
                    </a:p>
                  </a:txBody>
                  <a:tcPr marL="63500" marR="635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0F172A"/>
                          </a:solidFill>
                          <a:latin typeface="Segoe UI" pitchFamily="34" charset="0"/>
                          <a:ea typeface="Segoe UI" pitchFamily="34" charset="-122"/>
                          <a:cs typeface="Segoe UI" pitchFamily="34" charset="-120"/>
                        </a:rPr>
                        <a:t>128.2</a:t>
                      </a:r>
                      <a:endParaRPr lang="en-US" sz="1300" dirty="0">
                        <a:latin typeface="Segoe UI" charset="0"/>
                        <a:ea typeface="Segoe UI" charset="0"/>
                        <a:cs typeface="Segoe UI" charset="0"/>
                      </a:endParaRPr>
                    </a:p>
                  </a:txBody>
                  <a:tcPr marL="63500" marR="635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0F172A"/>
                          </a:solidFill>
                          <a:latin typeface="Segoe UI" pitchFamily="34" charset="0"/>
                          <a:ea typeface="Segoe UI" pitchFamily="34" charset="-122"/>
                          <a:cs typeface="Segoe UI" pitchFamily="34" charset="-120"/>
                        </a:rPr>
                        <a:t>269.8</a:t>
                      </a:r>
                      <a:endParaRPr lang="en-US" sz="1300" dirty="0">
                        <a:latin typeface="Segoe UI" charset="0"/>
                        <a:ea typeface="Segoe UI" charset="0"/>
                        <a:cs typeface="Segoe UI" charset="0"/>
                      </a:endParaRPr>
                    </a:p>
                  </a:txBody>
                  <a:tcPr marL="63500" marR="635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38912">
                <a:tc>
                  <a:txBody>
                    <a:bodyPr/>
                    <a:lstStyle/>
                    <a:p>
                      <a:pPr algn="ctr" indent="0" marL="0">
                        <a:buNone/>
                      </a:pPr>
                      <a:r>
                        <a:rPr lang="en-US" sz="1300" dirty="0">
                          <a:solidFill>
                            <a:srgbClr val="0F172A"/>
                          </a:solidFill>
                          <a:latin typeface="Segoe UI" pitchFamily="34" charset="0"/>
                          <a:ea typeface="Segoe UI" pitchFamily="34" charset="-122"/>
                          <a:cs typeface="Segoe UI" pitchFamily="34" charset="-120"/>
                        </a:rPr>
                        <a:t>W2</a:t>
                      </a:r>
                      <a:endParaRPr lang="en-US" sz="1300" dirty="0">
                        <a:latin typeface="Segoe UI" charset="0"/>
                        <a:ea typeface="Segoe UI" charset="0"/>
                        <a:cs typeface="Segoe UI" charset="0"/>
                      </a:endParaRPr>
                    </a:p>
                  </a:txBody>
                  <a:tcPr marL="63500" marR="635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algn="ctr" indent="0" marL="0">
                        <a:buNone/>
                      </a:pPr>
                      <a:r>
                        <a:rPr lang="en-US" sz="1300" dirty="0">
                          <a:solidFill>
                            <a:srgbClr val="0F172A"/>
                          </a:solidFill>
                          <a:latin typeface="Segoe UI" pitchFamily="34" charset="0"/>
                          <a:ea typeface="Segoe UI" pitchFamily="34" charset="-122"/>
                          <a:cs typeface="Segoe UI" pitchFamily="34" charset="-120"/>
                        </a:rPr>
                        <a:t>2</a:t>
                      </a:r>
                      <a:endParaRPr lang="en-US" sz="1300" dirty="0">
                        <a:latin typeface="Segoe UI" charset="0"/>
                        <a:ea typeface="Segoe UI" charset="0"/>
                        <a:cs typeface="Segoe UI" charset="0"/>
                      </a:endParaRPr>
                    </a:p>
                  </a:txBody>
                  <a:tcPr marL="63500" marR="635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algn="ctr" indent="0" marL="0">
                        <a:buNone/>
                      </a:pPr>
                      <a:r>
                        <a:rPr lang="en-US" sz="1300" dirty="0">
                          <a:solidFill>
                            <a:srgbClr val="0F172A"/>
                          </a:solidFill>
                          <a:latin typeface="Segoe UI" pitchFamily="34" charset="0"/>
                          <a:ea typeface="Segoe UI" pitchFamily="34" charset="-122"/>
                          <a:cs typeface="Segoe UI" pitchFamily="34" charset="-120"/>
                        </a:rPr>
                        <a:t>9,348</a:t>
                      </a:r>
                      <a:endParaRPr lang="en-US" sz="1300" dirty="0">
                        <a:latin typeface="Segoe UI" charset="0"/>
                        <a:ea typeface="Segoe UI" charset="0"/>
                        <a:cs typeface="Segoe UI" charset="0"/>
                      </a:endParaRPr>
                    </a:p>
                  </a:txBody>
                  <a:tcPr marL="63500" marR="635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algn="ctr" indent="0" marL="0">
                        <a:buNone/>
                      </a:pPr>
                      <a:r>
                        <a:rPr lang="en-US" sz="1300" dirty="0">
                          <a:solidFill>
                            <a:srgbClr val="0F172A"/>
                          </a:solidFill>
                          <a:latin typeface="Segoe UI" pitchFamily="34" charset="0"/>
                          <a:ea typeface="Segoe UI" pitchFamily="34" charset="-122"/>
                          <a:cs typeface="Segoe UI" pitchFamily="34" charset="-120"/>
                        </a:rPr>
                        <a:t>12.32</a:t>
                      </a:r>
                      <a:endParaRPr lang="en-US" sz="1300" dirty="0">
                        <a:latin typeface="Segoe UI" charset="0"/>
                        <a:ea typeface="Segoe UI" charset="0"/>
                        <a:cs typeface="Segoe UI" charset="0"/>
                      </a:endParaRPr>
                    </a:p>
                  </a:txBody>
                  <a:tcPr marL="63500" marR="635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algn="ctr" indent="0" marL="0">
                        <a:buNone/>
                      </a:pPr>
                      <a:r>
                        <a:rPr lang="en-US" sz="1300" dirty="0">
                          <a:solidFill>
                            <a:srgbClr val="0F172A"/>
                          </a:solidFill>
                          <a:latin typeface="Segoe UI" pitchFamily="34" charset="0"/>
                          <a:ea typeface="Segoe UI" pitchFamily="34" charset="-122"/>
                          <a:cs typeface="Segoe UI" pitchFamily="34" charset="-120"/>
                        </a:rPr>
                        <a:t>12</a:t>
                      </a:r>
                      <a:endParaRPr lang="en-US" sz="1300" dirty="0">
                        <a:latin typeface="Segoe UI" charset="0"/>
                        <a:ea typeface="Segoe UI" charset="0"/>
                        <a:cs typeface="Segoe UI" charset="0"/>
                      </a:endParaRPr>
                    </a:p>
                  </a:txBody>
                  <a:tcPr marL="63500" marR="635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algn="ctr" indent="0" marL="0">
                        <a:buNone/>
                      </a:pPr>
                      <a:r>
                        <a:rPr lang="en-US" sz="1300" dirty="0">
                          <a:solidFill>
                            <a:srgbClr val="0F172A"/>
                          </a:solidFill>
                          <a:latin typeface="Segoe UI" pitchFamily="34" charset="0"/>
                          <a:ea typeface="Segoe UI" pitchFamily="34" charset="-122"/>
                          <a:cs typeface="Segoe UI" pitchFamily="34" charset="-120"/>
                        </a:rPr>
                        <a:t>17</a:t>
                      </a:r>
                      <a:endParaRPr lang="en-US" sz="1300" dirty="0">
                        <a:latin typeface="Segoe UI" charset="0"/>
                        <a:ea typeface="Segoe UI" charset="0"/>
                        <a:cs typeface="Segoe UI" charset="0"/>
                      </a:endParaRPr>
                    </a:p>
                  </a:txBody>
                  <a:tcPr marL="63500" marR="635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algn="ctr" indent="0" marL="0">
                        <a:buNone/>
                      </a:pPr>
                      <a:r>
                        <a:rPr lang="en-US" sz="1300" dirty="0">
                          <a:solidFill>
                            <a:srgbClr val="0F172A"/>
                          </a:solidFill>
                          <a:latin typeface="Segoe UI" pitchFamily="34" charset="0"/>
                          <a:ea typeface="Segoe UI" pitchFamily="34" charset="-122"/>
                          <a:cs typeface="Segoe UI" pitchFamily="34" charset="-120"/>
                        </a:rPr>
                        <a:t>160.58</a:t>
                      </a:r>
                      <a:endParaRPr lang="en-US" sz="1300" dirty="0">
                        <a:latin typeface="Segoe UI" charset="0"/>
                        <a:ea typeface="Segoe UI" charset="0"/>
                        <a:cs typeface="Segoe UI" charset="0"/>
                      </a:endParaRPr>
                    </a:p>
                  </a:txBody>
                  <a:tcPr marL="63500" marR="635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algn="ctr" indent="0" marL="0">
                        <a:buNone/>
                      </a:pPr>
                      <a:r>
                        <a:rPr lang="en-US" sz="1300" dirty="0">
                          <a:solidFill>
                            <a:srgbClr val="0F172A"/>
                          </a:solidFill>
                          <a:latin typeface="Segoe UI" pitchFamily="34" charset="0"/>
                          <a:ea typeface="Segoe UI" pitchFamily="34" charset="-122"/>
                          <a:cs typeface="Segoe UI" pitchFamily="34" charset="-120"/>
                        </a:rPr>
                        <a:t>0</a:t>
                      </a:r>
                      <a:endParaRPr lang="en-US" sz="1300" dirty="0">
                        <a:latin typeface="Segoe UI" charset="0"/>
                        <a:ea typeface="Segoe UI" charset="0"/>
                        <a:cs typeface="Segoe UI" charset="0"/>
                      </a:endParaRPr>
                    </a:p>
                  </a:txBody>
                  <a:tcPr marL="63500" marR="635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algn="ctr" indent="0" marL="0">
                        <a:buNone/>
                      </a:pPr>
                      <a:r>
                        <a:rPr lang="en-US" sz="1300" dirty="0">
                          <a:solidFill>
                            <a:srgbClr val="0F172A"/>
                          </a:solidFill>
                          <a:latin typeface="Segoe UI" pitchFamily="34" charset="0"/>
                          <a:ea typeface="Segoe UI" pitchFamily="34" charset="-122"/>
                          <a:cs typeface="Segoe UI" pitchFamily="34" charset="-120"/>
                        </a:rPr>
                        <a:t>190.5</a:t>
                      </a:r>
                      <a:endParaRPr lang="en-US" sz="1300" dirty="0">
                        <a:latin typeface="Segoe UI" charset="0"/>
                        <a:ea typeface="Segoe UI" charset="0"/>
                        <a:cs typeface="Segoe UI" charset="0"/>
                      </a:endParaRPr>
                    </a:p>
                  </a:txBody>
                  <a:tcPr marL="63500" marR="635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algn="ctr" indent="0" marL="0">
                        <a:buNone/>
                      </a:pPr>
                      <a:r>
                        <a:rPr lang="en-US" sz="1300" dirty="0">
                          <a:solidFill>
                            <a:srgbClr val="0F172A"/>
                          </a:solidFill>
                          <a:latin typeface="Segoe UI" pitchFamily="34" charset="0"/>
                          <a:ea typeface="Segoe UI" pitchFamily="34" charset="-122"/>
                          <a:cs typeface="Segoe UI" pitchFamily="34" charset="-120"/>
                        </a:rPr>
                        <a:t>268.4</a:t>
                      </a:r>
                      <a:endParaRPr lang="en-US" sz="1300" dirty="0">
                        <a:latin typeface="Segoe UI" charset="0"/>
                        <a:ea typeface="Segoe UI" charset="0"/>
                        <a:cs typeface="Segoe UI" charset="0"/>
                      </a:endParaRPr>
                    </a:p>
                  </a:txBody>
                  <a:tcPr marL="63500" marR="635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r>
              <a:tr h="438912">
                <a:tc>
                  <a:txBody>
                    <a:bodyPr/>
                    <a:lstStyle/>
                    <a:p>
                      <a:pPr algn="ctr" indent="0" marL="0">
                        <a:buNone/>
                      </a:pPr>
                      <a:r>
                        <a:rPr lang="en-US" sz="1300" b="1" dirty="0">
                          <a:solidFill>
                            <a:srgbClr val="0F172A"/>
                          </a:solidFill>
                          <a:latin typeface="Segoe UI" pitchFamily="34" charset="0"/>
                          <a:ea typeface="Segoe UI" pitchFamily="34" charset="-122"/>
                          <a:cs typeface="Segoe UI" pitchFamily="34" charset="-120"/>
                        </a:rPr>
                        <a:t>W3</a:t>
                      </a:r>
                      <a:endParaRPr lang="en-US" sz="1300" dirty="0">
                        <a:latin typeface="Segoe UI" charset="0"/>
                        <a:ea typeface="Segoe UI" charset="0"/>
                        <a:cs typeface="Segoe UI" charset="0"/>
                      </a:endParaRPr>
                    </a:p>
                  </a:txBody>
                  <a:tcPr marL="63500" marR="635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DE9FE"/>
                    </a:solidFill>
                  </a:tcPr>
                </a:tc>
                <a:tc>
                  <a:txBody>
                    <a:bodyPr/>
                    <a:lstStyle/>
                    <a:p>
                      <a:pPr algn="ctr" indent="0" marL="0">
                        <a:buNone/>
                      </a:pPr>
                      <a:r>
                        <a:rPr lang="en-US" sz="1300" b="1" dirty="0">
                          <a:solidFill>
                            <a:srgbClr val="0F172A"/>
                          </a:solidFill>
                          <a:latin typeface="Segoe UI" pitchFamily="34" charset="0"/>
                          <a:ea typeface="Segoe UI" pitchFamily="34" charset="-122"/>
                          <a:cs typeface="Segoe UI" pitchFamily="34" charset="-120"/>
                        </a:rPr>
                        <a:t>4</a:t>
                      </a:r>
                      <a:endParaRPr lang="en-US" sz="1300" dirty="0">
                        <a:latin typeface="Segoe UI" charset="0"/>
                        <a:ea typeface="Segoe UI" charset="0"/>
                        <a:cs typeface="Segoe UI" charset="0"/>
                      </a:endParaRPr>
                    </a:p>
                  </a:txBody>
                  <a:tcPr marL="63500" marR="635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DE9FE"/>
                    </a:solidFill>
                  </a:tcPr>
                </a:tc>
                <a:tc>
                  <a:txBody>
                    <a:bodyPr/>
                    <a:lstStyle/>
                    <a:p>
                      <a:pPr algn="ctr" indent="0" marL="0">
                        <a:buNone/>
                      </a:pPr>
                      <a:r>
                        <a:rPr lang="en-US" sz="1300" b="1" dirty="0">
                          <a:solidFill>
                            <a:srgbClr val="0F172A"/>
                          </a:solidFill>
                          <a:latin typeface="Segoe UI" pitchFamily="34" charset="0"/>
                          <a:ea typeface="Segoe UI" pitchFamily="34" charset="-122"/>
                          <a:cs typeface="Segoe UI" pitchFamily="34" charset="-120"/>
                        </a:rPr>
                        <a:t>9,361</a:t>
                      </a:r>
                      <a:endParaRPr lang="en-US" sz="1300" dirty="0">
                        <a:latin typeface="Segoe UI" charset="0"/>
                        <a:ea typeface="Segoe UI" charset="0"/>
                        <a:cs typeface="Segoe UI" charset="0"/>
                      </a:endParaRPr>
                    </a:p>
                  </a:txBody>
                  <a:tcPr marL="63500" marR="635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DE9FE"/>
                    </a:solidFill>
                  </a:tcPr>
                </a:tc>
                <a:tc>
                  <a:txBody>
                    <a:bodyPr/>
                    <a:lstStyle/>
                    <a:p>
                      <a:pPr algn="ctr" indent="0" marL="0">
                        <a:buNone/>
                      </a:pPr>
                      <a:r>
                        <a:rPr lang="en-US" sz="1300" b="1" dirty="0">
                          <a:solidFill>
                            <a:srgbClr val="0F172A"/>
                          </a:solidFill>
                          <a:latin typeface="Segoe UI" pitchFamily="34" charset="0"/>
                          <a:ea typeface="Segoe UI" pitchFamily="34" charset="-122"/>
                          <a:cs typeface="Segoe UI" pitchFamily="34" charset="-120"/>
                        </a:rPr>
                        <a:t>24.69</a:t>
                      </a:r>
                      <a:endParaRPr lang="en-US" sz="1300" dirty="0">
                        <a:latin typeface="Segoe UI" charset="0"/>
                        <a:ea typeface="Segoe UI" charset="0"/>
                        <a:cs typeface="Segoe UI" charset="0"/>
                      </a:endParaRPr>
                    </a:p>
                  </a:txBody>
                  <a:tcPr marL="63500" marR="635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DE9FE"/>
                    </a:solidFill>
                  </a:tcPr>
                </a:tc>
                <a:tc>
                  <a:txBody>
                    <a:bodyPr/>
                    <a:lstStyle/>
                    <a:p>
                      <a:pPr algn="ctr" indent="0" marL="0">
                        <a:buNone/>
                      </a:pPr>
                      <a:r>
                        <a:rPr lang="en-US" sz="1300" b="1" dirty="0">
                          <a:solidFill>
                            <a:srgbClr val="0F172A"/>
                          </a:solidFill>
                          <a:latin typeface="Segoe UI" pitchFamily="34" charset="0"/>
                          <a:ea typeface="Segoe UI" pitchFamily="34" charset="-122"/>
                          <a:cs typeface="Segoe UI" pitchFamily="34" charset="-120"/>
                        </a:rPr>
                        <a:t>24</a:t>
                      </a:r>
                      <a:endParaRPr lang="en-US" sz="1300" dirty="0">
                        <a:latin typeface="Segoe UI" charset="0"/>
                        <a:ea typeface="Segoe UI" charset="0"/>
                        <a:cs typeface="Segoe UI" charset="0"/>
                      </a:endParaRPr>
                    </a:p>
                  </a:txBody>
                  <a:tcPr marL="63500" marR="635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DE9FE"/>
                    </a:solidFill>
                  </a:tcPr>
                </a:tc>
                <a:tc>
                  <a:txBody>
                    <a:bodyPr/>
                    <a:lstStyle/>
                    <a:p>
                      <a:pPr algn="ctr" indent="0" marL="0">
                        <a:buNone/>
                      </a:pPr>
                      <a:r>
                        <a:rPr lang="en-US" sz="1300" b="1" dirty="0">
                          <a:solidFill>
                            <a:srgbClr val="0F172A"/>
                          </a:solidFill>
                          <a:latin typeface="Segoe UI" pitchFamily="34" charset="0"/>
                          <a:ea typeface="Segoe UI" pitchFamily="34" charset="-122"/>
                          <a:cs typeface="Segoe UI" pitchFamily="34" charset="-120"/>
                        </a:rPr>
                        <a:t>35</a:t>
                      </a:r>
                      <a:endParaRPr lang="en-US" sz="1300" dirty="0">
                        <a:latin typeface="Segoe UI" charset="0"/>
                        <a:ea typeface="Segoe UI" charset="0"/>
                        <a:cs typeface="Segoe UI" charset="0"/>
                      </a:endParaRPr>
                    </a:p>
                  </a:txBody>
                  <a:tcPr marL="63500" marR="635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DE9FE"/>
                    </a:solidFill>
                  </a:tcPr>
                </a:tc>
                <a:tc>
                  <a:txBody>
                    <a:bodyPr/>
                    <a:lstStyle/>
                    <a:p>
                      <a:pPr algn="ctr" indent="0" marL="0">
                        <a:buNone/>
                      </a:pPr>
                      <a:r>
                        <a:rPr lang="en-US" sz="1300" b="1" dirty="0">
                          <a:solidFill>
                            <a:srgbClr val="7C3AED"/>
                          </a:solidFill>
                          <a:latin typeface="Segoe UI" pitchFamily="34" charset="0"/>
                          <a:ea typeface="Segoe UI" pitchFamily="34" charset="-122"/>
                          <a:cs typeface="Segoe UI" pitchFamily="34" charset="-120"/>
                        </a:rPr>
                        <a:t>160.83  peak</a:t>
                      </a:r>
                      <a:endParaRPr lang="en-US" sz="1300" dirty="0">
                        <a:latin typeface="Segoe UI" charset="0"/>
                        <a:ea typeface="Segoe UI" charset="0"/>
                        <a:cs typeface="Segoe UI" charset="0"/>
                      </a:endParaRPr>
                    </a:p>
                  </a:txBody>
                  <a:tcPr marL="63500" marR="635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DE9FE"/>
                    </a:solidFill>
                  </a:tcPr>
                </a:tc>
                <a:tc>
                  <a:txBody>
                    <a:bodyPr/>
                    <a:lstStyle/>
                    <a:p>
                      <a:pPr algn="ctr" indent="0" marL="0">
                        <a:buNone/>
                      </a:pPr>
                      <a:r>
                        <a:rPr lang="en-US" sz="1300" b="1" dirty="0">
                          <a:solidFill>
                            <a:srgbClr val="0F172A"/>
                          </a:solidFill>
                          <a:latin typeface="Segoe UI" pitchFamily="34" charset="0"/>
                          <a:ea typeface="Segoe UI" pitchFamily="34" charset="-122"/>
                          <a:cs typeface="Segoe UI" pitchFamily="34" charset="-120"/>
                        </a:rPr>
                        <a:t>0</a:t>
                      </a:r>
                      <a:endParaRPr lang="en-US" sz="1300" dirty="0">
                        <a:latin typeface="Segoe UI" charset="0"/>
                        <a:ea typeface="Segoe UI" charset="0"/>
                        <a:cs typeface="Segoe UI" charset="0"/>
                      </a:endParaRPr>
                    </a:p>
                  </a:txBody>
                  <a:tcPr marL="63500" marR="635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DE9FE"/>
                    </a:solidFill>
                  </a:tcPr>
                </a:tc>
                <a:tc>
                  <a:txBody>
                    <a:bodyPr/>
                    <a:lstStyle/>
                    <a:p>
                      <a:pPr algn="ctr" indent="0" marL="0">
                        <a:buNone/>
                      </a:pPr>
                      <a:r>
                        <a:rPr lang="en-US" sz="1300" b="1" dirty="0">
                          <a:solidFill>
                            <a:srgbClr val="0F172A"/>
                          </a:solidFill>
                          <a:latin typeface="Segoe UI" pitchFamily="34" charset="0"/>
                          <a:ea typeface="Segoe UI" pitchFamily="34" charset="-122"/>
                          <a:cs typeface="Segoe UI" pitchFamily="34" charset="-120"/>
                        </a:rPr>
                        <a:t>234.7</a:t>
                      </a:r>
                      <a:endParaRPr lang="en-US" sz="1300" dirty="0">
                        <a:latin typeface="Segoe UI" charset="0"/>
                        <a:ea typeface="Segoe UI" charset="0"/>
                        <a:cs typeface="Segoe UI" charset="0"/>
                      </a:endParaRPr>
                    </a:p>
                  </a:txBody>
                  <a:tcPr marL="63500" marR="635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DE9FE"/>
                    </a:solidFill>
                  </a:tcPr>
                </a:tc>
                <a:tc>
                  <a:txBody>
                    <a:bodyPr/>
                    <a:lstStyle/>
                    <a:p>
                      <a:pPr algn="ctr" indent="0" marL="0">
                        <a:buNone/>
                      </a:pPr>
                      <a:r>
                        <a:rPr lang="en-US" sz="1300" b="1" dirty="0">
                          <a:solidFill>
                            <a:srgbClr val="0F172A"/>
                          </a:solidFill>
                          <a:latin typeface="Segoe UI" pitchFamily="34" charset="0"/>
                          <a:ea typeface="Segoe UI" pitchFamily="34" charset="-122"/>
                          <a:cs typeface="Segoe UI" pitchFamily="34" charset="-120"/>
                        </a:rPr>
                        <a:t>257.4</a:t>
                      </a:r>
                      <a:endParaRPr lang="en-US" sz="1300" dirty="0">
                        <a:latin typeface="Segoe UI" charset="0"/>
                        <a:ea typeface="Segoe UI" charset="0"/>
                        <a:cs typeface="Segoe UI" charset="0"/>
                      </a:endParaRPr>
                    </a:p>
                  </a:txBody>
                  <a:tcPr marL="63500" marR="635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DE9FE"/>
                    </a:solidFill>
                  </a:tcPr>
                </a:tc>
              </a:tr>
              <a:tr h="438912">
                <a:tc>
                  <a:txBody>
                    <a:bodyPr/>
                    <a:lstStyle/>
                    <a:p>
                      <a:pPr algn="ctr" indent="0" marL="0">
                        <a:buNone/>
                      </a:pPr>
                      <a:r>
                        <a:rPr lang="en-US" sz="1300" dirty="0">
                          <a:solidFill>
                            <a:srgbClr val="0F172A"/>
                          </a:solidFill>
                          <a:latin typeface="Segoe UI" pitchFamily="34" charset="0"/>
                          <a:ea typeface="Segoe UI" pitchFamily="34" charset="-122"/>
                          <a:cs typeface="Segoe UI" pitchFamily="34" charset="-120"/>
                        </a:rPr>
                        <a:t>W4</a:t>
                      </a:r>
                      <a:endParaRPr lang="en-US" sz="1300" dirty="0">
                        <a:latin typeface="Segoe UI" charset="0"/>
                        <a:ea typeface="Segoe UI" charset="0"/>
                        <a:cs typeface="Segoe UI" charset="0"/>
                      </a:endParaRPr>
                    </a:p>
                  </a:txBody>
                  <a:tcPr marL="63500" marR="635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algn="ctr" indent="0" marL="0">
                        <a:buNone/>
                      </a:pPr>
                      <a:r>
                        <a:rPr lang="en-US" sz="1300" dirty="0">
                          <a:solidFill>
                            <a:srgbClr val="0F172A"/>
                          </a:solidFill>
                          <a:latin typeface="Segoe UI" pitchFamily="34" charset="0"/>
                          <a:ea typeface="Segoe UI" pitchFamily="34" charset="-122"/>
                          <a:cs typeface="Segoe UI" pitchFamily="34" charset="-120"/>
                        </a:rPr>
                        <a:t>8</a:t>
                      </a:r>
                      <a:endParaRPr lang="en-US" sz="1300" dirty="0">
                        <a:latin typeface="Segoe UI" charset="0"/>
                        <a:ea typeface="Segoe UI" charset="0"/>
                        <a:cs typeface="Segoe UI" charset="0"/>
                      </a:endParaRPr>
                    </a:p>
                  </a:txBody>
                  <a:tcPr marL="63500" marR="635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algn="ctr" indent="0" marL="0">
                        <a:buNone/>
                      </a:pPr>
                      <a:r>
                        <a:rPr lang="en-US" sz="1300" dirty="0">
                          <a:solidFill>
                            <a:srgbClr val="0F172A"/>
                          </a:solidFill>
                          <a:latin typeface="Segoe UI" pitchFamily="34" charset="0"/>
                          <a:ea typeface="Segoe UI" pitchFamily="34" charset="-122"/>
                          <a:cs typeface="Segoe UI" pitchFamily="34" charset="-120"/>
                        </a:rPr>
                        <a:t>8,725</a:t>
                      </a:r>
                      <a:endParaRPr lang="en-US" sz="1300" dirty="0">
                        <a:latin typeface="Segoe UI" charset="0"/>
                        <a:ea typeface="Segoe UI" charset="0"/>
                        <a:cs typeface="Segoe UI" charset="0"/>
                      </a:endParaRPr>
                    </a:p>
                  </a:txBody>
                  <a:tcPr marL="63500" marR="635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algn="ctr" indent="0" marL="0">
                        <a:buNone/>
                      </a:pPr>
                      <a:r>
                        <a:rPr lang="en-US" sz="1300" dirty="0">
                          <a:solidFill>
                            <a:srgbClr val="0F172A"/>
                          </a:solidFill>
                          <a:latin typeface="Segoe UI" pitchFamily="34" charset="0"/>
                          <a:ea typeface="Segoe UI" pitchFamily="34" charset="-122"/>
                          <a:cs typeface="Segoe UI" pitchFamily="34" charset="-120"/>
                        </a:rPr>
                        <a:t>53.16</a:t>
                      </a:r>
                      <a:endParaRPr lang="en-US" sz="1300" dirty="0">
                        <a:latin typeface="Segoe UI" charset="0"/>
                        <a:ea typeface="Segoe UI" charset="0"/>
                        <a:cs typeface="Segoe UI" charset="0"/>
                      </a:endParaRPr>
                    </a:p>
                  </a:txBody>
                  <a:tcPr marL="63500" marR="635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algn="ctr" indent="0" marL="0">
                        <a:buNone/>
                      </a:pPr>
                      <a:r>
                        <a:rPr lang="en-US" sz="1300" dirty="0">
                          <a:solidFill>
                            <a:srgbClr val="0F172A"/>
                          </a:solidFill>
                          <a:latin typeface="Segoe UI" pitchFamily="34" charset="0"/>
                          <a:ea typeface="Segoe UI" pitchFamily="34" charset="-122"/>
                          <a:cs typeface="Segoe UI" pitchFamily="34" charset="-120"/>
                        </a:rPr>
                        <a:t>52</a:t>
                      </a:r>
                      <a:endParaRPr lang="en-US" sz="1300" dirty="0">
                        <a:latin typeface="Segoe UI" charset="0"/>
                        <a:ea typeface="Segoe UI" charset="0"/>
                        <a:cs typeface="Segoe UI" charset="0"/>
                      </a:endParaRPr>
                    </a:p>
                  </a:txBody>
                  <a:tcPr marL="63500" marR="635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algn="ctr" indent="0" marL="0">
                        <a:buNone/>
                      </a:pPr>
                      <a:r>
                        <a:rPr lang="en-US" sz="1300" dirty="0">
                          <a:solidFill>
                            <a:srgbClr val="0F172A"/>
                          </a:solidFill>
                          <a:latin typeface="Segoe UI" pitchFamily="34" charset="0"/>
                          <a:ea typeface="Segoe UI" pitchFamily="34" charset="-122"/>
                          <a:cs typeface="Segoe UI" pitchFamily="34" charset="-120"/>
                        </a:rPr>
                        <a:t>74</a:t>
                      </a:r>
                      <a:endParaRPr lang="en-US" sz="1300" dirty="0">
                        <a:latin typeface="Segoe UI" charset="0"/>
                        <a:ea typeface="Segoe UI" charset="0"/>
                        <a:cs typeface="Segoe UI" charset="0"/>
                      </a:endParaRPr>
                    </a:p>
                  </a:txBody>
                  <a:tcPr marL="63500" marR="635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algn="ctr" indent="0" marL="0">
                        <a:buNone/>
                      </a:pPr>
                      <a:r>
                        <a:rPr lang="en-US" sz="1300" dirty="0">
                          <a:solidFill>
                            <a:srgbClr val="0F172A"/>
                          </a:solidFill>
                          <a:latin typeface="Segoe UI" pitchFamily="34" charset="0"/>
                          <a:ea typeface="Segoe UI" pitchFamily="34" charset="-122"/>
                          <a:cs typeface="Segoe UI" pitchFamily="34" charset="-120"/>
                        </a:rPr>
                        <a:t>149.93</a:t>
                      </a:r>
                      <a:endParaRPr lang="en-US" sz="1300" dirty="0">
                        <a:latin typeface="Segoe UI" charset="0"/>
                        <a:ea typeface="Segoe UI" charset="0"/>
                        <a:cs typeface="Segoe UI" charset="0"/>
                      </a:endParaRPr>
                    </a:p>
                  </a:txBody>
                  <a:tcPr marL="63500" marR="635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algn="ctr" indent="0" marL="0">
                        <a:buNone/>
                      </a:pPr>
                      <a:r>
                        <a:rPr lang="en-US" sz="1300" dirty="0">
                          <a:solidFill>
                            <a:srgbClr val="0F172A"/>
                          </a:solidFill>
                          <a:latin typeface="Segoe UI" pitchFamily="34" charset="0"/>
                          <a:ea typeface="Segoe UI" pitchFamily="34" charset="-122"/>
                          <a:cs typeface="Segoe UI" pitchFamily="34" charset="-120"/>
                        </a:rPr>
                        <a:t>0</a:t>
                      </a:r>
                      <a:endParaRPr lang="en-US" sz="1300" dirty="0">
                        <a:latin typeface="Segoe UI" charset="0"/>
                        <a:ea typeface="Segoe UI" charset="0"/>
                        <a:cs typeface="Segoe UI" charset="0"/>
                      </a:endParaRPr>
                    </a:p>
                  </a:txBody>
                  <a:tcPr marL="63500" marR="635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algn="ctr" indent="0" marL="0">
                        <a:buNone/>
                      </a:pPr>
                      <a:r>
                        <a:rPr lang="en-US" sz="1300" dirty="0">
                          <a:solidFill>
                            <a:srgbClr val="0F172A"/>
                          </a:solidFill>
                          <a:latin typeface="Segoe UI" pitchFamily="34" charset="0"/>
                          <a:ea typeface="Segoe UI" pitchFamily="34" charset="-122"/>
                          <a:cs typeface="Segoe UI" pitchFamily="34" charset="-120"/>
                        </a:rPr>
                        <a:t>230.3</a:t>
                      </a:r>
                      <a:endParaRPr lang="en-US" sz="1300" dirty="0">
                        <a:latin typeface="Segoe UI" charset="0"/>
                        <a:ea typeface="Segoe UI" charset="0"/>
                        <a:cs typeface="Segoe UI" charset="0"/>
                      </a:endParaRPr>
                    </a:p>
                  </a:txBody>
                  <a:tcPr marL="63500" marR="635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algn="ctr" indent="0" marL="0">
                        <a:buNone/>
                      </a:pPr>
                      <a:r>
                        <a:rPr lang="en-US" sz="1300" dirty="0">
                          <a:solidFill>
                            <a:srgbClr val="0F172A"/>
                          </a:solidFill>
                          <a:latin typeface="Segoe UI" pitchFamily="34" charset="0"/>
                          <a:ea typeface="Segoe UI" pitchFamily="34" charset="-122"/>
                          <a:cs typeface="Segoe UI" pitchFamily="34" charset="-120"/>
                        </a:rPr>
                        <a:t>270.4</a:t>
                      </a:r>
                      <a:endParaRPr lang="en-US" sz="1300" dirty="0">
                        <a:latin typeface="Segoe UI" charset="0"/>
                        <a:ea typeface="Segoe UI" charset="0"/>
                        <a:cs typeface="Segoe UI" charset="0"/>
                      </a:endParaRPr>
                    </a:p>
                  </a:txBody>
                  <a:tcPr marL="63500" marR="635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r>
              <a:tr h="438912">
                <a:tc>
                  <a:txBody>
                    <a:bodyPr/>
                    <a:lstStyle/>
                    <a:p>
                      <a:pPr algn="ctr" indent="0" marL="0">
                        <a:buNone/>
                      </a:pPr>
                      <a:r>
                        <a:rPr lang="en-US" sz="1300" dirty="0">
                          <a:solidFill>
                            <a:srgbClr val="0F172A"/>
                          </a:solidFill>
                          <a:latin typeface="Segoe UI" pitchFamily="34" charset="0"/>
                          <a:ea typeface="Segoe UI" pitchFamily="34" charset="-122"/>
                          <a:cs typeface="Segoe UI" pitchFamily="34" charset="-120"/>
                        </a:rPr>
                        <a:t>W5</a:t>
                      </a:r>
                      <a:endParaRPr lang="en-US" sz="1300" dirty="0">
                        <a:latin typeface="Segoe UI" charset="0"/>
                        <a:ea typeface="Segoe UI" charset="0"/>
                        <a:cs typeface="Segoe UI" charset="0"/>
                      </a:endParaRPr>
                    </a:p>
                  </a:txBody>
                  <a:tcPr marL="63500" marR="635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0F172A"/>
                          </a:solidFill>
                          <a:latin typeface="Segoe UI" pitchFamily="34" charset="0"/>
                          <a:ea typeface="Segoe UI" pitchFamily="34" charset="-122"/>
                          <a:cs typeface="Segoe UI" pitchFamily="34" charset="-120"/>
                        </a:rPr>
                        <a:t>16</a:t>
                      </a:r>
                      <a:endParaRPr lang="en-US" sz="1300" dirty="0">
                        <a:latin typeface="Segoe UI" charset="0"/>
                        <a:ea typeface="Segoe UI" charset="0"/>
                        <a:cs typeface="Segoe UI" charset="0"/>
                      </a:endParaRPr>
                    </a:p>
                  </a:txBody>
                  <a:tcPr marL="63500" marR="635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0F172A"/>
                          </a:solidFill>
                          <a:latin typeface="Segoe UI" pitchFamily="34" charset="0"/>
                          <a:ea typeface="Segoe UI" pitchFamily="34" charset="-122"/>
                          <a:cs typeface="Segoe UI" pitchFamily="34" charset="-120"/>
                        </a:rPr>
                        <a:t>8,581</a:t>
                      </a:r>
                      <a:endParaRPr lang="en-US" sz="1300" dirty="0">
                        <a:latin typeface="Segoe UI" charset="0"/>
                        <a:ea typeface="Segoe UI" charset="0"/>
                        <a:cs typeface="Segoe UI" charset="0"/>
                      </a:endParaRPr>
                    </a:p>
                  </a:txBody>
                  <a:tcPr marL="63500" marR="635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0F172A"/>
                          </a:solidFill>
                          <a:latin typeface="Segoe UI" pitchFamily="34" charset="0"/>
                          <a:ea typeface="Segoe UI" pitchFamily="34" charset="-122"/>
                          <a:cs typeface="Segoe UI" pitchFamily="34" charset="-120"/>
                        </a:rPr>
                        <a:t>108.19</a:t>
                      </a:r>
                      <a:endParaRPr lang="en-US" sz="1300" dirty="0">
                        <a:latin typeface="Segoe UI" charset="0"/>
                        <a:ea typeface="Segoe UI" charset="0"/>
                        <a:cs typeface="Segoe UI" charset="0"/>
                      </a:endParaRPr>
                    </a:p>
                  </a:txBody>
                  <a:tcPr marL="63500" marR="635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0F172A"/>
                          </a:solidFill>
                          <a:latin typeface="Segoe UI" pitchFamily="34" charset="0"/>
                          <a:ea typeface="Segoe UI" pitchFamily="34" charset="-122"/>
                          <a:cs typeface="Segoe UI" pitchFamily="34" charset="-120"/>
                        </a:rPr>
                        <a:t>100</a:t>
                      </a:r>
                      <a:endParaRPr lang="en-US" sz="1300" dirty="0">
                        <a:latin typeface="Segoe UI" charset="0"/>
                        <a:ea typeface="Segoe UI" charset="0"/>
                        <a:cs typeface="Segoe UI" charset="0"/>
                      </a:endParaRPr>
                    </a:p>
                  </a:txBody>
                  <a:tcPr marL="63500" marR="635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0F172A"/>
                          </a:solidFill>
                          <a:latin typeface="Segoe UI" pitchFamily="34" charset="0"/>
                          <a:ea typeface="Segoe UI" pitchFamily="34" charset="-122"/>
                          <a:cs typeface="Segoe UI" pitchFamily="34" charset="-120"/>
                        </a:rPr>
                        <a:t>160</a:t>
                      </a:r>
                      <a:endParaRPr lang="en-US" sz="1300" dirty="0">
                        <a:latin typeface="Segoe UI" charset="0"/>
                        <a:ea typeface="Segoe UI" charset="0"/>
                        <a:cs typeface="Segoe UI" charset="0"/>
                      </a:endParaRPr>
                    </a:p>
                  </a:txBody>
                  <a:tcPr marL="63500" marR="635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0F172A"/>
                          </a:solidFill>
                          <a:latin typeface="Segoe UI" pitchFamily="34" charset="0"/>
                          <a:ea typeface="Segoe UI" pitchFamily="34" charset="-122"/>
                          <a:cs typeface="Segoe UI" pitchFamily="34" charset="-120"/>
                        </a:rPr>
                        <a:t>147.48</a:t>
                      </a:r>
                      <a:endParaRPr lang="en-US" sz="1300" dirty="0">
                        <a:latin typeface="Segoe UI" charset="0"/>
                        <a:ea typeface="Segoe UI" charset="0"/>
                        <a:cs typeface="Segoe UI" charset="0"/>
                      </a:endParaRPr>
                    </a:p>
                  </a:txBody>
                  <a:tcPr marL="63500" marR="635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0F172A"/>
                          </a:solidFill>
                          <a:latin typeface="Segoe UI" pitchFamily="34" charset="0"/>
                          <a:ea typeface="Segoe UI" pitchFamily="34" charset="-122"/>
                          <a:cs typeface="Segoe UI" pitchFamily="34" charset="-120"/>
                        </a:rPr>
                        <a:t>0</a:t>
                      </a:r>
                      <a:endParaRPr lang="en-US" sz="1300" dirty="0">
                        <a:latin typeface="Segoe UI" charset="0"/>
                        <a:ea typeface="Segoe UI" charset="0"/>
                        <a:cs typeface="Segoe UI" charset="0"/>
                      </a:endParaRPr>
                    </a:p>
                  </a:txBody>
                  <a:tcPr marL="63500" marR="635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0F172A"/>
                          </a:solidFill>
                          <a:latin typeface="Segoe UI" pitchFamily="34" charset="0"/>
                          <a:ea typeface="Segoe UI" pitchFamily="34" charset="-122"/>
                          <a:cs typeface="Segoe UI" pitchFamily="34" charset="-120"/>
                        </a:rPr>
                        <a:t>225.7</a:t>
                      </a:r>
                      <a:endParaRPr lang="en-US" sz="1300" dirty="0">
                        <a:latin typeface="Segoe UI" charset="0"/>
                        <a:ea typeface="Segoe UI" charset="0"/>
                        <a:cs typeface="Segoe UI" charset="0"/>
                      </a:endParaRPr>
                    </a:p>
                  </a:txBody>
                  <a:tcPr marL="63500" marR="635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0F172A"/>
                          </a:solidFill>
                          <a:latin typeface="Segoe UI" pitchFamily="34" charset="0"/>
                          <a:ea typeface="Segoe UI" pitchFamily="34" charset="-122"/>
                          <a:cs typeface="Segoe UI" pitchFamily="34" charset="-120"/>
                        </a:rPr>
                        <a:t>269.1</a:t>
                      </a:r>
                      <a:endParaRPr lang="en-US" sz="1300" dirty="0">
                        <a:latin typeface="Segoe UI" charset="0"/>
                        <a:ea typeface="Segoe UI" charset="0"/>
                        <a:cs typeface="Segoe UI" charset="0"/>
                      </a:endParaRPr>
                    </a:p>
                  </a:txBody>
                  <a:tcPr marL="63500" marR="635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7" name="stat"/>
          <p:cNvSpPr/>
          <p:nvPr/>
        </p:nvSpPr>
        <p:spPr>
          <a:xfrm>
            <a:off x="548640" y="4206240"/>
            <a:ext cx="2606040" cy="1143000"/>
          </a:xfrm>
          <a:prstGeom prst="roundRect">
            <a:avLst>
              <a:gd name="adj" fmla="val 9600"/>
            </a:avLst>
          </a:prstGeom>
          <a:solidFill>
            <a:srgbClr val="F1F5F9"/>
          </a:solidFill>
          <a:ln w="12700">
            <a:solidFill>
              <a:srgbClr val="F1F5F9"/>
            </a:solidFill>
            <a:prstDash val="solid"/>
          </a:ln>
        </p:spPr>
      </p:sp>
      <p:sp>
        <p:nvSpPr>
          <p:cNvPr id="8" name="Text 4"/>
          <p:cNvSpPr txBox="1"/>
          <p:nvPr/>
        </p:nvSpPr>
        <p:spPr>
          <a:xfrm>
            <a:off x="685800" y="4297680"/>
            <a:ext cx="2331720" cy="594360"/>
          </a:xfrm>
          <a:prstGeom prst="rect">
            <a:avLst/>
          </a:prstGeom>
          <a:noFill/>
          <a:ln/>
        </p:spPr>
        <p:txBody>
          <a:bodyPr wrap="square" lIns="0" tIns="0" rIns="0" bIns="0" rtlCol="0" anchor="ctr"/>
          <a:lstStyle/>
          <a:p>
            <a:pPr algn="l" indent="0" marL="0">
              <a:buNone/>
            </a:pPr>
            <a:r>
              <a:rPr lang="en-US" sz="2800" b="1" dirty="0">
                <a:solidFill>
                  <a:srgbClr val="0F172A"/>
                </a:solidFill>
              </a:rPr>
              <a:t>41,220</a:t>
            </a:r>
            <a:endParaRPr lang="en-US" sz="2800" dirty="0"/>
          </a:p>
        </p:txBody>
      </p:sp>
      <p:sp>
        <p:nvSpPr>
          <p:cNvPr id="9" name="Text 5"/>
          <p:cNvSpPr txBox="1"/>
          <p:nvPr/>
        </p:nvSpPr>
        <p:spPr>
          <a:xfrm>
            <a:off x="685800" y="4892040"/>
            <a:ext cx="2331720" cy="384048"/>
          </a:xfrm>
          <a:prstGeom prst="rect">
            <a:avLst/>
          </a:prstGeom>
          <a:noFill/>
          <a:ln/>
        </p:spPr>
        <p:txBody>
          <a:bodyPr wrap="square" lIns="0" tIns="0" rIns="0" bIns="0" rtlCol="0" anchor="t"/>
          <a:lstStyle/>
          <a:p>
            <a:pPr algn="l" indent="0" marL="0">
              <a:buNone/>
            </a:pPr>
            <a:r>
              <a:rPr lang="en-US" sz="1200" dirty="0">
                <a:solidFill>
                  <a:schemeClr val="tx2"/>
                </a:solidFill>
              </a:rPr>
              <a:t>requests in total</a:t>
            </a:r>
            <a:endParaRPr lang="en-US" sz="1200" dirty="0"/>
          </a:p>
        </p:txBody>
      </p:sp>
      <p:sp>
        <p:nvSpPr>
          <p:cNvPr id="10" name="stat"/>
          <p:cNvSpPr/>
          <p:nvPr/>
        </p:nvSpPr>
        <p:spPr>
          <a:xfrm>
            <a:off x="3383280" y="4206240"/>
            <a:ext cx="2606040" cy="1143000"/>
          </a:xfrm>
          <a:prstGeom prst="roundRect">
            <a:avLst>
              <a:gd name="adj" fmla="val 9600"/>
            </a:avLst>
          </a:prstGeom>
          <a:solidFill>
            <a:srgbClr val="DCFCE7"/>
          </a:solidFill>
          <a:ln w="12700">
            <a:solidFill>
              <a:srgbClr val="DCFCE7"/>
            </a:solidFill>
            <a:prstDash val="solid"/>
          </a:ln>
        </p:spPr>
      </p:sp>
      <p:sp>
        <p:nvSpPr>
          <p:cNvPr id="11" name="Text 7"/>
          <p:cNvSpPr txBox="1"/>
          <p:nvPr/>
        </p:nvSpPr>
        <p:spPr>
          <a:xfrm>
            <a:off x="3520440" y="4297680"/>
            <a:ext cx="2331720" cy="594360"/>
          </a:xfrm>
          <a:prstGeom prst="rect">
            <a:avLst/>
          </a:prstGeom>
          <a:noFill/>
          <a:ln/>
        </p:spPr>
        <p:txBody>
          <a:bodyPr wrap="square" lIns="0" tIns="0" rIns="0" bIns="0" rtlCol="0" anchor="ctr"/>
          <a:lstStyle/>
          <a:p>
            <a:pPr algn="l" indent="0" marL="0">
              <a:buNone/>
            </a:pPr>
            <a:r>
              <a:rPr lang="en-US" sz="2800" b="1" dirty="0">
                <a:solidFill>
                  <a:srgbClr val="16A34A"/>
                </a:solidFill>
              </a:rPr>
              <a:t>0</a:t>
            </a:r>
            <a:endParaRPr lang="en-US" sz="2800" dirty="0"/>
          </a:p>
        </p:txBody>
      </p:sp>
      <p:sp>
        <p:nvSpPr>
          <p:cNvPr id="12" name="Text 8"/>
          <p:cNvSpPr txBox="1"/>
          <p:nvPr/>
        </p:nvSpPr>
        <p:spPr>
          <a:xfrm>
            <a:off x="3520440" y="4892040"/>
            <a:ext cx="2331720" cy="384048"/>
          </a:xfrm>
          <a:prstGeom prst="rect">
            <a:avLst/>
          </a:prstGeom>
          <a:noFill/>
          <a:ln/>
        </p:spPr>
        <p:txBody>
          <a:bodyPr wrap="square" lIns="0" tIns="0" rIns="0" bIns="0" rtlCol="0" anchor="t"/>
          <a:lstStyle/>
          <a:p>
            <a:pPr algn="l" indent="0" marL="0">
              <a:buNone/>
            </a:pPr>
            <a:r>
              <a:rPr lang="en-US" sz="1200" dirty="0">
                <a:solidFill>
                  <a:schemeClr val="tx2"/>
                </a:solidFill>
              </a:rPr>
              <a:t>failed at every level</a:t>
            </a:r>
            <a:endParaRPr lang="en-US" sz="1200" dirty="0"/>
          </a:p>
        </p:txBody>
      </p:sp>
      <p:sp>
        <p:nvSpPr>
          <p:cNvPr id="13" name="stat"/>
          <p:cNvSpPr/>
          <p:nvPr/>
        </p:nvSpPr>
        <p:spPr>
          <a:xfrm>
            <a:off x="6217920" y="4206240"/>
            <a:ext cx="2606040" cy="1143000"/>
          </a:xfrm>
          <a:prstGeom prst="roundRect">
            <a:avLst>
              <a:gd name="adj" fmla="val 9600"/>
            </a:avLst>
          </a:prstGeom>
          <a:solidFill>
            <a:srgbClr val="EDE9FE"/>
          </a:solidFill>
          <a:ln w="12700">
            <a:solidFill>
              <a:srgbClr val="EDE9FE"/>
            </a:solidFill>
            <a:prstDash val="solid"/>
          </a:ln>
        </p:spPr>
      </p:sp>
      <p:sp>
        <p:nvSpPr>
          <p:cNvPr id="14" name="Text 10"/>
          <p:cNvSpPr txBox="1"/>
          <p:nvPr/>
        </p:nvSpPr>
        <p:spPr>
          <a:xfrm>
            <a:off x="6355080" y="4297680"/>
            <a:ext cx="2331720" cy="594360"/>
          </a:xfrm>
          <a:prstGeom prst="rect">
            <a:avLst/>
          </a:prstGeom>
          <a:noFill/>
          <a:ln/>
        </p:spPr>
        <p:txBody>
          <a:bodyPr wrap="square" lIns="0" tIns="0" rIns="0" bIns="0" rtlCol="0" anchor="ctr"/>
          <a:lstStyle/>
          <a:p>
            <a:pPr algn="l" indent="0" marL="0">
              <a:buNone/>
            </a:pPr>
            <a:r>
              <a:rPr lang="en-US" sz="2800" b="1" dirty="0">
                <a:solidFill>
                  <a:srgbClr val="7C3AED"/>
                </a:solidFill>
              </a:rPr>
              <a:t>160.8 req/s</a:t>
            </a:r>
            <a:endParaRPr lang="en-US" sz="2800" dirty="0"/>
          </a:p>
        </p:txBody>
      </p:sp>
      <p:sp>
        <p:nvSpPr>
          <p:cNvPr id="15" name="Text 11"/>
          <p:cNvSpPr txBox="1"/>
          <p:nvPr/>
        </p:nvSpPr>
        <p:spPr>
          <a:xfrm>
            <a:off x="6355080" y="4892040"/>
            <a:ext cx="2331720" cy="384048"/>
          </a:xfrm>
          <a:prstGeom prst="rect">
            <a:avLst/>
          </a:prstGeom>
          <a:noFill/>
          <a:ln/>
        </p:spPr>
        <p:txBody>
          <a:bodyPr wrap="square" lIns="0" tIns="0" rIns="0" bIns="0" rtlCol="0" anchor="t"/>
          <a:lstStyle/>
          <a:p>
            <a:pPr algn="l" indent="0" marL="0">
              <a:buNone/>
            </a:pPr>
            <a:r>
              <a:rPr lang="en-US" sz="1200" dirty="0">
                <a:solidFill>
                  <a:schemeClr val="tx2"/>
                </a:solidFill>
              </a:rPr>
              <a:t>peak throughput (W3, 4 users)</a:t>
            </a:r>
            <a:endParaRPr lang="en-US" sz="1200" dirty="0"/>
          </a:p>
        </p:txBody>
      </p:sp>
      <p:sp>
        <p:nvSpPr>
          <p:cNvPr id="16" name="stat"/>
          <p:cNvSpPr/>
          <p:nvPr/>
        </p:nvSpPr>
        <p:spPr>
          <a:xfrm>
            <a:off x="9052560" y="4206240"/>
            <a:ext cx="2606040" cy="1143000"/>
          </a:xfrm>
          <a:prstGeom prst="roundRect">
            <a:avLst>
              <a:gd name="adj" fmla="val 9600"/>
            </a:avLst>
          </a:prstGeom>
          <a:solidFill>
            <a:srgbClr val="FFE4E6"/>
          </a:solidFill>
          <a:ln w="12700">
            <a:solidFill>
              <a:srgbClr val="FFE4E6"/>
            </a:solidFill>
            <a:prstDash val="solid"/>
          </a:ln>
        </p:spPr>
      </p:sp>
      <p:sp>
        <p:nvSpPr>
          <p:cNvPr id="17" name="Text 13"/>
          <p:cNvSpPr txBox="1"/>
          <p:nvPr/>
        </p:nvSpPr>
        <p:spPr>
          <a:xfrm>
            <a:off x="9189720" y="4297680"/>
            <a:ext cx="2331720" cy="594360"/>
          </a:xfrm>
          <a:prstGeom prst="rect">
            <a:avLst/>
          </a:prstGeom>
          <a:noFill/>
          <a:ln/>
        </p:spPr>
        <p:txBody>
          <a:bodyPr wrap="square" lIns="0" tIns="0" rIns="0" bIns="0" rtlCol="0" anchor="ctr"/>
          <a:lstStyle/>
          <a:p>
            <a:pPr algn="l" indent="0" marL="0">
              <a:buNone/>
            </a:pPr>
            <a:r>
              <a:rPr lang="en-US" sz="2800" b="1" dirty="0">
                <a:solidFill>
                  <a:srgbClr val="E11D48"/>
                </a:solidFill>
              </a:rPr>
              <a:t>11 → 108 ms</a:t>
            </a:r>
            <a:endParaRPr lang="en-US" sz="2800" dirty="0"/>
          </a:p>
        </p:txBody>
      </p:sp>
      <p:sp>
        <p:nvSpPr>
          <p:cNvPr id="18" name="Text 14"/>
          <p:cNvSpPr txBox="1"/>
          <p:nvPr/>
        </p:nvSpPr>
        <p:spPr>
          <a:xfrm>
            <a:off x="9189720" y="4892040"/>
            <a:ext cx="2331720" cy="384048"/>
          </a:xfrm>
          <a:prstGeom prst="rect">
            <a:avLst/>
          </a:prstGeom>
          <a:noFill/>
          <a:ln/>
        </p:spPr>
        <p:txBody>
          <a:bodyPr wrap="square" lIns="0" tIns="0" rIns="0" bIns="0" rtlCol="0" anchor="t"/>
          <a:lstStyle/>
          <a:p>
            <a:pPr algn="l" indent="0" marL="0">
              <a:buNone/>
            </a:pPr>
            <a:r>
              <a:rPr lang="en-US" sz="1200" dirty="0">
                <a:solidFill>
                  <a:schemeClr val="tx2"/>
                </a:solidFill>
              </a:rPr>
              <a:t>avg response, W1 → W5</a:t>
            </a:r>
            <a:endParaRPr lang="en-US" sz="1200" dirty="0"/>
          </a:p>
        </p:txBody>
      </p:sp>
      <p:sp>
        <p:nvSpPr>
          <p:cNvPr id="19" name="Text 15"/>
          <p:cNvSpPr txBox="1"/>
          <p:nvPr/>
        </p:nvSpPr>
        <p:spPr>
          <a:xfrm>
            <a:off x="548640" y="5577840"/>
            <a:ext cx="11109960" cy="640080"/>
          </a:xfrm>
          <a:prstGeom prst="rect">
            <a:avLst/>
          </a:prstGeom>
          <a:noFill/>
          <a:ln/>
        </p:spPr>
        <p:txBody>
          <a:bodyPr wrap="square" lIns="0" tIns="0" rIns="0" bIns="0" rtlCol="0" anchor="t"/>
          <a:lstStyle/>
          <a:p>
            <a:pPr indent="0" marL="0">
              <a:buNone/>
            </a:pPr>
            <a:r>
              <a:rPr lang="en-US" sz="1200" i="1" dirty="0">
                <a:solidFill>
                  <a:schemeClr val="tx2"/>
                </a:solidFill>
              </a:rPr>
              <a:t>Requests, response times, throughput, failures: Locust CSV (Aggregated row). CPU and memory: average of ~30 docker stats samples per container, summed over the 4 services (100 % = one core).</a:t>
            </a:r>
            <a:endParaRPr lang="en-US" sz="1200" dirty="0"/>
          </a:p>
        </p:txBody>
      </p:sp>
      <p:sp>
        <p:nvSpPr>
          <p:cNvPr id="25" name="Slide Number Placeholder 0"/>
          <p:cNvSpPr>
            <a:spLocks noGrp="1"/>
          </p:cNvSpPr>
          <p:nvPr>
            <p:ph type="sldNum" sz="quarter" idx="4294967295"/>
          </p:nvPr>
        </p:nvSpPr>
        <p:spPr>
          <a:xfrm>
            <a:off x="1115568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235440" cy="777240"/>
          </a:xfrm>
          <a:prstGeom prst="rect">
            <a:avLst/>
          </a:prstGeom>
          <a:noFill/>
          <a:ln/>
        </p:spPr>
        <p:txBody>
          <a:bodyPr wrap="square" lIns="0" tIns="0" rIns="0" bIns="0" rtlCol="0" anchor="ctr"/>
          <a:lstStyle/>
          <a:p>
            <a:pPr algn="l" indent="0" marL="0">
              <a:buNone/>
            </a:pPr>
            <a:r>
              <a:rPr lang="en-US" sz="2800" b="1" dirty="0">
                <a:solidFill>
                  <a:schemeClr val="tx1"/>
                </a:solidFill>
              </a:rPr>
              <a:t>Fig. 1 — Response time doubles after saturation</a:t>
            </a:r>
            <a:endParaRPr lang="en-US" sz="2800" dirty="0"/>
          </a:p>
        </p:txBody>
      </p:sp>
      <p:sp>
        <p:nvSpPr>
          <p:cNvPr id="3" name="cp badge"/>
          <p:cNvSpPr/>
          <p:nvPr/>
        </p:nvSpPr>
        <p:spPr>
          <a:xfrm>
            <a:off x="9921240" y="457200"/>
            <a:ext cx="1737360" cy="438912"/>
          </a:xfrm>
          <a:prstGeom prst="roundRect">
            <a:avLst>
              <a:gd name="adj" fmla="val 50000"/>
            </a:avLst>
          </a:prstGeom>
          <a:solidFill>
            <a:srgbClr val="7C3AED"/>
          </a:solidFill>
          <a:ln w="12700">
            <a:solidFill>
              <a:srgbClr val="7C3AED"/>
            </a:solidFill>
            <a:prstDash val="solid"/>
          </a:ln>
        </p:spPr>
      </p:sp>
      <p:sp>
        <p:nvSpPr>
          <p:cNvPr id="4" name="Text 2"/>
          <p:cNvSpPr txBox="1"/>
          <p:nvPr/>
        </p:nvSpPr>
        <p:spPr>
          <a:xfrm>
            <a:off x="9921240" y="457200"/>
            <a:ext cx="1737360" cy="438912"/>
          </a:xfrm>
          <a:prstGeom prst="rect">
            <a:avLst/>
          </a:prstGeom>
          <a:noFill/>
          <a:ln/>
        </p:spPr>
        <p:txBody>
          <a:bodyPr wrap="square" lIns="0" tIns="0" rIns="0" bIns="0" rtlCol="0" anchor="ctr"/>
          <a:lstStyle/>
          <a:p>
            <a:pPr algn="ctr" indent="0" marL="0">
              <a:buNone/>
            </a:pPr>
            <a:r>
              <a:rPr lang="en-US" sz="1150" b="1" spc="100" kern="0" dirty="0">
                <a:solidFill>
                  <a:schemeClr val="bg1"/>
                </a:solidFill>
              </a:rPr>
              <a:t>CP5 · ANALYSIS</a:t>
            </a:r>
            <a:endParaRPr lang="en-US" sz="1150" dirty="0"/>
          </a:p>
        </p:txBody>
      </p:sp>
      <p:sp>
        <p:nvSpPr>
          <p:cNvPr id="6" name="frame"/>
          <p:cNvSpPr/>
          <p:nvPr/>
        </p:nvSpPr>
        <p:spPr>
          <a:xfrm>
            <a:off x="493776" y="1271016"/>
            <a:ext cx="7059168" cy="4221823"/>
          </a:xfrm>
          <a:prstGeom prst="roundRect">
            <a:avLst>
              <a:gd name="adj" fmla="val 1300"/>
            </a:avLst>
          </a:prstGeom>
          <a:solidFill>
            <a:srgbClr val="FFFFFF"/>
          </a:solidFill>
          <a:ln w="9525">
            <a:solidFill>
              <a:srgbClr val="CBD5E1"/>
            </a:solidFill>
            <a:prstDash val="solid"/>
          </a:ln>
          <a:effectLst>
            <a:outerShdw sx="100000" sy="100000" kx="0" ky="0" algn="bl" rotWithShape="0" blurRad="76200" dist="25400" dir="5400000">
              <a:srgbClr val="000000">
                <a:alpha val="18000"/>
              </a:srgbClr>
            </a:outerShdw>
          </a:effectLst>
        </p:spPr>
      </p:sp>
      <p:pic>
        <p:nvPicPr>
          <p:cNvPr id="7" name="01_response_time_vs_concurrency.png" descr="C:/Users/Asus/Desktop/Cloud_computing/PGC/PGC_lab/CC_github/CC_lab_evaluation/graphs/01_response_time_vs_concurrency.png">    </p:cNvPr>
          <p:cNvPicPr>
            <a:picLocks noChangeAspect="1"/>
          </p:cNvPicPr>
          <p:nvPr/>
        </p:nvPicPr>
        <p:blipFill>
          <a:blip r:embed="rId1"/>
          <a:stretch>
            <a:fillRect/>
          </a:stretch>
        </p:blipFill>
        <p:spPr>
          <a:xfrm>
            <a:off x="548640" y="1325880"/>
            <a:ext cx="6949440" cy="4112095"/>
          </a:xfrm>
          <a:prstGeom prst="rect">
            <a:avLst/>
          </a:prstGeom>
        </p:spPr>
      </p:pic>
      <p:sp>
        <p:nvSpPr>
          <p:cNvPr id="8" name="stat"/>
          <p:cNvSpPr/>
          <p:nvPr/>
        </p:nvSpPr>
        <p:spPr>
          <a:xfrm>
            <a:off x="7863840" y="1325880"/>
            <a:ext cx="3794760" cy="1143000"/>
          </a:xfrm>
          <a:prstGeom prst="roundRect">
            <a:avLst>
              <a:gd name="adj" fmla="val 9600"/>
            </a:avLst>
          </a:prstGeom>
          <a:solidFill>
            <a:srgbClr val="FFE4E6"/>
          </a:solidFill>
          <a:ln w="12700">
            <a:solidFill>
              <a:srgbClr val="FFE4E6"/>
            </a:solidFill>
            <a:prstDash val="solid"/>
          </a:ln>
        </p:spPr>
      </p:sp>
      <p:sp>
        <p:nvSpPr>
          <p:cNvPr id="9" name="Text 5"/>
          <p:cNvSpPr txBox="1"/>
          <p:nvPr/>
        </p:nvSpPr>
        <p:spPr>
          <a:xfrm>
            <a:off x="8001000" y="1417320"/>
            <a:ext cx="3520440" cy="594360"/>
          </a:xfrm>
          <a:prstGeom prst="rect">
            <a:avLst/>
          </a:prstGeom>
          <a:noFill/>
          <a:ln/>
        </p:spPr>
        <p:txBody>
          <a:bodyPr wrap="square" lIns="0" tIns="0" rIns="0" bIns="0" rtlCol="0" anchor="ctr"/>
          <a:lstStyle/>
          <a:p>
            <a:pPr algn="l" indent="0" marL="0">
              <a:buNone/>
            </a:pPr>
            <a:r>
              <a:rPr lang="en-US" sz="2800" b="1" dirty="0">
                <a:solidFill>
                  <a:srgbClr val="E11D48"/>
                </a:solidFill>
              </a:rPr>
              <a:t>11 → 108 ms</a:t>
            </a:r>
            <a:endParaRPr lang="en-US" sz="2800" dirty="0"/>
          </a:p>
        </p:txBody>
      </p:sp>
      <p:sp>
        <p:nvSpPr>
          <p:cNvPr id="10" name="Text 6"/>
          <p:cNvSpPr txBox="1"/>
          <p:nvPr/>
        </p:nvSpPr>
        <p:spPr>
          <a:xfrm>
            <a:off x="8001000" y="2011680"/>
            <a:ext cx="3520440" cy="384048"/>
          </a:xfrm>
          <a:prstGeom prst="rect">
            <a:avLst/>
          </a:prstGeom>
          <a:noFill/>
          <a:ln/>
        </p:spPr>
        <p:txBody>
          <a:bodyPr wrap="square" lIns="0" tIns="0" rIns="0" bIns="0" rtlCol="0" anchor="t"/>
          <a:lstStyle/>
          <a:p>
            <a:pPr algn="l" indent="0" marL="0">
              <a:buNone/>
            </a:pPr>
            <a:r>
              <a:rPr lang="en-US" sz="1200" dirty="0">
                <a:solidFill>
                  <a:schemeClr val="tx2"/>
                </a:solidFill>
              </a:rPr>
              <a:t>average, 1 → 16 users</a:t>
            </a:r>
            <a:endParaRPr lang="en-US" sz="1200" dirty="0"/>
          </a:p>
        </p:txBody>
      </p:sp>
      <p:sp>
        <p:nvSpPr>
          <p:cNvPr id="11" name="stat"/>
          <p:cNvSpPr/>
          <p:nvPr/>
        </p:nvSpPr>
        <p:spPr>
          <a:xfrm>
            <a:off x="7863840" y="2606040"/>
            <a:ext cx="3794760" cy="1143000"/>
          </a:xfrm>
          <a:prstGeom prst="roundRect">
            <a:avLst>
              <a:gd name="adj" fmla="val 9600"/>
            </a:avLst>
          </a:prstGeom>
          <a:solidFill>
            <a:srgbClr val="DBEAFE"/>
          </a:solidFill>
          <a:ln w="12700">
            <a:solidFill>
              <a:srgbClr val="DBEAFE"/>
            </a:solidFill>
            <a:prstDash val="solid"/>
          </a:ln>
        </p:spPr>
      </p:sp>
      <p:sp>
        <p:nvSpPr>
          <p:cNvPr id="12" name="Text 8"/>
          <p:cNvSpPr txBox="1"/>
          <p:nvPr/>
        </p:nvSpPr>
        <p:spPr>
          <a:xfrm>
            <a:off x="8001000" y="2697480"/>
            <a:ext cx="3520440" cy="594360"/>
          </a:xfrm>
          <a:prstGeom prst="rect">
            <a:avLst/>
          </a:prstGeom>
          <a:noFill/>
          <a:ln/>
        </p:spPr>
        <p:txBody>
          <a:bodyPr wrap="square" lIns="0" tIns="0" rIns="0" bIns="0" rtlCol="0" anchor="ctr"/>
          <a:lstStyle/>
          <a:p>
            <a:pPr algn="l" indent="0" marL="0">
              <a:buNone/>
            </a:pPr>
            <a:r>
              <a:rPr lang="en-US" sz="2800" b="1" dirty="0">
                <a:solidFill>
                  <a:srgbClr val="2563EB"/>
                </a:solidFill>
              </a:rPr>
              <a:t>12 → 25 → 53 → 108</a:t>
            </a:r>
            <a:endParaRPr lang="en-US" sz="2800" dirty="0"/>
          </a:p>
        </p:txBody>
      </p:sp>
      <p:sp>
        <p:nvSpPr>
          <p:cNvPr id="13" name="Text 9"/>
          <p:cNvSpPr txBox="1"/>
          <p:nvPr/>
        </p:nvSpPr>
        <p:spPr>
          <a:xfrm>
            <a:off x="8001000" y="3291840"/>
            <a:ext cx="3520440" cy="384048"/>
          </a:xfrm>
          <a:prstGeom prst="rect">
            <a:avLst/>
          </a:prstGeom>
          <a:noFill/>
          <a:ln/>
        </p:spPr>
        <p:txBody>
          <a:bodyPr wrap="square" lIns="0" tIns="0" rIns="0" bIns="0" rtlCol="0" anchor="t"/>
          <a:lstStyle/>
          <a:p>
            <a:pPr algn="l" indent="0" marL="0">
              <a:buNone/>
            </a:pPr>
            <a:r>
              <a:rPr lang="en-US" sz="1200" dirty="0">
                <a:solidFill>
                  <a:schemeClr val="tx2"/>
                </a:solidFill>
              </a:rPr>
              <a:t>ms: ×2 per doubling after W2</a:t>
            </a:r>
            <a:endParaRPr lang="en-US" sz="1200" dirty="0"/>
          </a:p>
        </p:txBody>
      </p:sp>
      <p:sp>
        <p:nvSpPr>
          <p:cNvPr id="14" name="Text 10"/>
          <p:cNvSpPr txBox="1"/>
          <p:nvPr/>
        </p:nvSpPr>
        <p:spPr>
          <a:xfrm>
            <a:off x="7863840" y="3931920"/>
            <a:ext cx="3794760" cy="2331720"/>
          </a:xfrm>
          <a:prstGeom prst="rect">
            <a:avLst/>
          </a:prstGeom>
          <a:noFill/>
          <a:ln/>
        </p:spPr>
        <p:txBody>
          <a:bodyPr wrap="square" lIns="635" tIns="635" rIns="635" bIns="635" rtlCol="0" anchor="t"/>
          <a:lstStyle/>
          <a:p>
            <a:pPr marL="190500" indent="-190500">
              <a:spcAft>
                <a:spcPts val="800"/>
              </a:spcAft>
              <a:buSzPct val="100000"/>
              <a:buChar char="•"/>
            </a:pPr>
            <a:r>
              <a:rPr lang="en-US" sz="1350" dirty="0">
                <a:solidFill>
                  <a:schemeClr val="tx1"/>
                </a:solidFill>
              </a:rPr>
              <a:t>1 → 2 users: almost flat. Spare capacity, no waiting.</a:t>
            </a:r>
            <a:endParaRPr lang="en-US" sz="1350" dirty="0"/>
          </a:p>
          <a:p>
            <a:pPr marL="190500" indent="-190500">
              <a:spcAft>
                <a:spcPts val="800"/>
              </a:spcAft>
              <a:buSzPct val="100000"/>
              <a:buChar char="•"/>
            </a:pPr>
            <a:r>
              <a:rPr lang="en-US" sz="1350" dirty="0">
                <a:solidFill>
                  <a:schemeClr val="tx1"/>
                </a:solidFill>
              </a:rPr>
              <a:t>From 2 users on, doubling users doubles the time: requests wait in a queue.</a:t>
            </a:r>
            <a:endParaRPr lang="en-US" sz="1350" dirty="0"/>
          </a:p>
          <a:p>
            <a:pPr marL="190500" indent="-190500">
              <a:spcAft>
                <a:spcPts val="800"/>
              </a:spcAft>
              <a:buSzPct val="100000"/>
              <a:buChar char="•"/>
            </a:pPr>
            <a:r>
              <a:rPr lang="en-US" sz="1350" dirty="0">
                <a:solidFill>
                  <a:schemeClr val="tx1"/>
                </a:solidFill>
              </a:rPr>
              <a:t>95th percentile (red) rises fastest: 14 → 160 ms.</a:t>
            </a:r>
            <a:endParaRPr lang="en-US" sz="1350" dirty="0"/>
          </a:p>
        </p:txBody>
      </p:sp>
      <p:sp>
        <p:nvSpPr>
          <p:cNvPr id="25" name="Slide Number Placeholder 0"/>
          <p:cNvSpPr>
            <a:spLocks noGrp="1"/>
          </p:cNvSpPr>
          <p:nvPr>
            <p:ph type="sldNum" sz="quarter" idx="4294967295"/>
          </p:nvPr>
        </p:nvSpPr>
        <p:spPr>
          <a:xfrm>
            <a:off x="1115568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235440" cy="777240"/>
          </a:xfrm>
          <a:prstGeom prst="rect">
            <a:avLst/>
          </a:prstGeom>
          <a:noFill/>
          <a:ln/>
        </p:spPr>
        <p:txBody>
          <a:bodyPr wrap="square" lIns="0" tIns="0" rIns="0" bIns="0" rtlCol="0" anchor="ctr"/>
          <a:lstStyle/>
          <a:p>
            <a:pPr algn="l" indent="0" marL="0">
              <a:buNone/>
            </a:pPr>
            <a:r>
              <a:rPr lang="en-US" sz="2800" b="1" dirty="0">
                <a:solidFill>
                  <a:schemeClr val="tx1"/>
                </a:solidFill>
              </a:rPr>
              <a:t>Fig. 2 — Throughput peaks at about 160 req/s</a:t>
            </a:r>
            <a:endParaRPr lang="en-US" sz="2800" dirty="0"/>
          </a:p>
        </p:txBody>
      </p:sp>
      <p:sp>
        <p:nvSpPr>
          <p:cNvPr id="3" name="cp badge"/>
          <p:cNvSpPr/>
          <p:nvPr/>
        </p:nvSpPr>
        <p:spPr>
          <a:xfrm>
            <a:off x="9921240" y="457200"/>
            <a:ext cx="1737360" cy="438912"/>
          </a:xfrm>
          <a:prstGeom prst="roundRect">
            <a:avLst>
              <a:gd name="adj" fmla="val 50000"/>
            </a:avLst>
          </a:prstGeom>
          <a:solidFill>
            <a:srgbClr val="7C3AED"/>
          </a:solidFill>
          <a:ln w="12700">
            <a:solidFill>
              <a:srgbClr val="7C3AED"/>
            </a:solidFill>
            <a:prstDash val="solid"/>
          </a:ln>
        </p:spPr>
      </p:sp>
      <p:sp>
        <p:nvSpPr>
          <p:cNvPr id="4" name="Text 2"/>
          <p:cNvSpPr txBox="1"/>
          <p:nvPr/>
        </p:nvSpPr>
        <p:spPr>
          <a:xfrm>
            <a:off x="9921240" y="457200"/>
            <a:ext cx="1737360" cy="438912"/>
          </a:xfrm>
          <a:prstGeom prst="rect">
            <a:avLst/>
          </a:prstGeom>
          <a:noFill/>
          <a:ln/>
        </p:spPr>
        <p:txBody>
          <a:bodyPr wrap="square" lIns="0" tIns="0" rIns="0" bIns="0" rtlCol="0" anchor="ctr"/>
          <a:lstStyle/>
          <a:p>
            <a:pPr algn="ctr" indent="0" marL="0">
              <a:buNone/>
            </a:pPr>
            <a:r>
              <a:rPr lang="en-US" sz="1150" b="1" spc="100" kern="0" dirty="0">
                <a:solidFill>
                  <a:schemeClr val="bg1"/>
                </a:solidFill>
              </a:rPr>
              <a:t>CP5 · ANALYSIS</a:t>
            </a:r>
            <a:endParaRPr lang="en-US" sz="1150" dirty="0"/>
          </a:p>
        </p:txBody>
      </p:sp>
      <p:sp>
        <p:nvSpPr>
          <p:cNvPr id="6" name="frame"/>
          <p:cNvSpPr/>
          <p:nvPr/>
        </p:nvSpPr>
        <p:spPr>
          <a:xfrm>
            <a:off x="493776" y="1271016"/>
            <a:ext cx="7059168" cy="4480445"/>
          </a:xfrm>
          <a:prstGeom prst="roundRect">
            <a:avLst>
              <a:gd name="adj" fmla="val 1225"/>
            </a:avLst>
          </a:prstGeom>
          <a:solidFill>
            <a:srgbClr val="FFFFFF"/>
          </a:solidFill>
          <a:ln w="9525">
            <a:solidFill>
              <a:srgbClr val="CBD5E1"/>
            </a:solidFill>
            <a:prstDash val="solid"/>
          </a:ln>
          <a:effectLst>
            <a:outerShdw sx="100000" sy="100000" kx="0" ky="0" algn="bl" rotWithShape="0" blurRad="76200" dist="25400" dir="5400000">
              <a:srgbClr val="000000">
                <a:alpha val="18000"/>
              </a:srgbClr>
            </a:outerShdw>
          </a:effectLst>
        </p:spPr>
      </p:sp>
      <p:pic>
        <p:nvPicPr>
          <p:cNvPr id="7" name="02_throughput_vs_concurrency.png" descr="C:/Users/Asus/Desktop/Cloud_computing/PGC/PGC_lab/CC_github/CC_lab_evaluation/graphs/02_throughput_vs_concurrency.png">    </p:cNvPr>
          <p:cNvPicPr>
            <a:picLocks noChangeAspect="1"/>
          </p:cNvPicPr>
          <p:nvPr/>
        </p:nvPicPr>
        <p:blipFill>
          <a:blip r:embed="rId1"/>
          <a:stretch>
            <a:fillRect/>
          </a:stretch>
        </p:blipFill>
        <p:spPr>
          <a:xfrm>
            <a:off x="548640" y="1325880"/>
            <a:ext cx="6949440" cy="4370717"/>
          </a:xfrm>
          <a:prstGeom prst="rect">
            <a:avLst/>
          </a:prstGeom>
        </p:spPr>
      </p:pic>
      <p:sp>
        <p:nvSpPr>
          <p:cNvPr id="8" name="stat"/>
          <p:cNvSpPr/>
          <p:nvPr/>
        </p:nvSpPr>
        <p:spPr>
          <a:xfrm>
            <a:off x="7863840" y="1325880"/>
            <a:ext cx="3794760" cy="1143000"/>
          </a:xfrm>
          <a:prstGeom prst="roundRect">
            <a:avLst>
              <a:gd name="adj" fmla="val 9600"/>
            </a:avLst>
          </a:prstGeom>
          <a:solidFill>
            <a:srgbClr val="EDE9FE"/>
          </a:solidFill>
          <a:ln w="12700">
            <a:solidFill>
              <a:srgbClr val="EDE9FE"/>
            </a:solidFill>
            <a:prstDash val="solid"/>
          </a:ln>
        </p:spPr>
      </p:sp>
      <p:sp>
        <p:nvSpPr>
          <p:cNvPr id="9" name="Text 5"/>
          <p:cNvSpPr txBox="1"/>
          <p:nvPr/>
        </p:nvSpPr>
        <p:spPr>
          <a:xfrm>
            <a:off x="8001000" y="1417320"/>
            <a:ext cx="3520440" cy="594360"/>
          </a:xfrm>
          <a:prstGeom prst="rect">
            <a:avLst/>
          </a:prstGeom>
          <a:noFill/>
          <a:ln/>
        </p:spPr>
        <p:txBody>
          <a:bodyPr wrap="square" lIns="0" tIns="0" rIns="0" bIns="0" rtlCol="0" anchor="ctr"/>
          <a:lstStyle/>
          <a:p>
            <a:pPr algn="l" indent="0" marL="0">
              <a:buNone/>
            </a:pPr>
            <a:r>
              <a:rPr lang="en-US" sz="2800" b="1" dirty="0">
                <a:solidFill>
                  <a:srgbClr val="7C3AED"/>
                </a:solidFill>
              </a:rPr>
              <a:t>160.8 req/s</a:t>
            </a:r>
            <a:endParaRPr lang="en-US" sz="2800" dirty="0"/>
          </a:p>
        </p:txBody>
      </p:sp>
      <p:sp>
        <p:nvSpPr>
          <p:cNvPr id="10" name="Text 6"/>
          <p:cNvSpPr txBox="1"/>
          <p:nvPr/>
        </p:nvSpPr>
        <p:spPr>
          <a:xfrm>
            <a:off x="8001000" y="2011680"/>
            <a:ext cx="3520440" cy="384048"/>
          </a:xfrm>
          <a:prstGeom prst="rect">
            <a:avLst/>
          </a:prstGeom>
          <a:noFill/>
          <a:ln/>
        </p:spPr>
        <p:txBody>
          <a:bodyPr wrap="square" lIns="0" tIns="0" rIns="0" bIns="0" rtlCol="0" anchor="t"/>
          <a:lstStyle/>
          <a:p>
            <a:pPr algn="l" indent="0" marL="0">
              <a:buNone/>
            </a:pPr>
            <a:r>
              <a:rPr lang="en-US" sz="1200" dirty="0">
                <a:solidFill>
                  <a:schemeClr val="tx2"/>
                </a:solidFill>
              </a:rPr>
              <a:t>peak at 4 users (W3)</a:t>
            </a:r>
            <a:endParaRPr lang="en-US" sz="1200" dirty="0"/>
          </a:p>
        </p:txBody>
      </p:sp>
      <p:sp>
        <p:nvSpPr>
          <p:cNvPr id="11" name="stat"/>
          <p:cNvSpPr/>
          <p:nvPr/>
        </p:nvSpPr>
        <p:spPr>
          <a:xfrm>
            <a:off x="7863840" y="2606040"/>
            <a:ext cx="3794760" cy="1143000"/>
          </a:xfrm>
          <a:prstGeom prst="roundRect">
            <a:avLst>
              <a:gd name="adj" fmla="val 9600"/>
            </a:avLst>
          </a:prstGeom>
          <a:solidFill>
            <a:srgbClr val="DBEAFE"/>
          </a:solidFill>
          <a:ln w="12700">
            <a:solidFill>
              <a:srgbClr val="DBEAFE"/>
            </a:solidFill>
            <a:prstDash val="solid"/>
          </a:ln>
        </p:spPr>
      </p:sp>
      <p:sp>
        <p:nvSpPr>
          <p:cNvPr id="12" name="Text 8"/>
          <p:cNvSpPr txBox="1"/>
          <p:nvPr/>
        </p:nvSpPr>
        <p:spPr>
          <a:xfrm>
            <a:off x="8001000" y="2697480"/>
            <a:ext cx="3520440" cy="594360"/>
          </a:xfrm>
          <a:prstGeom prst="rect">
            <a:avLst/>
          </a:prstGeom>
          <a:noFill/>
          <a:ln/>
        </p:spPr>
        <p:txBody>
          <a:bodyPr wrap="square" lIns="0" tIns="0" rIns="0" bIns="0" rtlCol="0" anchor="ctr"/>
          <a:lstStyle/>
          <a:p>
            <a:pPr algn="l" indent="0" marL="0">
              <a:buNone/>
            </a:pPr>
            <a:r>
              <a:rPr lang="en-US" sz="2800" b="1" dirty="0">
                <a:solidFill>
                  <a:srgbClr val="2563EB"/>
                </a:solidFill>
              </a:rPr>
              <a:t>89.5 → 147.5</a:t>
            </a:r>
            <a:endParaRPr lang="en-US" sz="2800" dirty="0"/>
          </a:p>
        </p:txBody>
      </p:sp>
      <p:sp>
        <p:nvSpPr>
          <p:cNvPr id="13" name="Text 9"/>
          <p:cNvSpPr txBox="1"/>
          <p:nvPr/>
        </p:nvSpPr>
        <p:spPr>
          <a:xfrm>
            <a:off x="8001000" y="3291840"/>
            <a:ext cx="3520440" cy="384048"/>
          </a:xfrm>
          <a:prstGeom prst="rect">
            <a:avLst/>
          </a:prstGeom>
          <a:noFill/>
          <a:ln/>
        </p:spPr>
        <p:txBody>
          <a:bodyPr wrap="square" lIns="0" tIns="0" rIns="0" bIns="0" rtlCol="0" anchor="t"/>
          <a:lstStyle/>
          <a:p>
            <a:pPr algn="l" indent="0" marL="0">
              <a:buNone/>
            </a:pPr>
            <a:r>
              <a:rPr lang="en-US" sz="1200" dirty="0">
                <a:solidFill>
                  <a:schemeClr val="tx2"/>
                </a:solidFill>
              </a:rPr>
              <a:t>req/s at 1 and 16 users</a:t>
            </a:r>
            <a:endParaRPr lang="en-US" sz="1200" dirty="0"/>
          </a:p>
        </p:txBody>
      </p:sp>
      <p:sp>
        <p:nvSpPr>
          <p:cNvPr id="14" name="Text 10"/>
          <p:cNvSpPr txBox="1"/>
          <p:nvPr/>
        </p:nvSpPr>
        <p:spPr>
          <a:xfrm>
            <a:off x="7863840" y="3931920"/>
            <a:ext cx="3794760" cy="2331720"/>
          </a:xfrm>
          <a:prstGeom prst="rect">
            <a:avLst/>
          </a:prstGeom>
          <a:noFill/>
          <a:ln/>
        </p:spPr>
        <p:txBody>
          <a:bodyPr wrap="square" lIns="635" tIns="635" rIns="635" bIns="635" rtlCol="0" anchor="t"/>
          <a:lstStyle/>
          <a:p>
            <a:pPr marL="190500" indent="-190500">
              <a:spcAft>
                <a:spcPts val="800"/>
              </a:spcAft>
              <a:buSzPct val="100000"/>
              <a:buChar char="•"/>
            </a:pPr>
            <a:r>
              <a:rPr lang="en-US" sz="1350" dirty="0">
                <a:solidFill>
                  <a:schemeClr val="tx1"/>
                </a:solidFill>
              </a:rPr>
              <a:t>1 user: one request at a time, ~11 ms each → 1000 ÷ 11 ≈ 90 req/s.</a:t>
            </a:r>
            <a:endParaRPr lang="en-US" sz="1350" dirty="0"/>
          </a:p>
          <a:p>
            <a:pPr marL="190500" indent="-190500">
              <a:spcAft>
                <a:spcPts val="800"/>
              </a:spcAft>
              <a:buSzPct val="100000"/>
              <a:buChar char="•"/>
            </a:pPr>
            <a:r>
              <a:rPr lang="en-US" sz="1350" dirty="0">
                <a:solidFill>
                  <a:schemeClr val="tx1"/>
                </a:solidFill>
              </a:rPr>
              <a:t>2 users: +80 %. 4 users: peak, the system's capacity.</a:t>
            </a:r>
            <a:endParaRPr lang="en-US" sz="1350" dirty="0"/>
          </a:p>
          <a:p>
            <a:pPr marL="190500" indent="-190500">
              <a:spcAft>
                <a:spcPts val="800"/>
              </a:spcAft>
              <a:buSzPct val="100000"/>
              <a:buChar char="•"/>
            </a:pPr>
            <a:r>
              <a:rPr lang="en-US" sz="1350" dirty="0">
                <a:solidFill>
                  <a:schemeClr val="tx1"/>
                </a:solidFill>
              </a:rPr>
              <a:t>8–16 users: −8 %. More threads fight over the busy Borrow process.</a:t>
            </a:r>
            <a:endParaRPr lang="en-US" sz="1350" dirty="0"/>
          </a:p>
        </p:txBody>
      </p:sp>
      <p:sp>
        <p:nvSpPr>
          <p:cNvPr id="25" name="Slide Number Placeholder 0"/>
          <p:cNvSpPr>
            <a:spLocks noGrp="1"/>
          </p:cNvSpPr>
          <p:nvPr>
            <p:ph type="sldNum" sz="quarter" idx="4294967295"/>
          </p:nvPr>
        </p:nvSpPr>
        <p:spPr>
          <a:xfrm>
            <a:off x="1115568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235440" cy="777240"/>
          </a:xfrm>
          <a:prstGeom prst="rect">
            <a:avLst/>
          </a:prstGeom>
          <a:noFill/>
          <a:ln/>
        </p:spPr>
        <p:txBody>
          <a:bodyPr wrap="square" lIns="0" tIns="0" rIns="0" bIns="0" rtlCol="0" anchor="ctr"/>
          <a:lstStyle/>
          <a:p>
            <a:pPr algn="l" indent="0" marL="0">
              <a:buNone/>
            </a:pPr>
            <a:r>
              <a:rPr lang="en-US" sz="2800" b="1" dirty="0">
                <a:solidFill>
                  <a:schemeClr val="tx1"/>
                </a:solidFill>
              </a:rPr>
              <a:t>Fig. 3 &amp; 7 — Borrow's CPU is the bottleneck</a:t>
            </a:r>
            <a:endParaRPr lang="en-US" sz="2800" dirty="0"/>
          </a:p>
        </p:txBody>
      </p:sp>
      <p:sp>
        <p:nvSpPr>
          <p:cNvPr id="3" name="cp badge"/>
          <p:cNvSpPr/>
          <p:nvPr/>
        </p:nvSpPr>
        <p:spPr>
          <a:xfrm>
            <a:off x="9921240" y="457200"/>
            <a:ext cx="1737360" cy="438912"/>
          </a:xfrm>
          <a:prstGeom prst="roundRect">
            <a:avLst>
              <a:gd name="adj" fmla="val 50000"/>
            </a:avLst>
          </a:prstGeom>
          <a:solidFill>
            <a:srgbClr val="7C3AED"/>
          </a:solidFill>
          <a:ln w="12700">
            <a:solidFill>
              <a:srgbClr val="7C3AED"/>
            </a:solidFill>
            <a:prstDash val="solid"/>
          </a:ln>
        </p:spPr>
      </p:sp>
      <p:sp>
        <p:nvSpPr>
          <p:cNvPr id="4" name="Text 2"/>
          <p:cNvSpPr txBox="1"/>
          <p:nvPr/>
        </p:nvSpPr>
        <p:spPr>
          <a:xfrm>
            <a:off x="9921240" y="457200"/>
            <a:ext cx="1737360" cy="438912"/>
          </a:xfrm>
          <a:prstGeom prst="rect">
            <a:avLst/>
          </a:prstGeom>
          <a:noFill/>
          <a:ln/>
        </p:spPr>
        <p:txBody>
          <a:bodyPr wrap="square" lIns="0" tIns="0" rIns="0" bIns="0" rtlCol="0" anchor="ctr"/>
          <a:lstStyle/>
          <a:p>
            <a:pPr algn="ctr" indent="0" marL="0">
              <a:buNone/>
            </a:pPr>
            <a:r>
              <a:rPr lang="en-US" sz="1150" b="1" spc="100" kern="0" dirty="0">
                <a:solidFill>
                  <a:schemeClr val="bg1"/>
                </a:solidFill>
              </a:rPr>
              <a:t>CP5 · ANALYSIS</a:t>
            </a:r>
            <a:endParaRPr lang="en-US" sz="1150" dirty="0"/>
          </a:p>
        </p:txBody>
      </p:sp>
      <p:sp>
        <p:nvSpPr>
          <p:cNvPr id="6" name="frame"/>
          <p:cNvSpPr/>
          <p:nvPr/>
        </p:nvSpPr>
        <p:spPr>
          <a:xfrm>
            <a:off x="493776" y="1271016"/>
            <a:ext cx="5870448" cy="3420487"/>
          </a:xfrm>
          <a:prstGeom prst="roundRect">
            <a:avLst>
              <a:gd name="adj" fmla="val 1604"/>
            </a:avLst>
          </a:prstGeom>
          <a:solidFill>
            <a:srgbClr val="FFFFFF"/>
          </a:solidFill>
          <a:ln w="9525">
            <a:solidFill>
              <a:srgbClr val="CBD5E1"/>
            </a:solidFill>
            <a:prstDash val="solid"/>
          </a:ln>
          <a:effectLst>
            <a:outerShdw sx="100000" sy="100000" kx="0" ky="0" algn="bl" rotWithShape="0" blurRad="76200" dist="25400" dir="5400000">
              <a:srgbClr val="000000">
                <a:alpha val="18000"/>
              </a:srgbClr>
            </a:outerShdw>
          </a:effectLst>
        </p:spPr>
      </p:sp>
      <p:pic>
        <p:nvPicPr>
          <p:cNvPr id="7" name="03_cpu_vs_concurrency.png" descr="C:/Users/Asus/Desktop/Cloud_computing/PGC/PGC_lab/CC_github/CC_lab_evaluation/graphs/03_cpu_vs_concurrency.png">    </p:cNvPr>
          <p:cNvPicPr>
            <a:picLocks noChangeAspect="1"/>
          </p:cNvPicPr>
          <p:nvPr/>
        </p:nvPicPr>
        <p:blipFill>
          <a:blip r:embed="rId1"/>
          <a:stretch>
            <a:fillRect/>
          </a:stretch>
        </p:blipFill>
        <p:spPr>
          <a:xfrm>
            <a:off x="548640" y="1325880"/>
            <a:ext cx="5760720" cy="3310759"/>
          </a:xfrm>
          <a:prstGeom prst="rect">
            <a:avLst/>
          </a:prstGeom>
        </p:spPr>
      </p:pic>
      <p:sp>
        <p:nvSpPr>
          <p:cNvPr id="8" name="frame"/>
          <p:cNvSpPr/>
          <p:nvPr/>
        </p:nvSpPr>
        <p:spPr>
          <a:xfrm>
            <a:off x="6564020" y="1271016"/>
            <a:ext cx="5149444" cy="3447288"/>
          </a:xfrm>
          <a:prstGeom prst="roundRect">
            <a:avLst>
              <a:gd name="adj" fmla="val 1592"/>
            </a:avLst>
          </a:prstGeom>
          <a:solidFill>
            <a:srgbClr val="FFFFFF"/>
          </a:solidFill>
          <a:ln w="9525">
            <a:solidFill>
              <a:srgbClr val="CBD5E1"/>
            </a:solidFill>
            <a:prstDash val="solid"/>
          </a:ln>
          <a:effectLst>
            <a:outerShdw sx="100000" sy="100000" kx="0" ky="0" algn="bl" rotWithShape="0" blurRad="76200" dist="25400" dir="5400000">
              <a:srgbClr val="000000">
                <a:alpha val="18000"/>
              </a:srgbClr>
            </a:outerShdw>
          </a:effectLst>
        </p:spPr>
      </p:sp>
      <p:pic>
        <p:nvPicPr>
          <p:cNvPr id="9" name="07_cpu_share_per_service.png" descr="C:/Users/Asus/Desktop/Cloud_computing/PGC/PGC_lab/CC_github/CC_lab_evaluation/graphs/07_cpu_share_per_service.png">    </p:cNvPr>
          <p:cNvPicPr>
            <a:picLocks noChangeAspect="1"/>
          </p:cNvPicPr>
          <p:nvPr/>
        </p:nvPicPr>
        <p:blipFill>
          <a:blip r:embed="rId2"/>
          <a:stretch>
            <a:fillRect/>
          </a:stretch>
        </p:blipFill>
        <p:spPr>
          <a:xfrm>
            <a:off x="6618884" y="1325880"/>
            <a:ext cx="5039716" cy="3337560"/>
          </a:xfrm>
          <a:prstGeom prst="rect">
            <a:avLst/>
          </a:prstGeom>
        </p:spPr>
      </p:pic>
      <p:sp>
        <p:nvSpPr>
          <p:cNvPr id="10" name="stat"/>
          <p:cNvSpPr/>
          <p:nvPr/>
        </p:nvSpPr>
        <p:spPr>
          <a:xfrm>
            <a:off x="548640" y="4983480"/>
            <a:ext cx="2788920" cy="1143000"/>
          </a:xfrm>
          <a:prstGeom prst="roundRect">
            <a:avLst>
              <a:gd name="adj" fmla="val 9600"/>
            </a:avLst>
          </a:prstGeom>
          <a:solidFill>
            <a:srgbClr val="EDE9FE"/>
          </a:solidFill>
          <a:ln w="12700">
            <a:solidFill>
              <a:srgbClr val="EDE9FE"/>
            </a:solidFill>
            <a:prstDash val="solid"/>
          </a:ln>
        </p:spPr>
      </p:sp>
      <p:sp>
        <p:nvSpPr>
          <p:cNvPr id="11" name="Text 6"/>
          <p:cNvSpPr txBox="1"/>
          <p:nvPr/>
        </p:nvSpPr>
        <p:spPr>
          <a:xfrm>
            <a:off x="685800" y="5074920"/>
            <a:ext cx="2514600" cy="594360"/>
          </a:xfrm>
          <a:prstGeom prst="rect">
            <a:avLst/>
          </a:prstGeom>
          <a:noFill/>
          <a:ln/>
        </p:spPr>
        <p:txBody>
          <a:bodyPr wrap="square" lIns="0" tIns="0" rIns="0" bIns="0" rtlCol="0" anchor="ctr"/>
          <a:lstStyle/>
          <a:p>
            <a:pPr algn="l" indent="0" marL="0">
              <a:buNone/>
            </a:pPr>
            <a:r>
              <a:rPr lang="en-US" sz="2800" b="1" dirty="0">
                <a:solidFill>
                  <a:srgbClr val="7C3AED"/>
                </a:solidFill>
              </a:rPr>
              <a:t>51 → 127 %</a:t>
            </a:r>
            <a:endParaRPr lang="en-US" sz="2800" dirty="0"/>
          </a:p>
        </p:txBody>
      </p:sp>
      <p:sp>
        <p:nvSpPr>
          <p:cNvPr id="12" name="Text 7"/>
          <p:cNvSpPr txBox="1"/>
          <p:nvPr/>
        </p:nvSpPr>
        <p:spPr>
          <a:xfrm>
            <a:off x="685800" y="5669280"/>
            <a:ext cx="2514600" cy="384048"/>
          </a:xfrm>
          <a:prstGeom prst="rect">
            <a:avLst/>
          </a:prstGeom>
          <a:noFill/>
          <a:ln/>
        </p:spPr>
        <p:txBody>
          <a:bodyPr wrap="square" lIns="0" tIns="0" rIns="0" bIns="0" rtlCol="0" anchor="t"/>
          <a:lstStyle/>
          <a:p>
            <a:pPr algn="l" indent="0" marL="0">
              <a:buNone/>
            </a:pPr>
            <a:r>
              <a:rPr lang="en-US" sz="1200" dirty="0">
                <a:solidFill>
                  <a:schemeClr val="tx2"/>
                </a:solidFill>
              </a:rPr>
              <a:t>Borrow CPU; flat from W3, where throughput stopped</a:t>
            </a:r>
            <a:endParaRPr lang="en-US" sz="1200" dirty="0"/>
          </a:p>
        </p:txBody>
      </p:sp>
      <p:sp>
        <p:nvSpPr>
          <p:cNvPr id="13" name="stat"/>
          <p:cNvSpPr/>
          <p:nvPr/>
        </p:nvSpPr>
        <p:spPr>
          <a:xfrm>
            <a:off x="3474720" y="4983480"/>
            <a:ext cx="2788920" cy="1143000"/>
          </a:xfrm>
          <a:prstGeom prst="roundRect">
            <a:avLst>
              <a:gd name="adj" fmla="val 9600"/>
            </a:avLst>
          </a:prstGeom>
          <a:solidFill>
            <a:srgbClr val="DBEAFE"/>
          </a:solidFill>
          <a:ln w="12700">
            <a:solidFill>
              <a:srgbClr val="DBEAFE"/>
            </a:solidFill>
            <a:prstDash val="solid"/>
          </a:ln>
        </p:spPr>
      </p:sp>
      <p:sp>
        <p:nvSpPr>
          <p:cNvPr id="14" name="Text 9"/>
          <p:cNvSpPr txBox="1"/>
          <p:nvPr/>
        </p:nvSpPr>
        <p:spPr>
          <a:xfrm>
            <a:off x="3611880" y="5074920"/>
            <a:ext cx="2514600" cy="594360"/>
          </a:xfrm>
          <a:prstGeom prst="rect">
            <a:avLst/>
          </a:prstGeom>
          <a:noFill/>
          <a:ln/>
        </p:spPr>
        <p:txBody>
          <a:bodyPr wrap="square" lIns="0" tIns="0" rIns="0" bIns="0" rtlCol="0" anchor="ctr"/>
          <a:lstStyle/>
          <a:p>
            <a:pPr algn="l" indent="0" marL="0">
              <a:buNone/>
            </a:pPr>
            <a:r>
              <a:rPr lang="en-US" sz="2800" b="1" dirty="0">
                <a:solidFill>
                  <a:srgbClr val="2563EB"/>
                </a:solidFill>
              </a:rPr>
              <a:t>≈ 45–50 %</a:t>
            </a:r>
            <a:endParaRPr lang="en-US" sz="2800" dirty="0"/>
          </a:p>
        </p:txBody>
      </p:sp>
      <p:sp>
        <p:nvSpPr>
          <p:cNvPr id="15" name="Text 10"/>
          <p:cNvSpPr txBox="1"/>
          <p:nvPr/>
        </p:nvSpPr>
        <p:spPr>
          <a:xfrm>
            <a:off x="3611880" y="5669280"/>
            <a:ext cx="2514600" cy="384048"/>
          </a:xfrm>
          <a:prstGeom prst="rect">
            <a:avLst/>
          </a:prstGeom>
          <a:noFill/>
          <a:ln/>
        </p:spPr>
        <p:txBody>
          <a:bodyPr wrap="square" lIns="0" tIns="0" rIns="0" bIns="0" rtlCol="0" anchor="t"/>
          <a:lstStyle/>
          <a:p>
            <a:pPr algn="l" indent="0" marL="0">
              <a:buNone/>
            </a:pPr>
            <a:r>
              <a:rPr lang="en-US" sz="1200" dirty="0">
                <a:solidFill>
                  <a:schemeClr val="tx2"/>
                </a:solidFill>
              </a:rPr>
              <a:t>Book &amp; Member: waiting for Borrow</a:t>
            </a:r>
            <a:endParaRPr lang="en-US" sz="1200" dirty="0"/>
          </a:p>
        </p:txBody>
      </p:sp>
      <p:sp>
        <p:nvSpPr>
          <p:cNvPr id="16" name="stat"/>
          <p:cNvSpPr/>
          <p:nvPr/>
        </p:nvSpPr>
        <p:spPr>
          <a:xfrm>
            <a:off x="6583680" y="4983480"/>
            <a:ext cx="2423160" cy="1143000"/>
          </a:xfrm>
          <a:prstGeom prst="roundRect">
            <a:avLst>
              <a:gd name="adj" fmla="val 9600"/>
            </a:avLst>
          </a:prstGeom>
          <a:solidFill>
            <a:srgbClr val="EDE9FE"/>
          </a:solidFill>
          <a:ln w="12700">
            <a:solidFill>
              <a:srgbClr val="EDE9FE"/>
            </a:solidFill>
            <a:prstDash val="solid"/>
          </a:ln>
        </p:spPr>
      </p:sp>
      <p:sp>
        <p:nvSpPr>
          <p:cNvPr id="17" name="Text 12"/>
          <p:cNvSpPr txBox="1"/>
          <p:nvPr/>
        </p:nvSpPr>
        <p:spPr>
          <a:xfrm>
            <a:off x="6720840" y="5074920"/>
            <a:ext cx="2148840" cy="594360"/>
          </a:xfrm>
          <a:prstGeom prst="rect">
            <a:avLst/>
          </a:prstGeom>
          <a:noFill/>
          <a:ln/>
        </p:spPr>
        <p:txBody>
          <a:bodyPr wrap="square" lIns="0" tIns="0" rIns="0" bIns="0" rtlCol="0" anchor="ctr"/>
          <a:lstStyle/>
          <a:p>
            <a:pPr algn="l" indent="0" marL="0">
              <a:buNone/>
            </a:pPr>
            <a:r>
              <a:rPr lang="en-US" sz="2800" b="1" dirty="0">
                <a:solidFill>
                  <a:srgbClr val="7C3AED"/>
                </a:solidFill>
              </a:rPr>
              <a:t>40 % → 56 %</a:t>
            </a:r>
            <a:endParaRPr lang="en-US" sz="2800" dirty="0"/>
          </a:p>
        </p:txBody>
      </p:sp>
      <p:sp>
        <p:nvSpPr>
          <p:cNvPr id="18" name="Text 13"/>
          <p:cNvSpPr txBox="1"/>
          <p:nvPr/>
        </p:nvSpPr>
        <p:spPr>
          <a:xfrm>
            <a:off x="6720840" y="5669280"/>
            <a:ext cx="2148840" cy="384048"/>
          </a:xfrm>
          <a:prstGeom prst="rect">
            <a:avLst/>
          </a:prstGeom>
          <a:noFill/>
          <a:ln/>
        </p:spPr>
        <p:txBody>
          <a:bodyPr wrap="square" lIns="0" tIns="0" rIns="0" bIns="0" rtlCol="0" anchor="t"/>
          <a:lstStyle/>
          <a:p>
            <a:pPr algn="l" indent="0" marL="0">
              <a:buNone/>
            </a:pPr>
            <a:r>
              <a:rPr lang="en-US" sz="1200" dirty="0">
                <a:solidFill>
                  <a:schemeClr val="tx2"/>
                </a:solidFill>
              </a:rPr>
              <a:t>Borrow's share of app CPU</a:t>
            </a:r>
            <a:endParaRPr lang="en-US" sz="1200" dirty="0"/>
          </a:p>
        </p:txBody>
      </p:sp>
      <p:sp>
        <p:nvSpPr>
          <p:cNvPr id="19" name="stat"/>
          <p:cNvSpPr/>
          <p:nvPr/>
        </p:nvSpPr>
        <p:spPr>
          <a:xfrm>
            <a:off x="9235440" y="4983480"/>
            <a:ext cx="2423160" cy="1143000"/>
          </a:xfrm>
          <a:prstGeom prst="roundRect">
            <a:avLst>
              <a:gd name="adj" fmla="val 9600"/>
            </a:avLst>
          </a:prstGeom>
          <a:solidFill>
            <a:srgbClr val="FFEDD5"/>
          </a:solidFill>
          <a:ln w="12700">
            <a:solidFill>
              <a:srgbClr val="FFEDD5"/>
            </a:solidFill>
            <a:prstDash val="solid"/>
          </a:ln>
        </p:spPr>
      </p:sp>
      <p:sp>
        <p:nvSpPr>
          <p:cNvPr id="20" name="Text 15"/>
          <p:cNvSpPr txBox="1"/>
          <p:nvPr/>
        </p:nvSpPr>
        <p:spPr>
          <a:xfrm>
            <a:off x="9372600" y="5074920"/>
            <a:ext cx="2148840" cy="594360"/>
          </a:xfrm>
          <a:prstGeom prst="rect">
            <a:avLst/>
          </a:prstGeom>
          <a:noFill/>
          <a:ln/>
        </p:spPr>
        <p:txBody>
          <a:bodyPr wrap="square" lIns="0" tIns="0" rIns="0" bIns="0" rtlCol="0" anchor="ctr"/>
          <a:lstStyle/>
          <a:p>
            <a:pPr algn="l" indent="0" marL="0">
              <a:buNone/>
            </a:pPr>
            <a:r>
              <a:rPr lang="en-US" sz="2800" b="1" dirty="0">
                <a:solidFill>
                  <a:srgbClr val="EA580C"/>
                </a:solidFill>
              </a:rPr>
              <a:t>11–14 %</a:t>
            </a:r>
            <a:endParaRPr lang="en-US" sz="2800" dirty="0"/>
          </a:p>
        </p:txBody>
      </p:sp>
      <p:sp>
        <p:nvSpPr>
          <p:cNvPr id="21" name="Text 16"/>
          <p:cNvSpPr txBox="1"/>
          <p:nvPr/>
        </p:nvSpPr>
        <p:spPr>
          <a:xfrm>
            <a:off x="9372600" y="5669280"/>
            <a:ext cx="2148840" cy="384048"/>
          </a:xfrm>
          <a:prstGeom prst="rect">
            <a:avLst/>
          </a:prstGeom>
          <a:noFill/>
          <a:ln/>
        </p:spPr>
        <p:txBody>
          <a:bodyPr wrap="square" lIns="0" tIns="0" rIns="0" bIns="0" rtlCol="0" anchor="t"/>
          <a:lstStyle/>
          <a:p>
            <a:pPr algn="l" indent="0" marL="0">
              <a:buNone/>
            </a:pPr>
            <a:r>
              <a:rPr lang="en-US" sz="1200" dirty="0">
                <a:solidFill>
                  <a:schemeClr val="tx2"/>
                </a:solidFill>
              </a:rPr>
              <a:t>Notification: healthcheck only</a:t>
            </a:r>
            <a:endParaRPr lang="en-US" sz="1200" dirty="0"/>
          </a:p>
        </p:txBody>
      </p:sp>
      <p:sp>
        <p:nvSpPr>
          <p:cNvPr id="25" name="Slide Number Placeholder 0"/>
          <p:cNvSpPr>
            <a:spLocks noGrp="1"/>
          </p:cNvSpPr>
          <p:nvPr>
            <p:ph type="sldNum" sz="quarter" idx="4294967295"/>
          </p:nvPr>
        </p:nvSpPr>
        <p:spPr>
          <a:xfrm>
            <a:off x="1115568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235440" cy="777240"/>
          </a:xfrm>
          <a:prstGeom prst="rect">
            <a:avLst/>
          </a:prstGeom>
          <a:noFill/>
          <a:ln/>
        </p:spPr>
        <p:txBody>
          <a:bodyPr wrap="square" lIns="0" tIns="0" rIns="0" bIns="0" rtlCol="0" anchor="ctr"/>
          <a:lstStyle/>
          <a:p>
            <a:pPr algn="l" indent="0" marL="0">
              <a:buNone/>
            </a:pPr>
            <a:r>
              <a:rPr lang="en-US" sz="2800" b="1" dirty="0">
                <a:solidFill>
                  <a:schemeClr val="tx1"/>
                </a:solidFill>
              </a:rPr>
              <a:t>Fig. 4 &amp; 6 — Memory flat, zero failures</a:t>
            </a:r>
            <a:endParaRPr lang="en-US" sz="2800" dirty="0"/>
          </a:p>
        </p:txBody>
      </p:sp>
      <p:sp>
        <p:nvSpPr>
          <p:cNvPr id="3" name="cp badge"/>
          <p:cNvSpPr/>
          <p:nvPr/>
        </p:nvSpPr>
        <p:spPr>
          <a:xfrm>
            <a:off x="9921240" y="457200"/>
            <a:ext cx="1737360" cy="438912"/>
          </a:xfrm>
          <a:prstGeom prst="roundRect">
            <a:avLst>
              <a:gd name="adj" fmla="val 50000"/>
            </a:avLst>
          </a:prstGeom>
          <a:solidFill>
            <a:srgbClr val="7C3AED"/>
          </a:solidFill>
          <a:ln w="12700">
            <a:solidFill>
              <a:srgbClr val="7C3AED"/>
            </a:solidFill>
            <a:prstDash val="solid"/>
          </a:ln>
        </p:spPr>
      </p:sp>
      <p:sp>
        <p:nvSpPr>
          <p:cNvPr id="4" name="Text 2"/>
          <p:cNvSpPr txBox="1"/>
          <p:nvPr/>
        </p:nvSpPr>
        <p:spPr>
          <a:xfrm>
            <a:off x="9921240" y="457200"/>
            <a:ext cx="1737360" cy="438912"/>
          </a:xfrm>
          <a:prstGeom prst="rect">
            <a:avLst/>
          </a:prstGeom>
          <a:noFill/>
          <a:ln/>
        </p:spPr>
        <p:txBody>
          <a:bodyPr wrap="square" lIns="0" tIns="0" rIns="0" bIns="0" rtlCol="0" anchor="ctr"/>
          <a:lstStyle/>
          <a:p>
            <a:pPr algn="ctr" indent="0" marL="0">
              <a:buNone/>
            </a:pPr>
            <a:r>
              <a:rPr lang="en-US" sz="1150" b="1" spc="100" kern="0" dirty="0">
                <a:solidFill>
                  <a:schemeClr val="bg1"/>
                </a:solidFill>
              </a:rPr>
              <a:t>CP5 · ANALYSIS</a:t>
            </a:r>
            <a:endParaRPr lang="en-US" sz="1150" dirty="0"/>
          </a:p>
        </p:txBody>
      </p:sp>
      <p:sp>
        <p:nvSpPr>
          <p:cNvPr id="6" name="frame"/>
          <p:cNvSpPr/>
          <p:nvPr/>
        </p:nvSpPr>
        <p:spPr>
          <a:xfrm>
            <a:off x="493776" y="1271016"/>
            <a:ext cx="5870448" cy="3420487"/>
          </a:xfrm>
          <a:prstGeom prst="roundRect">
            <a:avLst>
              <a:gd name="adj" fmla="val 1604"/>
            </a:avLst>
          </a:prstGeom>
          <a:solidFill>
            <a:srgbClr val="FFFFFF"/>
          </a:solidFill>
          <a:ln w="9525">
            <a:solidFill>
              <a:srgbClr val="CBD5E1"/>
            </a:solidFill>
            <a:prstDash val="solid"/>
          </a:ln>
          <a:effectLst>
            <a:outerShdw sx="100000" sy="100000" kx="0" ky="0" algn="bl" rotWithShape="0" blurRad="76200" dist="25400" dir="5400000">
              <a:srgbClr val="000000">
                <a:alpha val="18000"/>
              </a:srgbClr>
            </a:outerShdw>
          </a:effectLst>
        </p:spPr>
      </p:sp>
      <p:pic>
        <p:nvPicPr>
          <p:cNvPr id="7" name="04_memory_vs_concurrency.png" descr="C:/Users/Asus/Desktop/Cloud_computing/PGC/PGC_lab/CC_github/CC_lab_evaluation/graphs/04_memory_vs_concurrency.png">    </p:cNvPr>
          <p:cNvPicPr>
            <a:picLocks noChangeAspect="1"/>
          </p:cNvPicPr>
          <p:nvPr/>
        </p:nvPicPr>
        <p:blipFill>
          <a:blip r:embed="rId1"/>
          <a:stretch>
            <a:fillRect/>
          </a:stretch>
        </p:blipFill>
        <p:spPr>
          <a:xfrm>
            <a:off x="548640" y="1325880"/>
            <a:ext cx="5760720" cy="3310759"/>
          </a:xfrm>
          <a:prstGeom prst="rect">
            <a:avLst/>
          </a:prstGeom>
        </p:spPr>
      </p:pic>
      <p:sp>
        <p:nvSpPr>
          <p:cNvPr id="8" name="frame"/>
          <p:cNvSpPr/>
          <p:nvPr/>
        </p:nvSpPr>
        <p:spPr>
          <a:xfrm>
            <a:off x="6345936" y="1271016"/>
            <a:ext cx="5367528" cy="3202552"/>
          </a:xfrm>
          <a:prstGeom prst="roundRect">
            <a:avLst>
              <a:gd name="adj" fmla="val 1713"/>
            </a:avLst>
          </a:prstGeom>
          <a:solidFill>
            <a:srgbClr val="FFFFFF"/>
          </a:solidFill>
          <a:ln w="9525">
            <a:solidFill>
              <a:srgbClr val="CBD5E1"/>
            </a:solidFill>
            <a:prstDash val="solid"/>
          </a:ln>
          <a:effectLst>
            <a:outerShdw sx="100000" sy="100000" kx="0" ky="0" algn="bl" rotWithShape="0" blurRad="76200" dist="25400" dir="5400000">
              <a:srgbClr val="000000">
                <a:alpha val="18000"/>
              </a:srgbClr>
            </a:outerShdw>
          </a:effectLst>
        </p:spPr>
      </p:sp>
      <p:pic>
        <p:nvPicPr>
          <p:cNvPr id="9" name="06_requests_and_failures.png" descr="C:/Users/Asus/Desktop/Cloud_computing/PGC/PGC_lab/CC_github/CC_lab_evaluation/graphs/06_requests_and_failures.png">    </p:cNvPr>
          <p:cNvPicPr>
            <a:picLocks noChangeAspect="1"/>
          </p:cNvPicPr>
          <p:nvPr/>
        </p:nvPicPr>
        <p:blipFill>
          <a:blip r:embed="rId2"/>
          <a:stretch>
            <a:fillRect/>
          </a:stretch>
        </p:blipFill>
        <p:spPr>
          <a:xfrm>
            <a:off x="6400800" y="1325880"/>
            <a:ext cx="5257800" cy="3092824"/>
          </a:xfrm>
          <a:prstGeom prst="rect">
            <a:avLst/>
          </a:prstGeom>
        </p:spPr>
      </p:pic>
      <p:sp>
        <p:nvSpPr>
          <p:cNvPr id="10" name="stat"/>
          <p:cNvSpPr/>
          <p:nvPr/>
        </p:nvSpPr>
        <p:spPr>
          <a:xfrm>
            <a:off x="548640" y="4983480"/>
            <a:ext cx="2788920" cy="1143000"/>
          </a:xfrm>
          <a:prstGeom prst="roundRect">
            <a:avLst>
              <a:gd name="adj" fmla="val 9600"/>
            </a:avLst>
          </a:prstGeom>
          <a:solidFill>
            <a:srgbClr val="DCFCE7"/>
          </a:solidFill>
          <a:ln w="12700">
            <a:solidFill>
              <a:srgbClr val="DCFCE7"/>
            </a:solidFill>
            <a:prstDash val="solid"/>
          </a:ln>
        </p:spPr>
      </p:sp>
      <p:sp>
        <p:nvSpPr>
          <p:cNvPr id="11" name="Text 6"/>
          <p:cNvSpPr txBox="1"/>
          <p:nvPr/>
        </p:nvSpPr>
        <p:spPr>
          <a:xfrm>
            <a:off x="685800" y="5074920"/>
            <a:ext cx="2514600" cy="594360"/>
          </a:xfrm>
          <a:prstGeom prst="rect">
            <a:avLst/>
          </a:prstGeom>
          <a:noFill/>
          <a:ln/>
        </p:spPr>
        <p:txBody>
          <a:bodyPr wrap="square" lIns="0" tIns="0" rIns="0" bIns="0" rtlCol="0" anchor="ctr"/>
          <a:lstStyle/>
          <a:p>
            <a:pPr algn="l" indent="0" marL="0">
              <a:buNone/>
            </a:pPr>
            <a:r>
              <a:rPr lang="en-US" sz="2800" b="1" dirty="0">
                <a:solidFill>
                  <a:srgbClr val="16A34A"/>
                </a:solidFill>
              </a:rPr>
              <a:t>257–270 MiB</a:t>
            </a:r>
            <a:endParaRPr lang="en-US" sz="2800" dirty="0"/>
          </a:p>
        </p:txBody>
      </p:sp>
      <p:sp>
        <p:nvSpPr>
          <p:cNvPr id="12" name="Text 7"/>
          <p:cNvSpPr txBox="1"/>
          <p:nvPr/>
        </p:nvSpPr>
        <p:spPr>
          <a:xfrm>
            <a:off x="685800" y="5669280"/>
            <a:ext cx="2514600" cy="384048"/>
          </a:xfrm>
          <a:prstGeom prst="rect">
            <a:avLst/>
          </a:prstGeom>
          <a:noFill/>
          <a:ln/>
        </p:spPr>
        <p:txBody>
          <a:bodyPr wrap="square" lIns="0" tIns="0" rIns="0" bIns="0" rtlCol="0" anchor="t"/>
          <a:lstStyle/>
          <a:p>
            <a:pPr algn="l" indent="0" marL="0">
              <a:buNone/>
            </a:pPr>
            <a:r>
              <a:rPr lang="en-US" sz="1200" dirty="0">
                <a:solidFill>
                  <a:schemeClr val="tx2"/>
                </a:solidFill>
              </a:rPr>
              <a:t>total memory, 1 → 16 users</a:t>
            </a:r>
            <a:endParaRPr lang="en-US" sz="1200" dirty="0"/>
          </a:p>
        </p:txBody>
      </p:sp>
      <p:sp>
        <p:nvSpPr>
          <p:cNvPr id="13" name="stat"/>
          <p:cNvSpPr/>
          <p:nvPr/>
        </p:nvSpPr>
        <p:spPr>
          <a:xfrm>
            <a:off x="3520440" y="4983480"/>
            <a:ext cx="2788920" cy="1143000"/>
          </a:xfrm>
          <a:prstGeom prst="roundRect">
            <a:avLst>
              <a:gd name="adj" fmla="val 9600"/>
            </a:avLst>
          </a:prstGeom>
          <a:solidFill>
            <a:srgbClr val="F1F5F9"/>
          </a:solidFill>
          <a:ln w="12700">
            <a:solidFill>
              <a:srgbClr val="F1F5F9"/>
            </a:solidFill>
            <a:prstDash val="solid"/>
          </a:ln>
        </p:spPr>
      </p:sp>
      <p:sp>
        <p:nvSpPr>
          <p:cNvPr id="14" name="Text 9"/>
          <p:cNvSpPr txBox="1"/>
          <p:nvPr/>
        </p:nvSpPr>
        <p:spPr>
          <a:xfrm>
            <a:off x="3657600" y="5074920"/>
            <a:ext cx="2514600" cy="594360"/>
          </a:xfrm>
          <a:prstGeom prst="rect">
            <a:avLst/>
          </a:prstGeom>
          <a:noFill/>
          <a:ln/>
        </p:spPr>
        <p:txBody>
          <a:bodyPr wrap="square" lIns="0" tIns="0" rIns="0" bIns="0" rtlCol="0" anchor="ctr"/>
          <a:lstStyle/>
          <a:p>
            <a:pPr algn="l" indent="0" marL="0">
              <a:buNone/>
            </a:pPr>
            <a:r>
              <a:rPr lang="en-US" sz="2800" b="1" dirty="0">
                <a:solidFill>
                  <a:srgbClr val="0F172A"/>
                </a:solidFill>
              </a:rPr>
              <a:t>&lt; 300 MiB</a:t>
            </a:r>
            <a:endParaRPr lang="en-US" sz="2800" dirty="0"/>
          </a:p>
        </p:txBody>
      </p:sp>
      <p:sp>
        <p:nvSpPr>
          <p:cNvPr id="15" name="Text 10"/>
          <p:cNvSpPr txBox="1"/>
          <p:nvPr/>
        </p:nvSpPr>
        <p:spPr>
          <a:xfrm>
            <a:off x="3657600" y="5669280"/>
            <a:ext cx="2514600" cy="384048"/>
          </a:xfrm>
          <a:prstGeom prst="rect">
            <a:avLst/>
          </a:prstGeom>
          <a:noFill/>
          <a:ln/>
        </p:spPr>
        <p:txBody>
          <a:bodyPr wrap="square" lIns="0" tIns="0" rIns="0" bIns="0" rtlCol="0" anchor="t"/>
          <a:lstStyle/>
          <a:p>
            <a:pPr algn="l" indent="0" marL="0">
              <a:buNone/>
            </a:pPr>
            <a:r>
              <a:rPr lang="en-US" sz="1200" dirty="0">
                <a:solidFill>
                  <a:schemeClr val="tx2"/>
                </a:solidFill>
              </a:rPr>
              <a:t>of 7.66 GiB — CPU limits, not memory</a:t>
            </a:r>
            <a:endParaRPr lang="en-US" sz="1200" dirty="0"/>
          </a:p>
        </p:txBody>
      </p:sp>
      <p:sp>
        <p:nvSpPr>
          <p:cNvPr id="16" name="stat"/>
          <p:cNvSpPr/>
          <p:nvPr/>
        </p:nvSpPr>
        <p:spPr>
          <a:xfrm>
            <a:off x="6583680" y="4983480"/>
            <a:ext cx="2423160" cy="1143000"/>
          </a:xfrm>
          <a:prstGeom prst="roundRect">
            <a:avLst>
              <a:gd name="adj" fmla="val 9600"/>
            </a:avLst>
          </a:prstGeom>
          <a:solidFill>
            <a:srgbClr val="F1F5F9"/>
          </a:solidFill>
          <a:ln w="12700">
            <a:solidFill>
              <a:srgbClr val="F1F5F9"/>
            </a:solidFill>
            <a:prstDash val="solid"/>
          </a:ln>
        </p:spPr>
      </p:sp>
      <p:sp>
        <p:nvSpPr>
          <p:cNvPr id="17" name="Text 12"/>
          <p:cNvSpPr txBox="1"/>
          <p:nvPr/>
        </p:nvSpPr>
        <p:spPr>
          <a:xfrm>
            <a:off x="6720840" y="5074920"/>
            <a:ext cx="2148840" cy="594360"/>
          </a:xfrm>
          <a:prstGeom prst="rect">
            <a:avLst/>
          </a:prstGeom>
          <a:noFill/>
          <a:ln/>
        </p:spPr>
        <p:txBody>
          <a:bodyPr wrap="square" lIns="0" tIns="0" rIns="0" bIns="0" rtlCol="0" anchor="ctr"/>
          <a:lstStyle/>
          <a:p>
            <a:pPr algn="l" indent="0" marL="0">
              <a:buNone/>
            </a:pPr>
            <a:r>
              <a:rPr lang="en-US" sz="2800" b="1" dirty="0">
                <a:solidFill>
                  <a:srgbClr val="0F172A"/>
                </a:solidFill>
              </a:rPr>
              <a:t>41,220</a:t>
            </a:r>
            <a:endParaRPr lang="en-US" sz="2800" dirty="0"/>
          </a:p>
        </p:txBody>
      </p:sp>
      <p:sp>
        <p:nvSpPr>
          <p:cNvPr id="18" name="Text 13"/>
          <p:cNvSpPr txBox="1"/>
          <p:nvPr/>
        </p:nvSpPr>
        <p:spPr>
          <a:xfrm>
            <a:off x="6720840" y="5669280"/>
            <a:ext cx="2148840" cy="384048"/>
          </a:xfrm>
          <a:prstGeom prst="rect">
            <a:avLst/>
          </a:prstGeom>
          <a:noFill/>
          <a:ln/>
        </p:spPr>
        <p:txBody>
          <a:bodyPr wrap="square" lIns="0" tIns="0" rIns="0" bIns="0" rtlCol="0" anchor="t"/>
          <a:lstStyle/>
          <a:p>
            <a:pPr algn="l" indent="0" marL="0">
              <a:buNone/>
            </a:pPr>
            <a:r>
              <a:rPr lang="en-US" sz="1200" dirty="0">
                <a:solidFill>
                  <a:schemeClr val="tx2"/>
                </a:solidFill>
              </a:rPr>
              <a:t>requests completed</a:t>
            </a:r>
            <a:endParaRPr lang="en-US" sz="1200" dirty="0"/>
          </a:p>
        </p:txBody>
      </p:sp>
      <p:sp>
        <p:nvSpPr>
          <p:cNvPr id="19" name="stat"/>
          <p:cNvSpPr/>
          <p:nvPr/>
        </p:nvSpPr>
        <p:spPr>
          <a:xfrm>
            <a:off x="9235440" y="4983480"/>
            <a:ext cx="2423160" cy="1143000"/>
          </a:xfrm>
          <a:prstGeom prst="roundRect">
            <a:avLst>
              <a:gd name="adj" fmla="val 9600"/>
            </a:avLst>
          </a:prstGeom>
          <a:solidFill>
            <a:srgbClr val="DCFCE7"/>
          </a:solidFill>
          <a:ln w="12700">
            <a:solidFill>
              <a:srgbClr val="DCFCE7"/>
            </a:solidFill>
            <a:prstDash val="solid"/>
          </a:ln>
        </p:spPr>
      </p:sp>
      <p:sp>
        <p:nvSpPr>
          <p:cNvPr id="20" name="Text 15"/>
          <p:cNvSpPr txBox="1"/>
          <p:nvPr/>
        </p:nvSpPr>
        <p:spPr>
          <a:xfrm>
            <a:off x="9372600" y="5074920"/>
            <a:ext cx="2148840" cy="594360"/>
          </a:xfrm>
          <a:prstGeom prst="rect">
            <a:avLst/>
          </a:prstGeom>
          <a:noFill/>
          <a:ln/>
        </p:spPr>
        <p:txBody>
          <a:bodyPr wrap="square" lIns="0" tIns="0" rIns="0" bIns="0" rtlCol="0" anchor="ctr"/>
          <a:lstStyle/>
          <a:p>
            <a:pPr algn="l" indent="0" marL="0">
              <a:buNone/>
            </a:pPr>
            <a:r>
              <a:rPr lang="en-US" sz="2800" b="1" dirty="0">
                <a:solidFill>
                  <a:srgbClr val="16A34A"/>
                </a:solidFill>
              </a:rPr>
              <a:t>0 failed</a:t>
            </a:r>
            <a:endParaRPr lang="en-US" sz="2800" dirty="0"/>
          </a:p>
        </p:txBody>
      </p:sp>
      <p:sp>
        <p:nvSpPr>
          <p:cNvPr id="21" name="Text 16"/>
          <p:cNvSpPr txBox="1"/>
          <p:nvPr/>
        </p:nvSpPr>
        <p:spPr>
          <a:xfrm>
            <a:off x="9372600" y="5669280"/>
            <a:ext cx="2148840" cy="384048"/>
          </a:xfrm>
          <a:prstGeom prst="rect">
            <a:avLst/>
          </a:prstGeom>
          <a:noFill/>
          <a:ln/>
        </p:spPr>
        <p:txBody>
          <a:bodyPr wrap="square" lIns="0" tIns="0" rIns="0" bIns="0" rtlCol="0" anchor="t"/>
          <a:lstStyle/>
          <a:p>
            <a:pPr algn="l" indent="0" marL="0">
              <a:buNone/>
            </a:pPr>
            <a:r>
              <a:rPr lang="en-US" sz="1200" dirty="0">
                <a:solidFill>
                  <a:schemeClr val="tx2"/>
                </a:solidFill>
              </a:rPr>
              <a:t>slower under load, never broke</a:t>
            </a:r>
            <a:endParaRPr lang="en-US" sz="1200" dirty="0"/>
          </a:p>
        </p:txBody>
      </p:sp>
      <p:sp>
        <p:nvSpPr>
          <p:cNvPr id="25" name="Slide Number Placeholder 0"/>
          <p:cNvSpPr>
            <a:spLocks noGrp="1"/>
          </p:cNvSpPr>
          <p:nvPr>
            <p:ph type="sldNum" sz="quarter" idx="4294967295"/>
          </p:nvPr>
        </p:nvSpPr>
        <p:spPr>
          <a:xfrm>
            <a:off x="1115568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235440" cy="777240"/>
          </a:xfrm>
          <a:prstGeom prst="rect">
            <a:avLst/>
          </a:prstGeom>
          <a:noFill/>
          <a:ln/>
        </p:spPr>
        <p:txBody>
          <a:bodyPr wrap="square" lIns="0" tIns="0" rIns="0" bIns="0" rtlCol="0" anchor="ctr"/>
          <a:lstStyle/>
          <a:p>
            <a:pPr algn="l" indent="0" marL="0">
              <a:buNone/>
            </a:pPr>
            <a:r>
              <a:rPr lang="en-US" sz="2800" b="1" dirty="0">
                <a:solidFill>
                  <a:schemeClr val="tx1"/>
                </a:solidFill>
              </a:rPr>
              <a:t>Fig. 5 &amp; 9 — The knee and Little's Law</a:t>
            </a:r>
            <a:endParaRPr lang="en-US" sz="2800" dirty="0"/>
          </a:p>
        </p:txBody>
      </p:sp>
      <p:sp>
        <p:nvSpPr>
          <p:cNvPr id="3" name="cp badge"/>
          <p:cNvSpPr/>
          <p:nvPr/>
        </p:nvSpPr>
        <p:spPr>
          <a:xfrm>
            <a:off x="9921240" y="457200"/>
            <a:ext cx="1737360" cy="438912"/>
          </a:xfrm>
          <a:prstGeom prst="roundRect">
            <a:avLst>
              <a:gd name="adj" fmla="val 50000"/>
            </a:avLst>
          </a:prstGeom>
          <a:solidFill>
            <a:srgbClr val="7C3AED"/>
          </a:solidFill>
          <a:ln w="12700">
            <a:solidFill>
              <a:srgbClr val="7C3AED"/>
            </a:solidFill>
            <a:prstDash val="solid"/>
          </a:ln>
        </p:spPr>
      </p:sp>
      <p:sp>
        <p:nvSpPr>
          <p:cNvPr id="4" name="Text 2"/>
          <p:cNvSpPr txBox="1"/>
          <p:nvPr/>
        </p:nvSpPr>
        <p:spPr>
          <a:xfrm>
            <a:off x="9921240" y="457200"/>
            <a:ext cx="1737360" cy="438912"/>
          </a:xfrm>
          <a:prstGeom prst="rect">
            <a:avLst/>
          </a:prstGeom>
          <a:noFill/>
          <a:ln/>
        </p:spPr>
        <p:txBody>
          <a:bodyPr wrap="square" lIns="0" tIns="0" rIns="0" bIns="0" rtlCol="0" anchor="ctr"/>
          <a:lstStyle/>
          <a:p>
            <a:pPr algn="ctr" indent="0" marL="0">
              <a:buNone/>
            </a:pPr>
            <a:r>
              <a:rPr lang="en-US" sz="1150" b="1" spc="100" kern="0" dirty="0">
                <a:solidFill>
                  <a:schemeClr val="bg1"/>
                </a:solidFill>
              </a:rPr>
              <a:t>CP5 · ANALYSIS</a:t>
            </a:r>
            <a:endParaRPr lang="en-US" sz="1150" dirty="0"/>
          </a:p>
        </p:txBody>
      </p:sp>
      <p:sp>
        <p:nvSpPr>
          <p:cNvPr id="6" name="frame"/>
          <p:cNvSpPr/>
          <p:nvPr/>
        </p:nvSpPr>
        <p:spPr>
          <a:xfrm>
            <a:off x="493776" y="1271016"/>
            <a:ext cx="5583326" cy="3447288"/>
          </a:xfrm>
          <a:prstGeom prst="roundRect">
            <a:avLst>
              <a:gd name="adj" fmla="val 1592"/>
            </a:avLst>
          </a:prstGeom>
          <a:solidFill>
            <a:srgbClr val="FFFFFF"/>
          </a:solidFill>
          <a:ln w="9525">
            <a:solidFill>
              <a:srgbClr val="CBD5E1"/>
            </a:solidFill>
            <a:prstDash val="solid"/>
          </a:ln>
          <a:effectLst>
            <a:outerShdw sx="100000" sy="100000" kx="0" ky="0" algn="bl" rotWithShape="0" blurRad="76200" dist="25400" dir="5400000">
              <a:srgbClr val="000000">
                <a:alpha val="18000"/>
              </a:srgbClr>
            </a:outerShdw>
          </a:effectLst>
        </p:spPr>
      </p:sp>
      <p:pic>
        <p:nvPicPr>
          <p:cNvPr id="7" name="05_throughput_vs_response_time.png" descr="C:/Users/Asus/Desktop/Cloud_computing/PGC/PGC_lab/CC_github/CC_lab_evaluation/graphs/05_throughput_vs_response_time.png">    </p:cNvPr>
          <p:cNvPicPr>
            <a:picLocks noChangeAspect="1"/>
          </p:cNvPicPr>
          <p:nvPr/>
        </p:nvPicPr>
        <p:blipFill>
          <a:blip r:embed="rId1"/>
          <a:stretch>
            <a:fillRect/>
          </a:stretch>
        </p:blipFill>
        <p:spPr>
          <a:xfrm>
            <a:off x="548640" y="1325880"/>
            <a:ext cx="5473598" cy="3337560"/>
          </a:xfrm>
          <a:prstGeom prst="rect">
            <a:avLst/>
          </a:prstGeom>
        </p:spPr>
      </p:pic>
      <p:sp>
        <p:nvSpPr>
          <p:cNvPr id="8" name="frame"/>
          <p:cNvSpPr/>
          <p:nvPr/>
        </p:nvSpPr>
        <p:spPr>
          <a:xfrm>
            <a:off x="6363767" y="1271016"/>
            <a:ext cx="5349697" cy="3447288"/>
          </a:xfrm>
          <a:prstGeom prst="roundRect">
            <a:avLst>
              <a:gd name="adj" fmla="val 1592"/>
            </a:avLst>
          </a:prstGeom>
          <a:solidFill>
            <a:srgbClr val="FFFFFF"/>
          </a:solidFill>
          <a:ln w="9525">
            <a:solidFill>
              <a:srgbClr val="CBD5E1"/>
            </a:solidFill>
            <a:prstDash val="solid"/>
          </a:ln>
          <a:effectLst>
            <a:outerShdw sx="100000" sy="100000" kx="0" ky="0" algn="bl" rotWithShape="0" blurRad="76200" dist="25400" dir="5400000">
              <a:srgbClr val="000000">
                <a:alpha val="18000"/>
              </a:srgbClr>
            </a:outerShdw>
          </a:effectLst>
        </p:spPr>
      </p:sp>
      <p:pic>
        <p:nvPicPr>
          <p:cNvPr id="9" name="09_littles_law_check.png" descr="C:/Users/Asus/Desktop/Cloud_computing/PGC/PGC_lab/CC_github/CC_lab_evaluation/graphs/09_littles_law_check.png">    </p:cNvPr>
          <p:cNvPicPr>
            <a:picLocks noChangeAspect="1"/>
          </p:cNvPicPr>
          <p:nvPr/>
        </p:nvPicPr>
        <p:blipFill>
          <a:blip r:embed="rId2"/>
          <a:stretch>
            <a:fillRect/>
          </a:stretch>
        </p:blipFill>
        <p:spPr>
          <a:xfrm>
            <a:off x="6418631" y="1325880"/>
            <a:ext cx="5239969" cy="3337560"/>
          </a:xfrm>
          <a:prstGeom prst="rect">
            <a:avLst/>
          </a:prstGeom>
        </p:spPr>
      </p:pic>
      <p:sp>
        <p:nvSpPr>
          <p:cNvPr id="10" name="card"/>
          <p:cNvSpPr/>
          <p:nvPr/>
        </p:nvSpPr>
        <p:spPr>
          <a:xfrm>
            <a:off x="548640" y="4892040"/>
            <a:ext cx="5486400" cy="1325880"/>
          </a:xfrm>
          <a:prstGeom prst="roundRect">
            <a:avLst>
              <a:gd name="adj" fmla="val 8276"/>
            </a:avLst>
          </a:prstGeom>
          <a:solidFill>
            <a:srgbClr val="DBEAFE"/>
          </a:solidFill>
          <a:ln w="12700">
            <a:solidFill>
              <a:srgbClr val="DBEAFE"/>
            </a:solidFill>
            <a:prstDash val="solid"/>
          </a:ln>
        </p:spPr>
      </p:sp>
      <p:sp>
        <p:nvSpPr>
          <p:cNvPr id="11" name="Text 6"/>
          <p:cNvSpPr txBox="1"/>
          <p:nvPr/>
        </p:nvSpPr>
        <p:spPr>
          <a:xfrm>
            <a:off x="731520" y="4892040"/>
            <a:ext cx="5166360" cy="1325880"/>
          </a:xfrm>
          <a:prstGeom prst="rect">
            <a:avLst/>
          </a:prstGeom>
          <a:noFill/>
          <a:ln/>
        </p:spPr>
        <p:txBody>
          <a:bodyPr wrap="square" lIns="0" tIns="0" rIns="0" bIns="0" rtlCol="0" anchor="ctr"/>
          <a:lstStyle/>
          <a:p>
            <a:pPr indent="0" marL="0">
              <a:buNone/>
            </a:pPr>
            <a:r>
              <a:rPr lang="en-US" sz="1350" b="1" dirty="0">
                <a:solidFill>
                  <a:srgbClr val="2563EB"/>
                </a:solidFill>
              </a:rPr>
              <a:t>Knee: </a:t>
            </a:r>
            <a:pPr indent="0" marL="0">
              <a:buNone/>
            </a:pPr>
            <a:r>
              <a:rPr lang="en-US" sz="1350" dirty="0">
                <a:solidFill>
                  <a:srgbClr val="0F172A"/>
                </a:solidFill>
              </a:rPr>
              <a:t>right = more work at the same speed; up = only waiting. Best operating point: 2–4 concurrent requests (max throughput at 12–25 ms).</a:t>
            </a:r>
            <a:endParaRPr lang="en-US" sz="135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6355080" y="5212080"/>
          <a:ext cx="5303520" cy="914400"/>
        </p:xfrm>
        <a:graphic>
          <a:graphicData uri="http://schemas.openxmlformats.org/drawingml/2006/table">
            <a:tbl>
              <a:tblPr/>
              <a:tblGrid>
                <a:gridCol w="1188720"/>
                <a:gridCol w="822960"/>
                <a:gridCol w="822960"/>
                <a:gridCol w="822960"/>
                <a:gridCol w="822960"/>
                <a:gridCol w="822960"/>
              </a:tblGrid>
              <a:tr h="310896">
                <a:tc>
                  <a:txBody>
                    <a:bodyPr/>
                    <a:lstStyle/>
                    <a:p>
                      <a:pPr algn="ctr" indent="0" marL="0">
                        <a:buNone/>
                      </a:pPr>
                      <a:endParaRPr lang="en-US" sz="1250" dirty="0">
                        <a:latin typeface="Segoe UI" charset="0"/>
                        <a:ea typeface="Segoe UI" charset="0"/>
                        <a:cs typeface="Segoe UI" charset="0"/>
                      </a:endParaRPr>
                    </a:p>
                  </a:txBody>
                  <a:tcPr marL="63500" marR="635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7C3AED"/>
                    </a:solidFill>
                  </a:tcPr>
                </a:tc>
                <a:tc>
                  <a:txBody>
                    <a:bodyPr/>
                    <a:lstStyle/>
                    <a:p>
                      <a:pPr algn="ctr" indent="0" marL="0">
                        <a:buNone/>
                      </a:pPr>
                      <a:r>
                        <a:rPr lang="en-US" sz="1250" b="1" dirty="0">
                          <a:solidFill>
                            <a:srgbClr val="FFFFFF"/>
                          </a:solidFill>
                          <a:latin typeface="Segoe UI" pitchFamily="34" charset="0"/>
                          <a:ea typeface="Segoe UI" pitchFamily="34" charset="-122"/>
                          <a:cs typeface="Segoe UI" pitchFamily="34" charset="-120"/>
                        </a:rPr>
                        <a:t>W1</a:t>
                      </a:r>
                      <a:endParaRPr lang="en-US" sz="1250" dirty="0">
                        <a:latin typeface="Segoe UI" charset="0"/>
                        <a:ea typeface="Segoe UI" charset="0"/>
                        <a:cs typeface="Segoe UI" charset="0"/>
                      </a:endParaRPr>
                    </a:p>
                  </a:txBody>
                  <a:tcPr marL="63500" marR="635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7C3AED"/>
                    </a:solidFill>
                  </a:tcPr>
                </a:tc>
                <a:tc>
                  <a:txBody>
                    <a:bodyPr/>
                    <a:lstStyle/>
                    <a:p>
                      <a:pPr algn="ctr" indent="0" marL="0">
                        <a:buNone/>
                      </a:pPr>
                      <a:r>
                        <a:rPr lang="en-US" sz="1250" b="1" dirty="0">
                          <a:solidFill>
                            <a:srgbClr val="FFFFFF"/>
                          </a:solidFill>
                          <a:latin typeface="Segoe UI" pitchFamily="34" charset="0"/>
                          <a:ea typeface="Segoe UI" pitchFamily="34" charset="-122"/>
                          <a:cs typeface="Segoe UI" pitchFamily="34" charset="-120"/>
                        </a:rPr>
                        <a:t>W2</a:t>
                      </a:r>
                      <a:endParaRPr lang="en-US" sz="1250" dirty="0">
                        <a:latin typeface="Segoe UI" charset="0"/>
                        <a:ea typeface="Segoe UI" charset="0"/>
                        <a:cs typeface="Segoe UI" charset="0"/>
                      </a:endParaRPr>
                    </a:p>
                  </a:txBody>
                  <a:tcPr marL="63500" marR="635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7C3AED"/>
                    </a:solidFill>
                  </a:tcPr>
                </a:tc>
                <a:tc>
                  <a:txBody>
                    <a:bodyPr/>
                    <a:lstStyle/>
                    <a:p>
                      <a:pPr algn="ctr" indent="0" marL="0">
                        <a:buNone/>
                      </a:pPr>
                      <a:r>
                        <a:rPr lang="en-US" sz="1250" b="1" dirty="0">
                          <a:solidFill>
                            <a:srgbClr val="FFFFFF"/>
                          </a:solidFill>
                          <a:latin typeface="Segoe UI" pitchFamily="34" charset="0"/>
                          <a:ea typeface="Segoe UI" pitchFamily="34" charset="-122"/>
                          <a:cs typeface="Segoe UI" pitchFamily="34" charset="-120"/>
                        </a:rPr>
                        <a:t>W3</a:t>
                      </a:r>
                      <a:endParaRPr lang="en-US" sz="1250" dirty="0">
                        <a:latin typeface="Segoe UI" charset="0"/>
                        <a:ea typeface="Segoe UI" charset="0"/>
                        <a:cs typeface="Segoe UI" charset="0"/>
                      </a:endParaRPr>
                    </a:p>
                  </a:txBody>
                  <a:tcPr marL="63500" marR="635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7C3AED"/>
                    </a:solidFill>
                  </a:tcPr>
                </a:tc>
                <a:tc>
                  <a:txBody>
                    <a:bodyPr/>
                    <a:lstStyle/>
                    <a:p>
                      <a:pPr algn="ctr" indent="0" marL="0">
                        <a:buNone/>
                      </a:pPr>
                      <a:r>
                        <a:rPr lang="en-US" sz="1250" b="1" dirty="0">
                          <a:solidFill>
                            <a:srgbClr val="FFFFFF"/>
                          </a:solidFill>
                          <a:latin typeface="Segoe UI" pitchFamily="34" charset="0"/>
                          <a:ea typeface="Segoe UI" pitchFamily="34" charset="-122"/>
                          <a:cs typeface="Segoe UI" pitchFamily="34" charset="-120"/>
                        </a:rPr>
                        <a:t>W4</a:t>
                      </a:r>
                      <a:endParaRPr lang="en-US" sz="1250" dirty="0">
                        <a:latin typeface="Segoe UI" charset="0"/>
                        <a:ea typeface="Segoe UI" charset="0"/>
                        <a:cs typeface="Segoe UI" charset="0"/>
                      </a:endParaRPr>
                    </a:p>
                  </a:txBody>
                  <a:tcPr marL="63500" marR="635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7C3AED"/>
                    </a:solidFill>
                  </a:tcPr>
                </a:tc>
                <a:tc>
                  <a:txBody>
                    <a:bodyPr/>
                    <a:lstStyle/>
                    <a:p>
                      <a:pPr algn="ctr" indent="0" marL="0">
                        <a:buNone/>
                      </a:pPr>
                      <a:r>
                        <a:rPr lang="en-US" sz="1250" b="1" dirty="0">
                          <a:solidFill>
                            <a:srgbClr val="FFFFFF"/>
                          </a:solidFill>
                          <a:latin typeface="Segoe UI" pitchFamily="34" charset="0"/>
                          <a:ea typeface="Segoe UI" pitchFamily="34" charset="-122"/>
                          <a:cs typeface="Segoe UI" pitchFamily="34" charset="-120"/>
                        </a:rPr>
                        <a:t>W5</a:t>
                      </a:r>
                      <a:endParaRPr lang="en-US" sz="1250" dirty="0">
                        <a:latin typeface="Segoe UI" charset="0"/>
                        <a:ea typeface="Segoe UI" charset="0"/>
                        <a:cs typeface="Segoe UI" charset="0"/>
                      </a:endParaRPr>
                    </a:p>
                  </a:txBody>
                  <a:tcPr marL="63500" marR="635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7C3AED"/>
                    </a:solidFill>
                  </a:tcPr>
                </a:tc>
              </a:tr>
              <a:tr h="310896">
                <a:tc>
                  <a:txBody>
                    <a:bodyPr/>
                    <a:lstStyle/>
                    <a:p>
                      <a:pPr algn="ctr" indent="0" marL="0">
                        <a:buNone/>
                      </a:pPr>
                      <a:r>
                        <a:rPr lang="en-US" sz="1250" dirty="0">
                          <a:solidFill>
                            <a:srgbClr val="0F172A"/>
                          </a:solidFill>
                          <a:latin typeface="Segoe UI" pitchFamily="34" charset="0"/>
                          <a:ea typeface="Segoe UI" pitchFamily="34" charset="-122"/>
                          <a:cs typeface="Segoe UI" pitchFamily="34" charset="-120"/>
                        </a:rPr>
                        <a:t>Users N</a:t>
                      </a:r>
                      <a:endParaRPr lang="en-US" sz="1250" dirty="0">
                        <a:latin typeface="Segoe UI" charset="0"/>
                        <a:ea typeface="Segoe UI" charset="0"/>
                        <a:cs typeface="Segoe UI" charset="0"/>
                      </a:endParaRPr>
                    </a:p>
                  </a:txBody>
                  <a:tcPr marL="63500" marR="635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0F172A"/>
                          </a:solidFill>
                          <a:latin typeface="Segoe UI" pitchFamily="34" charset="0"/>
                          <a:ea typeface="Segoe UI" pitchFamily="34" charset="-122"/>
                          <a:cs typeface="Segoe UI" pitchFamily="34" charset="-120"/>
                        </a:rPr>
                        <a:t>1</a:t>
                      </a:r>
                      <a:endParaRPr lang="en-US" sz="1250" dirty="0">
                        <a:latin typeface="Segoe UI" charset="0"/>
                        <a:ea typeface="Segoe UI" charset="0"/>
                        <a:cs typeface="Segoe UI" charset="0"/>
                      </a:endParaRPr>
                    </a:p>
                  </a:txBody>
                  <a:tcPr marL="63500" marR="635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0F172A"/>
                          </a:solidFill>
                          <a:latin typeface="Segoe UI" pitchFamily="34" charset="0"/>
                          <a:ea typeface="Segoe UI" pitchFamily="34" charset="-122"/>
                          <a:cs typeface="Segoe UI" pitchFamily="34" charset="-120"/>
                        </a:rPr>
                        <a:t>2</a:t>
                      </a:r>
                      <a:endParaRPr lang="en-US" sz="1250" dirty="0">
                        <a:latin typeface="Segoe UI" charset="0"/>
                        <a:ea typeface="Segoe UI" charset="0"/>
                        <a:cs typeface="Segoe UI" charset="0"/>
                      </a:endParaRPr>
                    </a:p>
                  </a:txBody>
                  <a:tcPr marL="63500" marR="635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0F172A"/>
                          </a:solidFill>
                          <a:latin typeface="Segoe UI" pitchFamily="34" charset="0"/>
                          <a:ea typeface="Segoe UI" pitchFamily="34" charset="-122"/>
                          <a:cs typeface="Segoe UI" pitchFamily="34" charset="-120"/>
                        </a:rPr>
                        <a:t>4</a:t>
                      </a:r>
                      <a:endParaRPr lang="en-US" sz="1250" dirty="0">
                        <a:latin typeface="Segoe UI" charset="0"/>
                        <a:ea typeface="Segoe UI" charset="0"/>
                        <a:cs typeface="Segoe UI" charset="0"/>
                      </a:endParaRPr>
                    </a:p>
                  </a:txBody>
                  <a:tcPr marL="63500" marR="635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0F172A"/>
                          </a:solidFill>
                          <a:latin typeface="Segoe UI" pitchFamily="34" charset="0"/>
                          <a:ea typeface="Segoe UI" pitchFamily="34" charset="-122"/>
                          <a:cs typeface="Segoe UI" pitchFamily="34" charset="-120"/>
                        </a:rPr>
                        <a:t>8</a:t>
                      </a:r>
                      <a:endParaRPr lang="en-US" sz="1250" dirty="0">
                        <a:latin typeface="Segoe UI" charset="0"/>
                        <a:ea typeface="Segoe UI" charset="0"/>
                        <a:cs typeface="Segoe UI" charset="0"/>
                      </a:endParaRPr>
                    </a:p>
                  </a:txBody>
                  <a:tcPr marL="63500" marR="635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0F172A"/>
                          </a:solidFill>
                          <a:latin typeface="Segoe UI" pitchFamily="34" charset="0"/>
                          <a:ea typeface="Segoe UI" pitchFamily="34" charset="-122"/>
                          <a:cs typeface="Segoe UI" pitchFamily="34" charset="-120"/>
                        </a:rPr>
                        <a:t>16</a:t>
                      </a:r>
                      <a:endParaRPr lang="en-US" sz="1250" dirty="0">
                        <a:latin typeface="Segoe UI" charset="0"/>
                        <a:ea typeface="Segoe UI" charset="0"/>
                        <a:cs typeface="Segoe UI" charset="0"/>
                      </a:endParaRPr>
                    </a:p>
                  </a:txBody>
                  <a:tcPr marL="63500" marR="635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algn="ctr" indent="0" marL="0">
                        <a:buNone/>
                      </a:pPr>
                      <a:r>
                        <a:rPr lang="en-US" sz="1250" b="1" dirty="0">
                          <a:solidFill>
                            <a:srgbClr val="0F172A"/>
                          </a:solidFill>
                          <a:latin typeface="Segoe UI" pitchFamily="34" charset="0"/>
                          <a:ea typeface="Segoe UI" pitchFamily="34" charset="-122"/>
                          <a:cs typeface="Segoe UI" pitchFamily="34" charset="-120"/>
                        </a:rPr>
                        <a:t>X × R</a:t>
                      </a:r>
                      <a:endParaRPr lang="en-US" sz="1250" dirty="0">
                        <a:latin typeface="Segoe UI" charset="0"/>
                        <a:ea typeface="Segoe UI" charset="0"/>
                        <a:cs typeface="Segoe UI" charset="0"/>
                      </a:endParaRPr>
                    </a:p>
                  </a:txBody>
                  <a:tcPr marL="63500" marR="635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algn="ctr" indent="0" marL="0">
                        <a:buNone/>
                      </a:pPr>
                      <a:r>
                        <a:rPr lang="en-US" sz="1250" dirty="0">
                          <a:solidFill>
                            <a:srgbClr val="0F172A"/>
                          </a:solidFill>
                          <a:latin typeface="Segoe UI" pitchFamily="34" charset="0"/>
                          <a:ea typeface="Segoe UI" pitchFamily="34" charset="-122"/>
                          <a:cs typeface="Segoe UI" pitchFamily="34" charset="-120"/>
                        </a:rPr>
                        <a:t>0.99</a:t>
                      </a:r>
                      <a:endParaRPr lang="en-US" sz="1250" dirty="0">
                        <a:latin typeface="Segoe UI" charset="0"/>
                        <a:ea typeface="Segoe UI" charset="0"/>
                        <a:cs typeface="Segoe UI" charset="0"/>
                      </a:endParaRPr>
                    </a:p>
                  </a:txBody>
                  <a:tcPr marL="63500" marR="635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algn="ctr" indent="0" marL="0">
                        <a:buNone/>
                      </a:pPr>
                      <a:r>
                        <a:rPr lang="en-US" sz="1250" dirty="0">
                          <a:solidFill>
                            <a:srgbClr val="0F172A"/>
                          </a:solidFill>
                          <a:latin typeface="Segoe UI" pitchFamily="34" charset="0"/>
                          <a:ea typeface="Segoe UI" pitchFamily="34" charset="-122"/>
                          <a:cs typeface="Segoe UI" pitchFamily="34" charset="-120"/>
                        </a:rPr>
                        <a:t>1.98</a:t>
                      </a:r>
                      <a:endParaRPr lang="en-US" sz="1250" dirty="0">
                        <a:latin typeface="Segoe UI" charset="0"/>
                        <a:ea typeface="Segoe UI" charset="0"/>
                        <a:cs typeface="Segoe UI" charset="0"/>
                      </a:endParaRPr>
                    </a:p>
                  </a:txBody>
                  <a:tcPr marL="63500" marR="635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algn="ctr" indent="0" marL="0">
                        <a:buNone/>
                      </a:pPr>
                      <a:r>
                        <a:rPr lang="en-US" sz="1250" dirty="0">
                          <a:solidFill>
                            <a:srgbClr val="0F172A"/>
                          </a:solidFill>
                          <a:latin typeface="Segoe UI" pitchFamily="34" charset="0"/>
                          <a:ea typeface="Segoe UI" pitchFamily="34" charset="-122"/>
                          <a:cs typeface="Segoe UI" pitchFamily="34" charset="-120"/>
                        </a:rPr>
                        <a:t>3.97</a:t>
                      </a:r>
                      <a:endParaRPr lang="en-US" sz="1250" dirty="0">
                        <a:latin typeface="Segoe UI" charset="0"/>
                        <a:ea typeface="Segoe UI" charset="0"/>
                        <a:cs typeface="Segoe UI" charset="0"/>
                      </a:endParaRPr>
                    </a:p>
                  </a:txBody>
                  <a:tcPr marL="63500" marR="635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algn="ctr" indent="0" marL="0">
                        <a:buNone/>
                      </a:pPr>
                      <a:r>
                        <a:rPr lang="en-US" sz="1250" dirty="0">
                          <a:solidFill>
                            <a:srgbClr val="0F172A"/>
                          </a:solidFill>
                          <a:latin typeface="Segoe UI" pitchFamily="34" charset="0"/>
                          <a:ea typeface="Segoe UI" pitchFamily="34" charset="-122"/>
                          <a:cs typeface="Segoe UI" pitchFamily="34" charset="-120"/>
                        </a:rPr>
                        <a:t>7.97</a:t>
                      </a:r>
                      <a:endParaRPr lang="en-US" sz="1250" dirty="0">
                        <a:latin typeface="Segoe UI" charset="0"/>
                        <a:ea typeface="Segoe UI" charset="0"/>
                        <a:cs typeface="Segoe UI" charset="0"/>
                      </a:endParaRPr>
                    </a:p>
                  </a:txBody>
                  <a:tcPr marL="63500" marR="635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algn="ctr" indent="0" marL="0">
                        <a:buNone/>
                      </a:pPr>
                      <a:r>
                        <a:rPr lang="en-US" sz="1250" dirty="0">
                          <a:solidFill>
                            <a:srgbClr val="0F172A"/>
                          </a:solidFill>
                          <a:latin typeface="Segoe UI" pitchFamily="34" charset="0"/>
                          <a:ea typeface="Segoe UI" pitchFamily="34" charset="-122"/>
                          <a:cs typeface="Segoe UI" pitchFamily="34" charset="-120"/>
                        </a:rPr>
                        <a:t>15.96</a:t>
                      </a:r>
                      <a:endParaRPr lang="en-US" sz="1250" dirty="0">
                        <a:latin typeface="Segoe UI" charset="0"/>
                        <a:ea typeface="Segoe UI" charset="0"/>
                        <a:cs typeface="Segoe UI" charset="0"/>
                      </a:endParaRPr>
                    </a:p>
                  </a:txBody>
                  <a:tcPr marL="63500" marR="635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r>
            </a:tbl>
          </a:graphicData>
        </a:graphic>
      </p:graphicFrame>
      <p:sp>
        <p:nvSpPr>
          <p:cNvPr id="13" name="Text 7"/>
          <p:cNvSpPr txBox="1"/>
          <p:nvPr/>
        </p:nvSpPr>
        <p:spPr>
          <a:xfrm>
            <a:off x="6355080" y="4873752"/>
            <a:ext cx="5303520" cy="292608"/>
          </a:xfrm>
          <a:prstGeom prst="rect">
            <a:avLst/>
          </a:prstGeom>
          <a:noFill/>
          <a:ln/>
        </p:spPr>
        <p:txBody>
          <a:bodyPr wrap="square" lIns="0" tIns="0" rIns="0" bIns="0" rtlCol="0" anchor="ctr"/>
          <a:lstStyle/>
          <a:p>
            <a:pPr indent="0" marL="0">
              <a:buNone/>
            </a:pPr>
            <a:r>
              <a:rPr lang="en-US" sz="1200" i="1" dirty="0">
                <a:solidFill>
                  <a:schemeClr val="tx2"/>
                </a:solidFill>
              </a:rPr>
              <a:t>N = X × R  (users = throughput × response time)</a:t>
            </a:r>
            <a:endParaRPr lang="en-US" sz="1200" dirty="0"/>
          </a:p>
        </p:txBody>
      </p:sp>
      <p:sp>
        <p:nvSpPr>
          <p:cNvPr id="25" name="Slide Number Placeholder 0"/>
          <p:cNvSpPr>
            <a:spLocks noGrp="1"/>
          </p:cNvSpPr>
          <p:nvPr>
            <p:ph type="sldNum" sz="quarter" idx="4294967295"/>
          </p:nvPr>
        </p:nvSpPr>
        <p:spPr>
          <a:xfrm>
            <a:off x="1115568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235440" cy="777240"/>
          </a:xfrm>
          <a:prstGeom prst="rect">
            <a:avLst/>
          </a:prstGeom>
          <a:noFill/>
          <a:ln/>
        </p:spPr>
        <p:txBody>
          <a:bodyPr wrap="square" lIns="0" tIns="0" rIns="0" bIns="0" rtlCol="0" anchor="ctr"/>
          <a:lstStyle/>
          <a:p>
            <a:pPr algn="l" indent="0" marL="0">
              <a:buNone/>
            </a:pPr>
            <a:r>
              <a:rPr lang="en-US" sz="2800" b="1" dirty="0">
                <a:solidFill>
                  <a:schemeClr val="tx1"/>
                </a:solidFill>
              </a:rPr>
              <a:t>Why the Borrow Service limits the whole system</a:t>
            </a:r>
            <a:endParaRPr lang="en-US" sz="2800" dirty="0"/>
          </a:p>
        </p:txBody>
      </p:sp>
      <p:sp>
        <p:nvSpPr>
          <p:cNvPr id="3" name="cp badge"/>
          <p:cNvSpPr/>
          <p:nvPr/>
        </p:nvSpPr>
        <p:spPr>
          <a:xfrm>
            <a:off x="9921240" y="457200"/>
            <a:ext cx="1737360" cy="438912"/>
          </a:xfrm>
          <a:prstGeom prst="roundRect">
            <a:avLst>
              <a:gd name="adj" fmla="val 50000"/>
            </a:avLst>
          </a:prstGeom>
          <a:solidFill>
            <a:srgbClr val="7C3AED"/>
          </a:solidFill>
          <a:ln w="12700">
            <a:solidFill>
              <a:srgbClr val="7C3AED"/>
            </a:solidFill>
            <a:prstDash val="solid"/>
          </a:ln>
        </p:spPr>
      </p:sp>
      <p:sp>
        <p:nvSpPr>
          <p:cNvPr id="4" name="Text 2"/>
          <p:cNvSpPr txBox="1"/>
          <p:nvPr/>
        </p:nvSpPr>
        <p:spPr>
          <a:xfrm>
            <a:off x="9921240" y="457200"/>
            <a:ext cx="1737360" cy="438912"/>
          </a:xfrm>
          <a:prstGeom prst="rect">
            <a:avLst/>
          </a:prstGeom>
          <a:noFill/>
          <a:ln/>
        </p:spPr>
        <p:txBody>
          <a:bodyPr wrap="square" lIns="0" tIns="0" rIns="0" bIns="0" rtlCol="0" anchor="ctr"/>
          <a:lstStyle/>
          <a:p>
            <a:pPr algn="ctr" indent="0" marL="0">
              <a:buNone/>
            </a:pPr>
            <a:r>
              <a:rPr lang="en-US" sz="1150" b="1" spc="100" kern="0" dirty="0">
                <a:solidFill>
                  <a:schemeClr val="bg1"/>
                </a:solidFill>
              </a:rPr>
              <a:t>CP5 · ANALYSIS</a:t>
            </a:r>
            <a:endParaRPr lang="en-US" sz="1150" dirty="0"/>
          </a:p>
        </p:txBody>
      </p:sp>
      <p:sp>
        <p:nvSpPr>
          <p:cNvPr id="6" name="card"/>
          <p:cNvSpPr/>
          <p:nvPr/>
        </p:nvSpPr>
        <p:spPr>
          <a:xfrm>
            <a:off x="548640" y="1325880"/>
            <a:ext cx="3566160" cy="3063240"/>
          </a:xfrm>
          <a:prstGeom prst="roundRect">
            <a:avLst>
              <a:gd name="adj" fmla="val 3582"/>
            </a:avLst>
          </a:prstGeom>
          <a:solidFill>
            <a:srgbClr val="EDE9FE"/>
          </a:solidFill>
          <a:ln w="12700">
            <a:solidFill>
              <a:srgbClr val="EDE9FE"/>
            </a:solidFill>
            <a:prstDash val="solid"/>
          </a:ln>
        </p:spPr>
      </p:sp>
      <p:sp>
        <p:nvSpPr>
          <p:cNvPr id="7" name="dot"/>
          <p:cNvSpPr/>
          <p:nvPr/>
        </p:nvSpPr>
        <p:spPr>
          <a:xfrm>
            <a:off x="777240" y="1554480"/>
            <a:ext cx="594360" cy="594360"/>
          </a:xfrm>
          <a:prstGeom prst="ellipse">
            <a:avLst/>
          </a:prstGeom>
          <a:solidFill>
            <a:srgbClr val="7C3AED"/>
          </a:solidFill>
          <a:ln w="12700">
            <a:solidFill>
              <a:srgbClr val="7C3AED"/>
            </a:solidFill>
            <a:prstDash val="solid"/>
          </a:ln>
        </p:spPr>
      </p:sp>
      <p:sp>
        <p:nvSpPr>
          <p:cNvPr id="8" name="Text 5"/>
          <p:cNvSpPr txBox="1"/>
          <p:nvPr/>
        </p:nvSpPr>
        <p:spPr>
          <a:xfrm>
            <a:off x="777240" y="1554480"/>
            <a:ext cx="594360" cy="594360"/>
          </a:xfrm>
          <a:prstGeom prst="rect">
            <a:avLst/>
          </a:prstGeom>
          <a:noFill/>
          <a:ln/>
        </p:spPr>
        <p:txBody>
          <a:bodyPr wrap="square" lIns="0" tIns="0" rIns="0" bIns="0" rtlCol="0" anchor="ctr"/>
          <a:lstStyle/>
          <a:p>
            <a:pPr algn="ctr" indent="0" marL="0">
              <a:buNone/>
            </a:pPr>
            <a:r>
              <a:rPr lang="en-US" sz="1800" b="1" dirty="0">
                <a:solidFill>
                  <a:srgbClr val="FFFFFF"/>
                </a:solidFill>
              </a:rPr>
              <a:t>1</a:t>
            </a:r>
            <a:endParaRPr lang="en-US" sz="1800" dirty="0"/>
          </a:p>
        </p:txBody>
      </p:sp>
      <p:sp>
        <p:nvSpPr>
          <p:cNvPr id="9" name="Text 6"/>
          <p:cNvSpPr txBox="1"/>
          <p:nvPr/>
        </p:nvSpPr>
        <p:spPr>
          <a:xfrm>
            <a:off x="777240" y="2286000"/>
            <a:ext cx="3154680" cy="411480"/>
          </a:xfrm>
          <a:prstGeom prst="rect">
            <a:avLst/>
          </a:prstGeom>
          <a:noFill/>
          <a:ln/>
        </p:spPr>
        <p:txBody>
          <a:bodyPr wrap="square" lIns="0" tIns="0" rIns="0" bIns="0" rtlCol="0" anchor="ctr"/>
          <a:lstStyle/>
          <a:p>
            <a:pPr indent="0" marL="0">
              <a:buNone/>
            </a:pPr>
            <a:r>
              <a:rPr lang="en-US" sz="1700" b="1" dirty="0">
                <a:solidFill>
                  <a:srgbClr val="7C3AED"/>
                </a:solidFill>
              </a:rPr>
              <a:t>Most work per request</a:t>
            </a:r>
            <a:endParaRPr lang="en-US" sz="1700" dirty="0"/>
          </a:p>
        </p:txBody>
      </p:sp>
      <p:sp>
        <p:nvSpPr>
          <p:cNvPr id="10" name="Text 7"/>
          <p:cNvSpPr txBox="1"/>
          <p:nvPr/>
        </p:nvSpPr>
        <p:spPr>
          <a:xfrm>
            <a:off x="777240" y="2743200"/>
            <a:ext cx="3154680" cy="1554480"/>
          </a:xfrm>
          <a:prstGeom prst="rect">
            <a:avLst/>
          </a:prstGeom>
          <a:noFill/>
          <a:ln/>
        </p:spPr>
        <p:txBody>
          <a:bodyPr wrap="square" lIns="0" tIns="0" rIns="0" bIns="0" rtlCol="0" anchor="t"/>
          <a:lstStyle/>
          <a:p>
            <a:pPr indent="0" marL="0">
              <a:buNone/>
            </a:pPr>
            <a:r>
              <a:rPr lang="en-US" sz="1350" dirty="0">
                <a:solidFill>
                  <a:srgbClr val="0F172A"/>
                </a:solidFill>
              </a:rPr>
              <a:t>Receives the request, makes 2 outgoing HTTP calls (Member, Book), parses 2 JSON replies, builds its reply. Book and Member do one SQLite lookup each.</a:t>
            </a:r>
            <a:endParaRPr lang="en-US" sz="1350" dirty="0"/>
          </a:p>
        </p:txBody>
      </p:sp>
      <p:sp>
        <p:nvSpPr>
          <p:cNvPr id="11" name="card"/>
          <p:cNvSpPr/>
          <p:nvPr/>
        </p:nvSpPr>
        <p:spPr>
          <a:xfrm>
            <a:off x="4297680" y="1325880"/>
            <a:ext cx="3566160" cy="3063240"/>
          </a:xfrm>
          <a:prstGeom prst="roundRect">
            <a:avLst>
              <a:gd name="adj" fmla="val 3582"/>
            </a:avLst>
          </a:prstGeom>
          <a:solidFill>
            <a:srgbClr val="DBEAFE"/>
          </a:solidFill>
          <a:ln w="12700">
            <a:solidFill>
              <a:srgbClr val="DBEAFE"/>
            </a:solidFill>
            <a:prstDash val="solid"/>
          </a:ln>
        </p:spPr>
      </p:sp>
      <p:sp>
        <p:nvSpPr>
          <p:cNvPr id="12" name="dot"/>
          <p:cNvSpPr/>
          <p:nvPr/>
        </p:nvSpPr>
        <p:spPr>
          <a:xfrm>
            <a:off x="4526280" y="1554480"/>
            <a:ext cx="594360" cy="594360"/>
          </a:xfrm>
          <a:prstGeom prst="ellipse">
            <a:avLst/>
          </a:prstGeom>
          <a:solidFill>
            <a:srgbClr val="2563EB"/>
          </a:solidFill>
          <a:ln w="12700">
            <a:solidFill>
              <a:srgbClr val="2563EB"/>
            </a:solidFill>
            <a:prstDash val="solid"/>
          </a:ln>
        </p:spPr>
      </p:sp>
      <p:sp>
        <p:nvSpPr>
          <p:cNvPr id="13" name="Text 10"/>
          <p:cNvSpPr txBox="1"/>
          <p:nvPr/>
        </p:nvSpPr>
        <p:spPr>
          <a:xfrm>
            <a:off x="4526280" y="1554480"/>
            <a:ext cx="594360" cy="594360"/>
          </a:xfrm>
          <a:prstGeom prst="rect">
            <a:avLst/>
          </a:prstGeom>
          <a:noFill/>
          <a:ln/>
        </p:spPr>
        <p:txBody>
          <a:bodyPr wrap="square" lIns="0" tIns="0" rIns="0" bIns="0" rtlCol="0" anchor="ctr"/>
          <a:lstStyle/>
          <a:p>
            <a:pPr algn="ctr" indent="0" marL="0">
              <a:buNone/>
            </a:pPr>
            <a:r>
              <a:rPr lang="en-US" sz="1800" b="1" dirty="0">
                <a:solidFill>
                  <a:srgbClr val="FFFFFF"/>
                </a:solidFill>
              </a:rPr>
              <a:t>2</a:t>
            </a:r>
            <a:endParaRPr lang="en-US" sz="1800" dirty="0"/>
          </a:p>
        </p:txBody>
      </p:sp>
      <p:sp>
        <p:nvSpPr>
          <p:cNvPr id="14" name="Text 11"/>
          <p:cNvSpPr txBox="1"/>
          <p:nvPr/>
        </p:nvSpPr>
        <p:spPr>
          <a:xfrm>
            <a:off x="4526280" y="2286000"/>
            <a:ext cx="3154680" cy="411480"/>
          </a:xfrm>
          <a:prstGeom prst="rect">
            <a:avLst/>
          </a:prstGeom>
          <a:noFill/>
          <a:ln/>
        </p:spPr>
        <p:txBody>
          <a:bodyPr wrap="square" lIns="0" tIns="0" rIns="0" bIns="0" rtlCol="0" anchor="ctr"/>
          <a:lstStyle/>
          <a:p>
            <a:pPr indent="0" marL="0">
              <a:buNone/>
            </a:pPr>
            <a:r>
              <a:rPr lang="en-US" sz="1700" b="1" dirty="0">
                <a:solidFill>
                  <a:srgbClr val="2563EB"/>
                </a:solidFill>
              </a:rPr>
              <a:t>One process + Python GIL</a:t>
            </a:r>
            <a:endParaRPr lang="en-US" sz="1700" dirty="0"/>
          </a:p>
        </p:txBody>
      </p:sp>
      <p:sp>
        <p:nvSpPr>
          <p:cNvPr id="15" name="Text 12"/>
          <p:cNvSpPr txBox="1"/>
          <p:nvPr/>
        </p:nvSpPr>
        <p:spPr>
          <a:xfrm>
            <a:off x="4526280" y="2743200"/>
            <a:ext cx="3154680" cy="1554480"/>
          </a:xfrm>
          <a:prstGeom prst="rect">
            <a:avLst/>
          </a:prstGeom>
          <a:noFill/>
          <a:ln/>
        </p:spPr>
        <p:txBody>
          <a:bodyPr wrap="square" lIns="0" tIns="0" rIns="0" bIns="0" rtlCol="0" anchor="t"/>
          <a:lstStyle/>
          <a:p>
            <a:pPr indent="0" marL="0">
              <a:buNone/>
            </a:pPr>
            <a:r>
              <a:rPr lang="en-US" sz="1350" dirty="0">
                <a:solidFill>
                  <a:srgbClr val="0F172A"/>
                </a:solidFill>
              </a:rPr>
              <a:t>One Uvicorn worker. The GIL lets one Python process run Python code on about one core. Borrow tops out at ~1.27 cores while 16 logical CPUs exist.</a:t>
            </a:r>
            <a:endParaRPr lang="en-US" sz="1350" dirty="0"/>
          </a:p>
        </p:txBody>
      </p:sp>
      <p:sp>
        <p:nvSpPr>
          <p:cNvPr id="16" name="card"/>
          <p:cNvSpPr/>
          <p:nvPr/>
        </p:nvSpPr>
        <p:spPr>
          <a:xfrm>
            <a:off x="8046720" y="1325880"/>
            <a:ext cx="3566160" cy="3063240"/>
          </a:xfrm>
          <a:prstGeom prst="roundRect">
            <a:avLst>
              <a:gd name="adj" fmla="val 3582"/>
            </a:avLst>
          </a:prstGeom>
          <a:solidFill>
            <a:srgbClr val="FFEDD5"/>
          </a:solidFill>
          <a:ln w="12700">
            <a:solidFill>
              <a:srgbClr val="FFEDD5"/>
            </a:solidFill>
            <a:prstDash val="solid"/>
          </a:ln>
        </p:spPr>
      </p:sp>
      <p:sp>
        <p:nvSpPr>
          <p:cNvPr id="17" name="dot"/>
          <p:cNvSpPr/>
          <p:nvPr/>
        </p:nvSpPr>
        <p:spPr>
          <a:xfrm>
            <a:off x="8275320" y="1554480"/>
            <a:ext cx="594360" cy="594360"/>
          </a:xfrm>
          <a:prstGeom prst="ellipse">
            <a:avLst/>
          </a:prstGeom>
          <a:solidFill>
            <a:srgbClr val="EA580C"/>
          </a:solidFill>
          <a:ln w="12700">
            <a:solidFill>
              <a:srgbClr val="EA580C"/>
            </a:solidFill>
            <a:prstDash val="solid"/>
          </a:ln>
        </p:spPr>
      </p:sp>
      <p:sp>
        <p:nvSpPr>
          <p:cNvPr id="18" name="Text 15"/>
          <p:cNvSpPr txBox="1"/>
          <p:nvPr/>
        </p:nvSpPr>
        <p:spPr>
          <a:xfrm>
            <a:off x="8275320" y="1554480"/>
            <a:ext cx="594360" cy="594360"/>
          </a:xfrm>
          <a:prstGeom prst="rect">
            <a:avLst/>
          </a:prstGeom>
          <a:noFill/>
          <a:ln/>
        </p:spPr>
        <p:txBody>
          <a:bodyPr wrap="square" lIns="0" tIns="0" rIns="0" bIns="0" rtlCol="0" anchor="ctr"/>
          <a:lstStyle/>
          <a:p>
            <a:pPr algn="ctr" indent="0" marL="0">
              <a:buNone/>
            </a:pPr>
            <a:r>
              <a:rPr lang="en-US" sz="1800" b="1" dirty="0">
                <a:solidFill>
                  <a:srgbClr val="FFFFFF"/>
                </a:solidFill>
              </a:rPr>
              <a:t>3</a:t>
            </a:r>
            <a:endParaRPr lang="en-US" sz="1800" dirty="0"/>
          </a:p>
        </p:txBody>
      </p:sp>
      <p:sp>
        <p:nvSpPr>
          <p:cNvPr id="19" name="Text 16"/>
          <p:cNvSpPr txBox="1"/>
          <p:nvPr/>
        </p:nvSpPr>
        <p:spPr>
          <a:xfrm>
            <a:off x="8275320" y="2286000"/>
            <a:ext cx="3154680" cy="411480"/>
          </a:xfrm>
          <a:prstGeom prst="rect">
            <a:avLst/>
          </a:prstGeom>
          <a:noFill/>
          <a:ln/>
        </p:spPr>
        <p:txBody>
          <a:bodyPr wrap="square" lIns="0" tIns="0" rIns="0" bIns="0" rtlCol="0" anchor="ctr"/>
          <a:lstStyle/>
          <a:p>
            <a:pPr indent="0" marL="0">
              <a:buNone/>
            </a:pPr>
            <a:r>
              <a:rPr lang="en-US" sz="1700" b="1" dirty="0">
                <a:solidFill>
                  <a:srgbClr val="EA580C"/>
                </a:solidFill>
              </a:rPr>
              <a:t>Too many threads</a:t>
            </a:r>
            <a:endParaRPr lang="en-US" sz="1700" dirty="0"/>
          </a:p>
        </p:txBody>
      </p:sp>
      <p:sp>
        <p:nvSpPr>
          <p:cNvPr id="20" name="Text 17"/>
          <p:cNvSpPr txBox="1"/>
          <p:nvPr/>
        </p:nvSpPr>
        <p:spPr>
          <a:xfrm>
            <a:off x="8275320" y="2743200"/>
            <a:ext cx="3154680" cy="1554480"/>
          </a:xfrm>
          <a:prstGeom prst="rect">
            <a:avLst/>
          </a:prstGeom>
          <a:noFill/>
          <a:ln/>
        </p:spPr>
        <p:txBody>
          <a:bodyPr wrap="square" lIns="0" tIns="0" rIns="0" bIns="0" rtlCol="0" anchor="t"/>
          <a:lstStyle/>
          <a:p>
            <a:pPr indent="0" marL="0">
              <a:buNone/>
            </a:pPr>
            <a:r>
              <a:rPr lang="en-US" sz="1350" dirty="0">
                <a:solidFill>
                  <a:srgbClr val="0F172A"/>
                </a:solidFill>
              </a:rPr>
              <a:t>Past the peak, Uvicorn's thread pool grows (PIDS 3 → 17). Threads compete for the GIL, so throughput drops 8 % (160.8 → 147.5).</a:t>
            </a:r>
            <a:endParaRPr lang="en-US" sz="1350" dirty="0"/>
          </a:p>
        </p:txBody>
      </p:sp>
      <p:sp>
        <p:nvSpPr>
          <p:cNvPr id="21" name="card"/>
          <p:cNvSpPr/>
          <p:nvPr/>
        </p:nvSpPr>
        <p:spPr>
          <a:xfrm>
            <a:off x="548640" y="4617720"/>
            <a:ext cx="11109960" cy="1600200"/>
          </a:xfrm>
          <a:prstGeom prst="roundRect">
            <a:avLst>
              <a:gd name="adj" fmla="val 6857"/>
            </a:avLst>
          </a:prstGeom>
          <a:solidFill>
            <a:srgbClr val="FFE4E6"/>
          </a:solidFill>
          <a:ln w="12700">
            <a:solidFill>
              <a:srgbClr val="FFE4E6"/>
            </a:solidFill>
            <a:prstDash val="solid"/>
          </a:ln>
        </p:spPr>
      </p:sp>
      <p:sp>
        <p:nvSpPr>
          <p:cNvPr id="22" name="Text 19"/>
          <p:cNvSpPr txBox="1"/>
          <p:nvPr/>
        </p:nvSpPr>
        <p:spPr>
          <a:xfrm>
            <a:off x="777240" y="4617720"/>
            <a:ext cx="10698480" cy="1600200"/>
          </a:xfrm>
          <a:prstGeom prst="rect">
            <a:avLst/>
          </a:prstGeom>
          <a:noFill/>
          <a:ln/>
        </p:spPr>
        <p:txBody>
          <a:bodyPr wrap="square" lIns="0" tIns="0" rIns="0" bIns="0" rtlCol="0" anchor="ctr"/>
          <a:lstStyle/>
          <a:p>
            <a:pPr indent="0" marL="0">
              <a:buNone/>
            </a:pPr>
            <a:r>
              <a:rPr lang="en-US" sz="1600" b="1" dirty="0">
                <a:solidFill>
                  <a:srgbClr val="E11D48"/>
                </a:solidFill>
              </a:rPr>
              <a:t>Hidden overhead we found: Docker healthchecks</a:t>
            </a:r>
            <a:endParaRPr lang="en-US" sz="1600" dirty="0"/>
          </a:p>
          <a:p>
            <a:pPr indent="0" marL="0">
              <a:buNone/>
            </a:pPr>
            <a:r>
              <a:rPr lang="en-US" sz="1350" dirty="0">
                <a:solidFill>
                  <a:srgbClr val="0F172A"/>
                </a:solidFill>
              </a:rPr>
              <a:t>Every 5 s Docker starts a new Python interpreter in each container to call /health. Notification gets no test traffic, yet uses 11–14 % CPU on average (samples spike to 66–69 %). Fix: 30 s interval or a lighter check such as curl.</a:t>
            </a:r>
            <a:endParaRPr lang="en-US" sz="1600" dirty="0"/>
          </a:p>
        </p:txBody>
      </p:sp>
      <p:sp>
        <p:nvSpPr>
          <p:cNvPr id="25" name="Slide Number Placeholder 0"/>
          <p:cNvSpPr>
            <a:spLocks noGrp="1"/>
          </p:cNvSpPr>
          <p:nvPr>
            <p:ph type="sldNum" sz="quarter" idx="4294967295"/>
          </p:nvPr>
        </p:nvSpPr>
        <p:spPr>
          <a:xfrm>
            <a:off x="1115568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235440" cy="777240"/>
          </a:xfrm>
          <a:prstGeom prst="rect">
            <a:avLst/>
          </a:prstGeom>
          <a:noFill/>
          <a:ln/>
        </p:spPr>
        <p:txBody>
          <a:bodyPr wrap="square" lIns="0" tIns="0" rIns="0" bIns="0" rtlCol="0" anchor="ctr"/>
          <a:lstStyle/>
          <a:p>
            <a:pPr algn="l" indent="0" marL="0">
              <a:buNone/>
            </a:pPr>
            <a:r>
              <a:rPr lang="en-US" sz="2800" b="1" dirty="0">
                <a:solidFill>
                  <a:schemeClr val="tx1"/>
                </a:solidFill>
              </a:rPr>
              <a:t>Removing the bottleneck, and our limitations</a:t>
            </a:r>
            <a:endParaRPr lang="en-US" sz="2800" dirty="0"/>
          </a:p>
        </p:txBody>
      </p:sp>
      <p:sp>
        <p:nvSpPr>
          <p:cNvPr id="3" name="cp badge"/>
          <p:cNvSpPr/>
          <p:nvPr/>
        </p:nvSpPr>
        <p:spPr>
          <a:xfrm>
            <a:off x="9921240" y="457200"/>
            <a:ext cx="1737360" cy="438912"/>
          </a:xfrm>
          <a:prstGeom prst="roundRect">
            <a:avLst>
              <a:gd name="adj" fmla="val 50000"/>
            </a:avLst>
          </a:prstGeom>
          <a:solidFill>
            <a:srgbClr val="7C3AED"/>
          </a:solidFill>
          <a:ln w="12700">
            <a:solidFill>
              <a:srgbClr val="7C3AED"/>
            </a:solidFill>
            <a:prstDash val="solid"/>
          </a:ln>
        </p:spPr>
      </p:sp>
      <p:sp>
        <p:nvSpPr>
          <p:cNvPr id="4" name="Text 2"/>
          <p:cNvSpPr txBox="1"/>
          <p:nvPr/>
        </p:nvSpPr>
        <p:spPr>
          <a:xfrm>
            <a:off x="9921240" y="457200"/>
            <a:ext cx="1737360" cy="438912"/>
          </a:xfrm>
          <a:prstGeom prst="rect">
            <a:avLst/>
          </a:prstGeom>
          <a:noFill/>
          <a:ln/>
        </p:spPr>
        <p:txBody>
          <a:bodyPr wrap="square" lIns="0" tIns="0" rIns="0" bIns="0" rtlCol="0" anchor="ctr"/>
          <a:lstStyle/>
          <a:p>
            <a:pPr algn="ctr" indent="0" marL="0">
              <a:buNone/>
            </a:pPr>
            <a:r>
              <a:rPr lang="en-US" sz="1150" b="1" spc="100" kern="0" dirty="0">
                <a:solidFill>
                  <a:schemeClr val="bg1"/>
                </a:solidFill>
              </a:rPr>
              <a:t>CP5 · ANALYSIS</a:t>
            </a:r>
            <a:endParaRPr lang="en-US" sz="1150" dirty="0"/>
          </a:p>
        </p:txBody>
      </p:sp>
      <p:sp>
        <p:nvSpPr>
          <p:cNvPr id="6" name="Text 3"/>
          <p:cNvSpPr txBox="1"/>
          <p:nvPr/>
        </p:nvSpPr>
        <p:spPr>
          <a:xfrm>
            <a:off x="548640" y="1325880"/>
            <a:ext cx="5394960" cy="365760"/>
          </a:xfrm>
          <a:prstGeom prst="rect">
            <a:avLst/>
          </a:prstGeom>
          <a:noFill/>
          <a:ln/>
        </p:spPr>
        <p:txBody>
          <a:bodyPr wrap="square" lIns="0" tIns="0" rIns="0" bIns="0" rtlCol="0" anchor="ctr"/>
          <a:lstStyle/>
          <a:p>
            <a:pPr indent="0" marL="0">
              <a:buNone/>
            </a:pPr>
            <a:r>
              <a:rPr lang="en-US" sz="1700" b="1" dirty="0">
                <a:solidFill>
                  <a:srgbClr val="16A34A"/>
                </a:solidFill>
              </a:rPr>
              <a:t>Next steps (not implemented)</a:t>
            </a:r>
            <a:endParaRPr lang="en-US" sz="1700" dirty="0"/>
          </a:p>
        </p:txBody>
      </p:sp>
      <p:sp>
        <p:nvSpPr>
          <p:cNvPr id="7" name="card"/>
          <p:cNvSpPr/>
          <p:nvPr/>
        </p:nvSpPr>
        <p:spPr>
          <a:xfrm>
            <a:off x="548640" y="1783080"/>
            <a:ext cx="5394960" cy="749808"/>
          </a:xfrm>
          <a:prstGeom prst="roundRect">
            <a:avLst>
              <a:gd name="adj" fmla="val 14634"/>
            </a:avLst>
          </a:prstGeom>
          <a:solidFill>
            <a:srgbClr val="DCFCE7"/>
          </a:solidFill>
          <a:ln w="12700">
            <a:solidFill>
              <a:srgbClr val="DCFCE7"/>
            </a:solidFill>
            <a:prstDash val="solid"/>
          </a:ln>
        </p:spPr>
      </p:sp>
      <p:sp>
        <p:nvSpPr>
          <p:cNvPr id="8" name="dot"/>
          <p:cNvSpPr/>
          <p:nvPr/>
        </p:nvSpPr>
        <p:spPr>
          <a:xfrm>
            <a:off x="685800" y="1965960"/>
            <a:ext cx="384048" cy="384048"/>
          </a:xfrm>
          <a:prstGeom prst="ellipse">
            <a:avLst/>
          </a:prstGeom>
          <a:solidFill>
            <a:srgbClr val="16A34A"/>
          </a:solidFill>
          <a:ln w="12700">
            <a:solidFill>
              <a:srgbClr val="16A34A"/>
            </a:solidFill>
            <a:prstDash val="solid"/>
          </a:ln>
        </p:spPr>
      </p:sp>
      <p:sp>
        <p:nvSpPr>
          <p:cNvPr id="9" name="Text 6"/>
          <p:cNvSpPr txBox="1"/>
          <p:nvPr/>
        </p:nvSpPr>
        <p:spPr>
          <a:xfrm>
            <a:off x="685800" y="19659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a:t>
            </a:r>
            <a:endParaRPr lang="en-US" sz="1300" dirty="0"/>
          </a:p>
        </p:txBody>
      </p:sp>
      <p:sp>
        <p:nvSpPr>
          <p:cNvPr id="10" name="Text 7"/>
          <p:cNvSpPr txBox="1"/>
          <p:nvPr/>
        </p:nvSpPr>
        <p:spPr>
          <a:xfrm>
            <a:off x="1234440" y="1783080"/>
            <a:ext cx="4617720" cy="749808"/>
          </a:xfrm>
          <a:prstGeom prst="rect">
            <a:avLst/>
          </a:prstGeom>
          <a:noFill/>
          <a:ln/>
        </p:spPr>
        <p:txBody>
          <a:bodyPr wrap="square" lIns="0" tIns="0" rIns="0" bIns="0" rtlCol="0" anchor="ctr"/>
          <a:lstStyle/>
          <a:p>
            <a:pPr indent="0" marL="0">
              <a:buNone/>
            </a:pPr>
            <a:r>
              <a:rPr lang="en-US" sz="1350" b="1" dirty="0">
                <a:solidFill>
                  <a:srgbClr val="0F172A"/>
                </a:solidFill>
              </a:rPr>
              <a:t>uvicorn --workers 4 for Borrow</a:t>
            </a:r>
            <a:endParaRPr lang="en-US" sz="1350" dirty="0"/>
          </a:p>
          <a:p>
            <a:pPr indent="0" marL="0">
              <a:buNone/>
            </a:pPr>
            <a:r>
              <a:rPr lang="en-US" sz="1200" dirty="0">
                <a:solidFill>
                  <a:srgbClr val="334155"/>
                </a:solidFill>
              </a:rPr>
              <a:t>several processes → several cores</a:t>
            </a:r>
            <a:endParaRPr lang="en-US" sz="1350" dirty="0"/>
          </a:p>
        </p:txBody>
      </p:sp>
      <p:sp>
        <p:nvSpPr>
          <p:cNvPr id="11" name="card"/>
          <p:cNvSpPr/>
          <p:nvPr/>
        </p:nvSpPr>
        <p:spPr>
          <a:xfrm>
            <a:off x="548640" y="2651760"/>
            <a:ext cx="5394960" cy="749808"/>
          </a:xfrm>
          <a:prstGeom prst="roundRect">
            <a:avLst>
              <a:gd name="adj" fmla="val 14634"/>
            </a:avLst>
          </a:prstGeom>
          <a:solidFill>
            <a:srgbClr val="DCFCE7"/>
          </a:solidFill>
          <a:ln w="12700">
            <a:solidFill>
              <a:srgbClr val="DCFCE7"/>
            </a:solidFill>
            <a:prstDash val="solid"/>
          </a:ln>
        </p:spPr>
      </p:sp>
      <p:sp>
        <p:nvSpPr>
          <p:cNvPr id="12" name="dot"/>
          <p:cNvSpPr/>
          <p:nvPr/>
        </p:nvSpPr>
        <p:spPr>
          <a:xfrm>
            <a:off x="685800" y="2834640"/>
            <a:ext cx="384048" cy="384048"/>
          </a:xfrm>
          <a:prstGeom prst="ellipse">
            <a:avLst/>
          </a:prstGeom>
          <a:solidFill>
            <a:srgbClr val="16A34A"/>
          </a:solidFill>
          <a:ln w="12700">
            <a:solidFill>
              <a:srgbClr val="16A34A"/>
            </a:solidFill>
            <a:prstDash val="solid"/>
          </a:ln>
        </p:spPr>
      </p:sp>
      <p:sp>
        <p:nvSpPr>
          <p:cNvPr id="13" name="Text 10"/>
          <p:cNvSpPr txBox="1"/>
          <p:nvPr/>
        </p:nvSpPr>
        <p:spPr>
          <a:xfrm>
            <a:off x="685800" y="28346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a:t>
            </a:r>
            <a:endParaRPr lang="en-US" sz="1300" dirty="0"/>
          </a:p>
        </p:txBody>
      </p:sp>
      <p:sp>
        <p:nvSpPr>
          <p:cNvPr id="14" name="Text 11"/>
          <p:cNvSpPr txBox="1"/>
          <p:nvPr/>
        </p:nvSpPr>
        <p:spPr>
          <a:xfrm>
            <a:off x="1234440" y="2651760"/>
            <a:ext cx="4617720" cy="749808"/>
          </a:xfrm>
          <a:prstGeom prst="rect">
            <a:avLst/>
          </a:prstGeom>
          <a:noFill/>
          <a:ln/>
        </p:spPr>
        <p:txBody>
          <a:bodyPr wrap="square" lIns="0" tIns="0" rIns="0" bIns="0" rtlCol="0" anchor="ctr"/>
          <a:lstStyle/>
          <a:p>
            <a:pPr indent="0" marL="0">
              <a:buNone/>
            </a:pPr>
            <a:r>
              <a:rPr lang="en-US" sz="1350" b="1" dirty="0">
                <a:solidFill>
                  <a:srgbClr val="0F172A"/>
                </a:solidFill>
              </a:rPr>
              <a:t>Several Borrow containers + load balancer</a:t>
            </a:r>
            <a:endParaRPr lang="en-US" sz="1350" dirty="0"/>
          </a:p>
          <a:p>
            <a:pPr indent="0" marL="0">
              <a:buNone/>
            </a:pPr>
            <a:r>
              <a:rPr lang="en-US" sz="1200" dirty="0">
                <a:solidFill>
                  <a:srgbClr val="334155"/>
                </a:solidFill>
              </a:rPr>
              <a:t>same idea at container level</a:t>
            </a:r>
            <a:endParaRPr lang="en-US" sz="1350" dirty="0"/>
          </a:p>
        </p:txBody>
      </p:sp>
      <p:sp>
        <p:nvSpPr>
          <p:cNvPr id="15" name="card"/>
          <p:cNvSpPr/>
          <p:nvPr/>
        </p:nvSpPr>
        <p:spPr>
          <a:xfrm>
            <a:off x="548640" y="3520440"/>
            <a:ext cx="5394960" cy="749808"/>
          </a:xfrm>
          <a:prstGeom prst="roundRect">
            <a:avLst>
              <a:gd name="adj" fmla="val 14634"/>
            </a:avLst>
          </a:prstGeom>
          <a:solidFill>
            <a:srgbClr val="DCFCE7"/>
          </a:solidFill>
          <a:ln w="12700">
            <a:solidFill>
              <a:srgbClr val="DCFCE7"/>
            </a:solidFill>
            <a:prstDash val="solid"/>
          </a:ln>
        </p:spPr>
      </p:sp>
      <p:sp>
        <p:nvSpPr>
          <p:cNvPr id="16" name="dot"/>
          <p:cNvSpPr/>
          <p:nvPr/>
        </p:nvSpPr>
        <p:spPr>
          <a:xfrm>
            <a:off x="685800" y="3703320"/>
            <a:ext cx="384048" cy="384048"/>
          </a:xfrm>
          <a:prstGeom prst="ellipse">
            <a:avLst/>
          </a:prstGeom>
          <a:solidFill>
            <a:srgbClr val="16A34A"/>
          </a:solidFill>
          <a:ln w="12700">
            <a:solidFill>
              <a:srgbClr val="16A34A"/>
            </a:solidFill>
            <a:prstDash val="solid"/>
          </a:ln>
        </p:spPr>
      </p:sp>
      <p:sp>
        <p:nvSpPr>
          <p:cNvPr id="17" name="Text 14"/>
          <p:cNvSpPr txBox="1"/>
          <p:nvPr/>
        </p:nvSpPr>
        <p:spPr>
          <a:xfrm>
            <a:off x="685800" y="37033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a:t>
            </a:r>
            <a:endParaRPr lang="en-US" sz="1300" dirty="0"/>
          </a:p>
        </p:txBody>
      </p:sp>
      <p:sp>
        <p:nvSpPr>
          <p:cNvPr id="18" name="Text 15"/>
          <p:cNvSpPr txBox="1"/>
          <p:nvPr/>
        </p:nvSpPr>
        <p:spPr>
          <a:xfrm>
            <a:off x="1234440" y="3520440"/>
            <a:ext cx="4617720" cy="749808"/>
          </a:xfrm>
          <a:prstGeom prst="rect">
            <a:avLst/>
          </a:prstGeom>
          <a:noFill/>
          <a:ln/>
        </p:spPr>
        <p:txBody>
          <a:bodyPr wrap="square" lIns="0" tIns="0" rIns="0" bIns="0" rtlCol="0" anchor="ctr"/>
          <a:lstStyle/>
          <a:p>
            <a:pPr indent="0" marL="0">
              <a:buNone/>
            </a:pPr>
            <a:r>
              <a:rPr lang="en-US" sz="1350" b="1" dirty="0">
                <a:solidFill>
                  <a:srgbClr val="0F172A"/>
                </a:solidFill>
              </a:rPr>
              <a:t>async def + httpx.AsyncClient</a:t>
            </a:r>
            <a:endParaRPr lang="en-US" sz="1350" dirty="0"/>
          </a:p>
          <a:p>
            <a:pPr indent="0" marL="0">
              <a:buNone/>
            </a:pPr>
            <a:r>
              <a:rPr lang="en-US" sz="1200" dirty="0">
                <a:solidFill>
                  <a:srgbClr val="334155"/>
                </a:solidFill>
              </a:rPr>
              <a:t>call Member and Book in parallel</a:t>
            </a:r>
            <a:endParaRPr lang="en-US" sz="1350" dirty="0"/>
          </a:p>
        </p:txBody>
      </p:sp>
      <p:sp>
        <p:nvSpPr>
          <p:cNvPr id="19" name="card"/>
          <p:cNvSpPr/>
          <p:nvPr/>
        </p:nvSpPr>
        <p:spPr>
          <a:xfrm>
            <a:off x="548640" y="4389120"/>
            <a:ext cx="5394960" cy="749808"/>
          </a:xfrm>
          <a:prstGeom prst="roundRect">
            <a:avLst>
              <a:gd name="adj" fmla="val 14634"/>
            </a:avLst>
          </a:prstGeom>
          <a:solidFill>
            <a:srgbClr val="DCFCE7"/>
          </a:solidFill>
          <a:ln w="12700">
            <a:solidFill>
              <a:srgbClr val="DCFCE7"/>
            </a:solidFill>
            <a:prstDash val="solid"/>
          </a:ln>
        </p:spPr>
      </p:sp>
      <p:sp>
        <p:nvSpPr>
          <p:cNvPr id="20" name="dot"/>
          <p:cNvSpPr/>
          <p:nvPr/>
        </p:nvSpPr>
        <p:spPr>
          <a:xfrm>
            <a:off x="685800" y="4572000"/>
            <a:ext cx="384048" cy="384048"/>
          </a:xfrm>
          <a:prstGeom prst="ellipse">
            <a:avLst/>
          </a:prstGeom>
          <a:solidFill>
            <a:srgbClr val="16A34A"/>
          </a:solidFill>
          <a:ln w="12700">
            <a:solidFill>
              <a:srgbClr val="16A34A"/>
            </a:solidFill>
            <a:prstDash val="solid"/>
          </a:ln>
        </p:spPr>
      </p:sp>
      <p:sp>
        <p:nvSpPr>
          <p:cNvPr id="21" name="Text 18"/>
          <p:cNvSpPr txBox="1"/>
          <p:nvPr/>
        </p:nvSpPr>
        <p:spPr>
          <a:xfrm>
            <a:off x="685800" y="45720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a:t>
            </a:r>
            <a:endParaRPr lang="en-US" sz="1300" dirty="0"/>
          </a:p>
        </p:txBody>
      </p:sp>
      <p:sp>
        <p:nvSpPr>
          <p:cNvPr id="22" name="Text 19"/>
          <p:cNvSpPr txBox="1"/>
          <p:nvPr/>
        </p:nvSpPr>
        <p:spPr>
          <a:xfrm>
            <a:off x="1234440" y="4389120"/>
            <a:ext cx="4617720" cy="749808"/>
          </a:xfrm>
          <a:prstGeom prst="rect">
            <a:avLst/>
          </a:prstGeom>
          <a:noFill/>
          <a:ln/>
        </p:spPr>
        <p:txBody>
          <a:bodyPr wrap="square" lIns="0" tIns="0" rIns="0" bIns="0" rtlCol="0" anchor="ctr"/>
          <a:lstStyle/>
          <a:p>
            <a:pPr indent="0" marL="0">
              <a:buNone/>
            </a:pPr>
            <a:r>
              <a:rPr lang="en-US" sz="1350" b="1" dirty="0">
                <a:solidFill>
                  <a:srgbClr val="0F172A"/>
                </a:solidFill>
              </a:rPr>
              <a:t>Lighter / slower healthchecks</a:t>
            </a:r>
            <a:endParaRPr lang="en-US" sz="1350" dirty="0"/>
          </a:p>
          <a:p>
            <a:pPr indent="0" marL="0">
              <a:buNone/>
            </a:pPr>
            <a:r>
              <a:rPr lang="en-US" sz="1200" dirty="0">
                <a:solidFill>
                  <a:srgbClr val="334155"/>
                </a:solidFill>
              </a:rPr>
              <a:t>frees 11–14 % CPU per container</a:t>
            </a:r>
            <a:endParaRPr lang="en-US" sz="1350" dirty="0"/>
          </a:p>
        </p:txBody>
      </p:sp>
      <p:sp>
        <p:nvSpPr>
          <p:cNvPr id="23" name="card"/>
          <p:cNvSpPr/>
          <p:nvPr/>
        </p:nvSpPr>
        <p:spPr>
          <a:xfrm>
            <a:off x="548640" y="5257800"/>
            <a:ext cx="5394960" cy="749808"/>
          </a:xfrm>
          <a:prstGeom prst="roundRect">
            <a:avLst>
              <a:gd name="adj" fmla="val 14634"/>
            </a:avLst>
          </a:prstGeom>
          <a:solidFill>
            <a:srgbClr val="DCFCE7"/>
          </a:solidFill>
          <a:ln w="12700">
            <a:solidFill>
              <a:srgbClr val="DCFCE7"/>
            </a:solidFill>
            <a:prstDash val="solid"/>
          </a:ln>
        </p:spPr>
      </p:sp>
      <p:sp>
        <p:nvSpPr>
          <p:cNvPr id="24" name="dot"/>
          <p:cNvSpPr/>
          <p:nvPr/>
        </p:nvSpPr>
        <p:spPr>
          <a:xfrm>
            <a:off x="685800" y="5440680"/>
            <a:ext cx="384048" cy="384048"/>
          </a:xfrm>
          <a:prstGeom prst="ellipse">
            <a:avLst/>
          </a:prstGeom>
          <a:solidFill>
            <a:srgbClr val="16A34A"/>
          </a:solidFill>
          <a:ln w="12700">
            <a:solidFill>
              <a:srgbClr val="16A34A"/>
            </a:solidFill>
            <a:prstDash val="solid"/>
          </a:ln>
        </p:spPr>
      </p:sp>
      <p:sp>
        <p:nvSpPr>
          <p:cNvPr id="25" name="Text 22"/>
          <p:cNvSpPr txBox="1"/>
          <p:nvPr/>
        </p:nvSpPr>
        <p:spPr>
          <a:xfrm>
            <a:off x="685800" y="54406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a:t>
            </a:r>
            <a:endParaRPr lang="en-US" sz="1300" dirty="0"/>
          </a:p>
        </p:txBody>
      </p:sp>
      <p:sp>
        <p:nvSpPr>
          <p:cNvPr id="26" name="Text 23"/>
          <p:cNvSpPr txBox="1"/>
          <p:nvPr/>
        </p:nvSpPr>
        <p:spPr>
          <a:xfrm>
            <a:off x="1234440" y="5257800"/>
            <a:ext cx="4617720" cy="749808"/>
          </a:xfrm>
          <a:prstGeom prst="rect">
            <a:avLst/>
          </a:prstGeom>
          <a:noFill/>
          <a:ln/>
        </p:spPr>
        <p:txBody>
          <a:bodyPr wrap="square" lIns="0" tIns="0" rIns="0" bIns="0" rtlCol="0" anchor="ctr"/>
          <a:lstStyle/>
          <a:p>
            <a:pPr indent="0" marL="0">
              <a:buNone/>
            </a:pPr>
            <a:r>
              <a:rPr lang="en-US" sz="1350" b="1" dirty="0">
                <a:solidFill>
                  <a:srgbClr val="0F172A"/>
                </a:solidFill>
              </a:rPr>
              <a:t>Short cache of member / book lookups</a:t>
            </a:r>
            <a:endParaRPr lang="en-US" sz="1350" dirty="0"/>
          </a:p>
          <a:p>
            <a:pPr indent="0" marL="0">
              <a:buNone/>
            </a:pPr>
            <a:r>
              <a:rPr lang="en-US" sz="1200" dirty="0">
                <a:solidFill>
                  <a:srgbClr val="334155"/>
                </a:solidFill>
              </a:rPr>
              <a:t>fewer downstream calls</a:t>
            </a:r>
            <a:endParaRPr lang="en-US" sz="1350" dirty="0"/>
          </a:p>
        </p:txBody>
      </p:sp>
      <p:sp>
        <p:nvSpPr>
          <p:cNvPr id="27" name="Text 24"/>
          <p:cNvSpPr txBox="1"/>
          <p:nvPr/>
        </p:nvSpPr>
        <p:spPr>
          <a:xfrm>
            <a:off x="6263640" y="1325880"/>
            <a:ext cx="5394960" cy="365760"/>
          </a:xfrm>
          <a:prstGeom prst="rect">
            <a:avLst/>
          </a:prstGeom>
          <a:noFill/>
          <a:ln/>
        </p:spPr>
        <p:txBody>
          <a:bodyPr wrap="square" lIns="0" tIns="0" rIns="0" bIns="0" rtlCol="0" anchor="ctr"/>
          <a:lstStyle/>
          <a:p>
            <a:pPr indent="0" marL="0">
              <a:buNone/>
            </a:pPr>
            <a:r>
              <a:rPr lang="en-US" sz="1700" b="1" dirty="0">
                <a:solidFill>
                  <a:srgbClr val="E11D48"/>
                </a:solidFill>
              </a:rPr>
              <a:t>Limitations</a:t>
            </a:r>
            <a:endParaRPr lang="en-US" sz="1700" dirty="0"/>
          </a:p>
        </p:txBody>
      </p:sp>
      <p:sp>
        <p:nvSpPr>
          <p:cNvPr id="28" name="card"/>
          <p:cNvSpPr/>
          <p:nvPr/>
        </p:nvSpPr>
        <p:spPr>
          <a:xfrm>
            <a:off x="6263640" y="1783080"/>
            <a:ext cx="5394960" cy="749808"/>
          </a:xfrm>
          <a:prstGeom prst="roundRect">
            <a:avLst>
              <a:gd name="adj" fmla="val 14634"/>
            </a:avLst>
          </a:prstGeom>
          <a:solidFill>
            <a:srgbClr val="FFE4E6"/>
          </a:solidFill>
          <a:ln w="12700">
            <a:solidFill>
              <a:srgbClr val="FFE4E6"/>
            </a:solidFill>
            <a:prstDash val="solid"/>
          </a:ln>
        </p:spPr>
      </p:sp>
      <p:sp>
        <p:nvSpPr>
          <p:cNvPr id="29" name="dot"/>
          <p:cNvSpPr/>
          <p:nvPr/>
        </p:nvSpPr>
        <p:spPr>
          <a:xfrm>
            <a:off x="6400800" y="1965960"/>
            <a:ext cx="384048" cy="384048"/>
          </a:xfrm>
          <a:prstGeom prst="ellipse">
            <a:avLst/>
          </a:prstGeom>
          <a:solidFill>
            <a:srgbClr val="E11D48"/>
          </a:solidFill>
          <a:ln w="12700">
            <a:solidFill>
              <a:srgbClr val="E11D48"/>
            </a:solidFill>
            <a:prstDash val="solid"/>
          </a:ln>
        </p:spPr>
      </p:sp>
      <p:sp>
        <p:nvSpPr>
          <p:cNvPr id="30" name="Text 27"/>
          <p:cNvSpPr txBox="1"/>
          <p:nvPr/>
        </p:nvSpPr>
        <p:spPr>
          <a:xfrm>
            <a:off x="6400800" y="196596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31" name="Text 28"/>
          <p:cNvSpPr txBox="1"/>
          <p:nvPr/>
        </p:nvSpPr>
        <p:spPr>
          <a:xfrm>
            <a:off x="6949440" y="1783080"/>
            <a:ext cx="4617720" cy="749808"/>
          </a:xfrm>
          <a:prstGeom prst="rect">
            <a:avLst/>
          </a:prstGeom>
          <a:noFill/>
          <a:ln/>
        </p:spPr>
        <p:txBody>
          <a:bodyPr wrap="square" lIns="0" tIns="0" rIns="0" bIns="0" rtlCol="0" anchor="ctr"/>
          <a:lstStyle/>
          <a:p>
            <a:pPr indent="0" marL="0">
              <a:buNone/>
            </a:pPr>
            <a:r>
              <a:rPr lang="en-US" sz="1350" b="1" dirty="0">
                <a:solidFill>
                  <a:srgbClr val="0F172A"/>
                </a:solidFill>
              </a:rPr>
              <a:t>Locust on the same laptop</a:t>
            </a:r>
            <a:endParaRPr lang="en-US" sz="1350" dirty="0"/>
          </a:p>
          <a:p>
            <a:pPr indent="0" marL="0">
              <a:buNone/>
            </a:pPr>
            <a:r>
              <a:rPr lang="en-US" sz="1200" dirty="0">
                <a:solidFill>
                  <a:srgbClr val="334155"/>
                </a:solidFill>
              </a:rPr>
              <a:t>shares the CPU; small effect with 16 logical CPUs</a:t>
            </a:r>
            <a:endParaRPr lang="en-US" sz="1350" dirty="0"/>
          </a:p>
        </p:txBody>
      </p:sp>
      <p:sp>
        <p:nvSpPr>
          <p:cNvPr id="32" name="card"/>
          <p:cNvSpPr/>
          <p:nvPr/>
        </p:nvSpPr>
        <p:spPr>
          <a:xfrm>
            <a:off x="6263640" y="2651760"/>
            <a:ext cx="5394960" cy="749808"/>
          </a:xfrm>
          <a:prstGeom prst="roundRect">
            <a:avLst>
              <a:gd name="adj" fmla="val 14634"/>
            </a:avLst>
          </a:prstGeom>
          <a:solidFill>
            <a:srgbClr val="FFE4E6"/>
          </a:solidFill>
          <a:ln w="12700">
            <a:solidFill>
              <a:srgbClr val="FFE4E6"/>
            </a:solidFill>
            <a:prstDash val="solid"/>
          </a:ln>
        </p:spPr>
      </p:sp>
      <p:sp>
        <p:nvSpPr>
          <p:cNvPr id="33" name="dot"/>
          <p:cNvSpPr/>
          <p:nvPr/>
        </p:nvSpPr>
        <p:spPr>
          <a:xfrm>
            <a:off x="6400800" y="2834640"/>
            <a:ext cx="384048" cy="384048"/>
          </a:xfrm>
          <a:prstGeom prst="ellipse">
            <a:avLst/>
          </a:prstGeom>
          <a:solidFill>
            <a:srgbClr val="E11D48"/>
          </a:solidFill>
          <a:ln w="12700">
            <a:solidFill>
              <a:srgbClr val="E11D48"/>
            </a:solidFill>
            <a:prstDash val="solid"/>
          </a:ln>
        </p:spPr>
      </p:sp>
      <p:sp>
        <p:nvSpPr>
          <p:cNvPr id="34" name="Text 31"/>
          <p:cNvSpPr txBox="1"/>
          <p:nvPr/>
        </p:nvSpPr>
        <p:spPr>
          <a:xfrm>
            <a:off x="6400800" y="283464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35" name="Text 32"/>
          <p:cNvSpPr txBox="1"/>
          <p:nvPr/>
        </p:nvSpPr>
        <p:spPr>
          <a:xfrm>
            <a:off x="6949440" y="2651760"/>
            <a:ext cx="4617720" cy="749808"/>
          </a:xfrm>
          <a:prstGeom prst="rect">
            <a:avLst/>
          </a:prstGeom>
          <a:noFill/>
          <a:ln/>
        </p:spPr>
        <p:txBody>
          <a:bodyPr wrap="square" lIns="0" tIns="0" rIns="0" bIns="0" rtlCol="0" anchor="ctr"/>
          <a:lstStyle/>
          <a:p>
            <a:pPr indent="0" marL="0">
              <a:buNone/>
            </a:pPr>
            <a:r>
              <a:rPr lang="en-US" sz="1350" b="1" dirty="0">
                <a:solidFill>
                  <a:srgbClr val="0F172A"/>
                </a:solidFill>
              </a:rPr>
              <a:t>One 60 s run per level</a:t>
            </a:r>
            <a:endParaRPr lang="en-US" sz="1350" dirty="0"/>
          </a:p>
          <a:p>
            <a:pPr indent="0" marL="0">
              <a:buNone/>
            </a:pPr>
            <a:r>
              <a:rPr lang="en-US" sz="1200" dirty="0">
                <a:solidFill>
                  <a:srgbClr val="334155"/>
                </a:solidFill>
              </a:rPr>
              <a:t>UI repeat at 8 users agreed within 1–2 %</a:t>
            </a:r>
            <a:endParaRPr lang="en-US" sz="1350" dirty="0"/>
          </a:p>
        </p:txBody>
      </p:sp>
      <p:sp>
        <p:nvSpPr>
          <p:cNvPr id="36" name="card"/>
          <p:cNvSpPr/>
          <p:nvPr/>
        </p:nvSpPr>
        <p:spPr>
          <a:xfrm>
            <a:off x="6263640" y="3520440"/>
            <a:ext cx="5394960" cy="749808"/>
          </a:xfrm>
          <a:prstGeom prst="roundRect">
            <a:avLst>
              <a:gd name="adj" fmla="val 14634"/>
            </a:avLst>
          </a:prstGeom>
          <a:solidFill>
            <a:srgbClr val="FFE4E6"/>
          </a:solidFill>
          <a:ln w="12700">
            <a:solidFill>
              <a:srgbClr val="FFE4E6"/>
            </a:solidFill>
            <a:prstDash val="solid"/>
          </a:ln>
        </p:spPr>
      </p:sp>
      <p:sp>
        <p:nvSpPr>
          <p:cNvPr id="37" name="dot"/>
          <p:cNvSpPr/>
          <p:nvPr/>
        </p:nvSpPr>
        <p:spPr>
          <a:xfrm>
            <a:off x="6400800" y="3703320"/>
            <a:ext cx="384048" cy="384048"/>
          </a:xfrm>
          <a:prstGeom prst="ellipse">
            <a:avLst/>
          </a:prstGeom>
          <a:solidFill>
            <a:srgbClr val="E11D48"/>
          </a:solidFill>
          <a:ln w="12700">
            <a:solidFill>
              <a:srgbClr val="E11D48"/>
            </a:solidFill>
            <a:prstDash val="solid"/>
          </a:ln>
        </p:spPr>
      </p:sp>
      <p:sp>
        <p:nvSpPr>
          <p:cNvPr id="38" name="Text 35"/>
          <p:cNvSpPr txBox="1"/>
          <p:nvPr/>
        </p:nvSpPr>
        <p:spPr>
          <a:xfrm>
            <a:off x="6400800" y="37033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39" name="Text 36"/>
          <p:cNvSpPr txBox="1"/>
          <p:nvPr/>
        </p:nvSpPr>
        <p:spPr>
          <a:xfrm>
            <a:off x="6949440" y="3520440"/>
            <a:ext cx="4617720" cy="749808"/>
          </a:xfrm>
          <a:prstGeom prst="rect">
            <a:avLst/>
          </a:prstGeom>
          <a:noFill/>
          <a:ln/>
        </p:spPr>
        <p:txBody>
          <a:bodyPr wrap="square" lIns="0" tIns="0" rIns="0" bIns="0" rtlCol="0" anchor="ctr"/>
          <a:lstStyle/>
          <a:p>
            <a:pPr indent="0" marL="0">
              <a:buNone/>
            </a:pPr>
            <a:r>
              <a:rPr lang="en-US" sz="1350" b="1" dirty="0">
                <a:solidFill>
                  <a:srgbClr val="0F172A"/>
                </a:solidFill>
              </a:rPr>
              <a:t>docker stats every ~2 s</a:t>
            </a:r>
            <a:endParaRPr lang="en-US" sz="1350" dirty="0"/>
          </a:p>
          <a:p>
            <a:pPr indent="0" marL="0">
              <a:buNone/>
            </a:pPr>
            <a:r>
              <a:rPr lang="en-US" sz="1200" dirty="0">
                <a:solidFill>
                  <a:srgbClr val="334155"/>
                </a:solidFill>
              </a:rPr>
              <a:t>~30 snapshots per level; short spikes sampled unevenly</a:t>
            </a:r>
            <a:endParaRPr lang="en-US" sz="1350" dirty="0"/>
          </a:p>
        </p:txBody>
      </p:sp>
      <p:sp>
        <p:nvSpPr>
          <p:cNvPr id="40" name="card"/>
          <p:cNvSpPr/>
          <p:nvPr/>
        </p:nvSpPr>
        <p:spPr>
          <a:xfrm>
            <a:off x="6263640" y="4389120"/>
            <a:ext cx="5394960" cy="749808"/>
          </a:xfrm>
          <a:prstGeom prst="roundRect">
            <a:avLst>
              <a:gd name="adj" fmla="val 14634"/>
            </a:avLst>
          </a:prstGeom>
          <a:solidFill>
            <a:srgbClr val="FFE4E6"/>
          </a:solidFill>
          <a:ln w="12700">
            <a:solidFill>
              <a:srgbClr val="FFE4E6"/>
            </a:solidFill>
            <a:prstDash val="solid"/>
          </a:ln>
        </p:spPr>
      </p:sp>
      <p:sp>
        <p:nvSpPr>
          <p:cNvPr id="41" name="dot"/>
          <p:cNvSpPr/>
          <p:nvPr/>
        </p:nvSpPr>
        <p:spPr>
          <a:xfrm>
            <a:off x="6400800" y="4572000"/>
            <a:ext cx="384048" cy="384048"/>
          </a:xfrm>
          <a:prstGeom prst="ellipse">
            <a:avLst/>
          </a:prstGeom>
          <a:solidFill>
            <a:srgbClr val="E11D48"/>
          </a:solidFill>
          <a:ln w="12700">
            <a:solidFill>
              <a:srgbClr val="E11D48"/>
            </a:solidFill>
            <a:prstDash val="solid"/>
          </a:ln>
        </p:spPr>
      </p:sp>
      <p:sp>
        <p:nvSpPr>
          <p:cNvPr id="42" name="Text 39"/>
          <p:cNvSpPr txBox="1"/>
          <p:nvPr/>
        </p:nvSpPr>
        <p:spPr>
          <a:xfrm>
            <a:off x="6400800" y="45720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43" name="Text 40"/>
          <p:cNvSpPr txBox="1"/>
          <p:nvPr/>
        </p:nvSpPr>
        <p:spPr>
          <a:xfrm>
            <a:off x="6949440" y="4389120"/>
            <a:ext cx="4617720" cy="749808"/>
          </a:xfrm>
          <a:prstGeom prst="rect">
            <a:avLst/>
          </a:prstGeom>
          <a:noFill/>
          <a:ln/>
        </p:spPr>
        <p:txBody>
          <a:bodyPr wrap="square" lIns="0" tIns="0" rIns="0" bIns="0" rtlCol="0" anchor="ctr"/>
          <a:lstStyle/>
          <a:p>
            <a:pPr indent="0" marL="0">
              <a:buNone/>
            </a:pPr>
            <a:r>
              <a:rPr lang="en-US" sz="1350" b="1" dirty="0">
                <a:solidFill>
                  <a:srgbClr val="0F172A"/>
                </a:solidFill>
              </a:rPr>
              <a:t>No CPU / memory limits</a:t>
            </a:r>
            <a:endParaRPr lang="en-US" sz="1350" dirty="0"/>
          </a:p>
          <a:p>
            <a:pPr indent="0" marL="0">
              <a:buNone/>
            </a:pPr>
            <a:r>
              <a:rPr lang="en-US" sz="1200" dirty="0">
                <a:solidFill>
                  <a:srgbClr val="334155"/>
                </a:solidFill>
              </a:rPr>
              <a:t>results depend on this laptop</a:t>
            </a:r>
            <a:endParaRPr lang="en-US" sz="1350" dirty="0"/>
          </a:p>
        </p:txBody>
      </p:sp>
      <p:sp>
        <p:nvSpPr>
          <p:cNvPr id="44" name="card"/>
          <p:cNvSpPr/>
          <p:nvPr/>
        </p:nvSpPr>
        <p:spPr>
          <a:xfrm>
            <a:off x="6263640" y="5257800"/>
            <a:ext cx="5394960" cy="749808"/>
          </a:xfrm>
          <a:prstGeom prst="roundRect">
            <a:avLst>
              <a:gd name="adj" fmla="val 14634"/>
            </a:avLst>
          </a:prstGeom>
          <a:solidFill>
            <a:srgbClr val="FFE4E6"/>
          </a:solidFill>
          <a:ln w="12700">
            <a:solidFill>
              <a:srgbClr val="FFE4E6"/>
            </a:solidFill>
            <a:prstDash val="solid"/>
          </a:ln>
        </p:spPr>
      </p:sp>
      <p:sp>
        <p:nvSpPr>
          <p:cNvPr id="45" name="dot"/>
          <p:cNvSpPr/>
          <p:nvPr/>
        </p:nvSpPr>
        <p:spPr>
          <a:xfrm>
            <a:off x="6400800" y="5440680"/>
            <a:ext cx="384048" cy="384048"/>
          </a:xfrm>
          <a:prstGeom prst="ellipse">
            <a:avLst/>
          </a:prstGeom>
          <a:solidFill>
            <a:srgbClr val="E11D48"/>
          </a:solidFill>
          <a:ln w="12700">
            <a:solidFill>
              <a:srgbClr val="E11D48"/>
            </a:solidFill>
            <a:prstDash val="solid"/>
          </a:ln>
        </p:spPr>
      </p:sp>
      <p:sp>
        <p:nvSpPr>
          <p:cNvPr id="46" name="Text 43"/>
          <p:cNvSpPr txBox="1"/>
          <p:nvPr/>
        </p:nvSpPr>
        <p:spPr>
          <a:xfrm>
            <a:off x="6400800" y="54406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47" name="Text 44"/>
          <p:cNvSpPr txBox="1"/>
          <p:nvPr/>
        </p:nvSpPr>
        <p:spPr>
          <a:xfrm>
            <a:off x="6949440" y="5257800"/>
            <a:ext cx="4617720" cy="749808"/>
          </a:xfrm>
          <a:prstGeom prst="rect">
            <a:avLst/>
          </a:prstGeom>
          <a:noFill/>
          <a:ln/>
        </p:spPr>
        <p:txBody>
          <a:bodyPr wrap="square" lIns="0" tIns="0" rIns="0" bIns="0" rtlCol="0" anchor="ctr"/>
          <a:lstStyle/>
          <a:p>
            <a:pPr indent="0" marL="0">
              <a:buNone/>
            </a:pPr>
            <a:r>
              <a:rPr lang="en-US" sz="1350" b="1" dirty="0">
                <a:solidFill>
                  <a:srgbClr val="0F172A"/>
                </a:solidFill>
              </a:rPr>
              <a:t>Docker Desktop uses a WSL2 VM</a:t>
            </a:r>
            <a:endParaRPr lang="en-US" sz="1350" dirty="0"/>
          </a:p>
          <a:p>
            <a:pPr indent="0" marL="0">
              <a:buNone/>
            </a:pPr>
            <a:r>
              <a:rPr lang="en-US" sz="1200" dirty="0">
                <a:solidFill>
                  <a:srgbClr val="334155"/>
                </a:solidFill>
              </a:rPr>
              <a:t>small virtualisation overhead</a:t>
            </a:r>
            <a:endParaRPr lang="en-US" sz="1350" dirty="0"/>
          </a:p>
        </p:txBody>
      </p:sp>
      <p:sp>
        <p:nvSpPr>
          <p:cNvPr id="25" name="Slide Number Placeholder 0"/>
          <p:cNvSpPr>
            <a:spLocks noGrp="1"/>
          </p:cNvSpPr>
          <p:nvPr>
            <p:ph type="sldNum" sz="quarter" idx="4294967295"/>
          </p:nvPr>
        </p:nvSpPr>
        <p:spPr>
          <a:xfrm>
            <a:off x="1115568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731520" y="502920"/>
            <a:ext cx="10698480" cy="914400"/>
          </a:xfrm>
          <a:prstGeom prst="rect">
            <a:avLst/>
          </a:prstGeom>
          <a:noFill/>
          <a:ln/>
        </p:spPr>
        <p:txBody>
          <a:bodyPr wrap="square" lIns="0" tIns="0" rIns="0" bIns="0" rtlCol="0" anchor="ctr"/>
          <a:lstStyle/>
          <a:p>
            <a:pPr indent="0" marL="0">
              <a:buNone/>
            </a:pPr>
            <a:r>
              <a:rPr lang="en-US" sz="4000" b="1" dirty="0">
                <a:solidFill>
                  <a:srgbClr val="FFFFFF"/>
                </a:solidFill>
                <a:latin typeface="Segoe UI Semibold" pitchFamily="34" charset="0"/>
                <a:ea typeface="Segoe UI Semibold" pitchFamily="34" charset="-122"/>
                <a:cs typeface="Segoe UI Semibold" pitchFamily="34" charset="-120"/>
              </a:rPr>
              <a:t>Conclusion</a:t>
            </a:r>
            <a:endParaRPr lang="en-US" sz="4000" dirty="0"/>
          </a:p>
        </p:txBody>
      </p:sp>
      <p:sp>
        <p:nvSpPr>
          <p:cNvPr id="3" name="dot"/>
          <p:cNvSpPr/>
          <p:nvPr/>
        </p:nvSpPr>
        <p:spPr>
          <a:xfrm>
            <a:off x="731520" y="1691640"/>
            <a:ext cx="548640" cy="548640"/>
          </a:xfrm>
          <a:prstGeom prst="ellipse">
            <a:avLst/>
          </a:prstGeom>
          <a:solidFill>
            <a:srgbClr val="0D9488"/>
          </a:solidFill>
          <a:ln w="12700">
            <a:solidFill>
              <a:srgbClr val="0D9488"/>
            </a:solidFill>
            <a:prstDash val="solid"/>
          </a:ln>
        </p:spPr>
      </p:sp>
      <p:sp>
        <p:nvSpPr>
          <p:cNvPr id="4" name="Text 2"/>
          <p:cNvSpPr txBox="1"/>
          <p:nvPr/>
        </p:nvSpPr>
        <p:spPr>
          <a:xfrm>
            <a:off x="731520" y="1691640"/>
            <a:ext cx="548640" cy="548640"/>
          </a:xfrm>
          <a:prstGeom prst="rect">
            <a:avLst/>
          </a:prstGeom>
          <a:noFill/>
          <a:ln/>
        </p:spPr>
        <p:txBody>
          <a:bodyPr wrap="square" lIns="0" tIns="0" rIns="0" bIns="0" rtlCol="0" anchor="ctr"/>
          <a:lstStyle/>
          <a:p>
            <a:pPr algn="ctr" indent="0" marL="0">
              <a:buNone/>
            </a:pPr>
            <a:r>
              <a:rPr lang="en-US" sz="1200" b="1" dirty="0">
                <a:solidFill>
                  <a:srgbClr val="FFFFFF"/>
                </a:solidFill>
              </a:rPr>
              <a:t>CP1</a:t>
            </a:r>
            <a:endParaRPr lang="en-US" sz="1200" dirty="0"/>
          </a:p>
        </p:txBody>
      </p:sp>
      <p:sp>
        <p:nvSpPr>
          <p:cNvPr id="5" name="Text 3"/>
          <p:cNvSpPr txBox="1"/>
          <p:nvPr/>
        </p:nvSpPr>
        <p:spPr>
          <a:xfrm>
            <a:off x="1508760" y="1691640"/>
            <a:ext cx="9875520" cy="548640"/>
          </a:xfrm>
          <a:prstGeom prst="rect">
            <a:avLst/>
          </a:prstGeom>
          <a:noFill/>
          <a:ln/>
        </p:spPr>
        <p:txBody>
          <a:bodyPr wrap="square" lIns="0" tIns="0" rIns="0" bIns="0" rtlCol="0" anchor="ctr"/>
          <a:lstStyle/>
          <a:p>
            <a:pPr indent="0" marL="0">
              <a:buNone/>
            </a:pPr>
            <a:r>
              <a:rPr lang="en-US" sz="1800" dirty="0">
                <a:solidFill>
                  <a:srgbClr val="F1F5F9"/>
                </a:solidFill>
              </a:rPr>
              <a:t>4 independent FastAPI services, own database each, REST APIs tested on their own</a:t>
            </a:r>
            <a:endParaRPr lang="en-US" sz="1800" dirty="0"/>
          </a:p>
        </p:txBody>
      </p:sp>
      <p:sp>
        <p:nvSpPr>
          <p:cNvPr id="6" name="dot"/>
          <p:cNvSpPr/>
          <p:nvPr/>
        </p:nvSpPr>
        <p:spPr>
          <a:xfrm>
            <a:off x="731520" y="2468880"/>
            <a:ext cx="548640" cy="548640"/>
          </a:xfrm>
          <a:prstGeom prst="ellipse">
            <a:avLst/>
          </a:prstGeom>
          <a:solidFill>
            <a:srgbClr val="2563EB"/>
          </a:solidFill>
          <a:ln w="12700">
            <a:solidFill>
              <a:srgbClr val="2563EB"/>
            </a:solidFill>
            <a:prstDash val="solid"/>
          </a:ln>
        </p:spPr>
      </p:sp>
      <p:sp>
        <p:nvSpPr>
          <p:cNvPr id="7" name="Text 5"/>
          <p:cNvSpPr txBox="1"/>
          <p:nvPr/>
        </p:nvSpPr>
        <p:spPr>
          <a:xfrm>
            <a:off x="731520" y="2468880"/>
            <a:ext cx="548640" cy="548640"/>
          </a:xfrm>
          <a:prstGeom prst="rect">
            <a:avLst/>
          </a:prstGeom>
          <a:noFill/>
          <a:ln/>
        </p:spPr>
        <p:txBody>
          <a:bodyPr wrap="square" lIns="0" tIns="0" rIns="0" bIns="0" rtlCol="0" anchor="ctr"/>
          <a:lstStyle/>
          <a:p>
            <a:pPr algn="ctr" indent="0" marL="0">
              <a:buNone/>
            </a:pPr>
            <a:r>
              <a:rPr lang="en-US" sz="1200" b="1" dirty="0">
                <a:solidFill>
                  <a:srgbClr val="FFFFFF"/>
                </a:solidFill>
              </a:rPr>
              <a:t>CP2</a:t>
            </a:r>
            <a:endParaRPr lang="en-US" sz="1200" dirty="0"/>
          </a:p>
        </p:txBody>
      </p:sp>
      <p:sp>
        <p:nvSpPr>
          <p:cNvPr id="8" name="Text 6"/>
          <p:cNvSpPr txBox="1"/>
          <p:nvPr/>
        </p:nvSpPr>
        <p:spPr>
          <a:xfrm>
            <a:off x="1508760" y="2468880"/>
            <a:ext cx="9875520" cy="548640"/>
          </a:xfrm>
          <a:prstGeom prst="rect">
            <a:avLst/>
          </a:prstGeom>
          <a:noFill/>
          <a:ln/>
        </p:spPr>
        <p:txBody>
          <a:bodyPr wrap="square" lIns="0" tIns="0" rIns="0" bIns="0" rtlCol="0" anchor="ctr"/>
          <a:lstStyle/>
          <a:p>
            <a:pPr indent="0" marL="0">
              <a:buNone/>
            </a:pPr>
            <a:r>
              <a:rPr lang="en-US" sz="1800" dirty="0">
                <a:solidFill>
                  <a:srgbClr val="F1F5F9"/>
                </a:solidFill>
              </a:rPr>
              <a:t>One Dockerfile per service, 5 images, deployed with one docker compose up -d</a:t>
            </a:r>
            <a:endParaRPr lang="en-US" sz="1800" dirty="0"/>
          </a:p>
        </p:txBody>
      </p:sp>
      <p:sp>
        <p:nvSpPr>
          <p:cNvPr id="9" name="dot"/>
          <p:cNvSpPr/>
          <p:nvPr/>
        </p:nvSpPr>
        <p:spPr>
          <a:xfrm>
            <a:off x="731520" y="3246120"/>
            <a:ext cx="548640" cy="548640"/>
          </a:xfrm>
          <a:prstGeom prst="ellipse">
            <a:avLst/>
          </a:prstGeom>
          <a:solidFill>
            <a:srgbClr val="16A34A"/>
          </a:solidFill>
          <a:ln w="12700">
            <a:solidFill>
              <a:srgbClr val="16A34A"/>
            </a:solidFill>
            <a:prstDash val="solid"/>
          </a:ln>
        </p:spPr>
      </p:sp>
      <p:sp>
        <p:nvSpPr>
          <p:cNvPr id="10" name="Text 8"/>
          <p:cNvSpPr txBox="1"/>
          <p:nvPr/>
        </p:nvSpPr>
        <p:spPr>
          <a:xfrm>
            <a:off x="731520" y="3246120"/>
            <a:ext cx="548640" cy="548640"/>
          </a:xfrm>
          <a:prstGeom prst="rect">
            <a:avLst/>
          </a:prstGeom>
          <a:noFill/>
          <a:ln/>
        </p:spPr>
        <p:txBody>
          <a:bodyPr wrap="square" lIns="0" tIns="0" rIns="0" bIns="0" rtlCol="0" anchor="ctr"/>
          <a:lstStyle/>
          <a:p>
            <a:pPr algn="ctr" indent="0" marL="0">
              <a:buNone/>
            </a:pPr>
            <a:r>
              <a:rPr lang="en-US" sz="1200" b="1" dirty="0">
                <a:solidFill>
                  <a:srgbClr val="FFFFFF"/>
                </a:solidFill>
              </a:rPr>
              <a:t>CP3</a:t>
            </a:r>
            <a:endParaRPr lang="en-US" sz="1200" dirty="0"/>
          </a:p>
        </p:txBody>
      </p:sp>
      <p:sp>
        <p:nvSpPr>
          <p:cNvPr id="11" name="Text 9"/>
          <p:cNvSpPr txBox="1"/>
          <p:nvPr/>
        </p:nvSpPr>
        <p:spPr>
          <a:xfrm>
            <a:off x="1508760" y="3246120"/>
            <a:ext cx="9875520" cy="548640"/>
          </a:xfrm>
          <a:prstGeom prst="rect">
            <a:avLst/>
          </a:prstGeom>
          <a:noFill/>
          <a:ln/>
        </p:spPr>
        <p:txBody>
          <a:bodyPr wrap="square" lIns="0" tIns="0" rIns="0" bIns="0" rtlCol="0" anchor="ctr"/>
          <a:lstStyle/>
          <a:p>
            <a:pPr indent="0" marL="0">
              <a:buNone/>
            </a:pPr>
            <a:r>
              <a:rPr lang="en-US" sz="1800" dirty="0">
                <a:solidFill>
                  <a:srgbClr val="F1F5F9"/>
                </a:solidFill>
              </a:rPr>
              <a:t>Services talk over library-net by name; one borrow passes through all four</a:t>
            </a:r>
            <a:endParaRPr lang="en-US" sz="1800" dirty="0"/>
          </a:p>
        </p:txBody>
      </p:sp>
      <p:sp>
        <p:nvSpPr>
          <p:cNvPr id="12" name="dot"/>
          <p:cNvSpPr/>
          <p:nvPr/>
        </p:nvSpPr>
        <p:spPr>
          <a:xfrm>
            <a:off x="731520" y="4023360"/>
            <a:ext cx="548640" cy="548640"/>
          </a:xfrm>
          <a:prstGeom prst="ellipse">
            <a:avLst/>
          </a:prstGeom>
          <a:solidFill>
            <a:srgbClr val="EA580C"/>
          </a:solidFill>
          <a:ln w="12700">
            <a:solidFill>
              <a:srgbClr val="EA580C"/>
            </a:solidFill>
            <a:prstDash val="solid"/>
          </a:ln>
        </p:spPr>
      </p:sp>
      <p:sp>
        <p:nvSpPr>
          <p:cNvPr id="13" name="Text 11"/>
          <p:cNvSpPr txBox="1"/>
          <p:nvPr/>
        </p:nvSpPr>
        <p:spPr>
          <a:xfrm>
            <a:off x="731520" y="4023360"/>
            <a:ext cx="548640" cy="548640"/>
          </a:xfrm>
          <a:prstGeom prst="rect">
            <a:avLst/>
          </a:prstGeom>
          <a:noFill/>
          <a:ln/>
        </p:spPr>
        <p:txBody>
          <a:bodyPr wrap="square" lIns="0" tIns="0" rIns="0" bIns="0" rtlCol="0" anchor="ctr"/>
          <a:lstStyle/>
          <a:p>
            <a:pPr algn="ctr" indent="0" marL="0">
              <a:buNone/>
            </a:pPr>
            <a:r>
              <a:rPr lang="en-US" sz="1200" b="1" dirty="0">
                <a:solidFill>
                  <a:srgbClr val="FFFFFF"/>
                </a:solidFill>
              </a:rPr>
              <a:t>CP4</a:t>
            </a:r>
            <a:endParaRPr lang="en-US" sz="1200" dirty="0"/>
          </a:p>
        </p:txBody>
      </p:sp>
      <p:sp>
        <p:nvSpPr>
          <p:cNvPr id="14" name="Text 12"/>
          <p:cNvSpPr txBox="1"/>
          <p:nvPr/>
        </p:nvSpPr>
        <p:spPr>
          <a:xfrm>
            <a:off x="1508760" y="4023360"/>
            <a:ext cx="9875520" cy="548640"/>
          </a:xfrm>
          <a:prstGeom prst="rect">
            <a:avLst/>
          </a:prstGeom>
          <a:noFill/>
          <a:ln/>
        </p:spPr>
        <p:txBody>
          <a:bodyPr wrap="square" lIns="0" tIns="0" rIns="0" bIns="0" rtlCol="0" anchor="ctr"/>
          <a:lstStyle/>
          <a:p>
            <a:pPr indent="0" marL="0">
              <a:buNone/>
            </a:pPr>
            <a:r>
              <a:rPr lang="en-US" sz="1800" dirty="0">
                <a:solidFill>
                  <a:srgbClr val="F1F5F9"/>
                </a:solidFill>
              </a:rPr>
              <a:t>Load-tested at 1, 2, 4, 8, 16 concurrent requests with every container monitored</a:t>
            </a:r>
            <a:endParaRPr lang="en-US" sz="1800" dirty="0"/>
          </a:p>
        </p:txBody>
      </p:sp>
      <p:sp>
        <p:nvSpPr>
          <p:cNvPr id="15" name="dot"/>
          <p:cNvSpPr/>
          <p:nvPr/>
        </p:nvSpPr>
        <p:spPr>
          <a:xfrm>
            <a:off x="731520" y="4800600"/>
            <a:ext cx="548640" cy="548640"/>
          </a:xfrm>
          <a:prstGeom prst="ellipse">
            <a:avLst/>
          </a:prstGeom>
          <a:solidFill>
            <a:srgbClr val="7C3AED"/>
          </a:solidFill>
          <a:ln w="12700">
            <a:solidFill>
              <a:srgbClr val="7C3AED"/>
            </a:solidFill>
            <a:prstDash val="solid"/>
          </a:ln>
        </p:spPr>
      </p:sp>
      <p:sp>
        <p:nvSpPr>
          <p:cNvPr id="16" name="Text 14"/>
          <p:cNvSpPr txBox="1"/>
          <p:nvPr/>
        </p:nvSpPr>
        <p:spPr>
          <a:xfrm>
            <a:off x="731520" y="4800600"/>
            <a:ext cx="548640" cy="548640"/>
          </a:xfrm>
          <a:prstGeom prst="rect">
            <a:avLst/>
          </a:prstGeom>
          <a:noFill/>
          <a:ln/>
        </p:spPr>
        <p:txBody>
          <a:bodyPr wrap="square" lIns="0" tIns="0" rIns="0" bIns="0" rtlCol="0" anchor="ctr"/>
          <a:lstStyle/>
          <a:p>
            <a:pPr algn="ctr" indent="0" marL="0">
              <a:buNone/>
            </a:pPr>
            <a:r>
              <a:rPr lang="en-US" sz="1200" b="1" dirty="0">
                <a:solidFill>
                  <a:srgbClr val="FFFFFF"/>
                </a:solidFill>
              </a:rPr>
              <a:t>CP5</a:t>
            </a:r>
            <a:endParaRPr lang="en-US" sz="1200" dirty="0"/>
          </a:p>
        </p:txBody>
      </p:sp>
      <p:sp>
        <p:nvSpPr>
          <p:cNvPr id="17" name="Text 15"/>
          <p:cNvSpPr txBox="1"/>
          <p:nvPr/>
        </p:nvSpPr>
        <p:spPr>
          <a:xfrm>
            <a:off x="1508760" y="4800600"/>
            <a:ext cx="9875520" cy="548640"/>
          </a:xfrm>
          <a:prstGeom prst="rect">
            <a:avLst/>
          </a:prstGeom>
          <a:noFill/>
          <a:ln/>
        </p:spPr>
        <p:txBody>
          <a:bodyPr wrap="square" lIns="0" tIns="0" rIns="0" bIns="0" rtlCol="0" anchor="ctr"/>
          <a:lstStyle/>
          <a:p>
            <a:pPr indent="0" marL="0">
              <a:buNone/>
            </a:pPr>
            <a:r>
              <a:rPr lang="en-US" sz="1800" dirty="0">
                <a:solidFill>
                  <a:srgbClr val="F1F5F9"/>
                </a:solidFill>
              </a:rPr>
              <a:t>Peak ≈ 160 req/s; Borrow's CPU is the bottleneck; memory flat; 0 of 41,220 failed</a:t>
            </a:r>
            <a:endParaRPr lang="en-US" sz="1800" dirty="0"/>
          </a:p>
        </p:txBody>
      </p:sp>
      <p:sp>
        <p:nvSpPr>
          <p:cNvPr id="18" name="Text 16"/>
          <p:cNvSpPr txBox="1"/>
          <p:nvPr/>
        </p:nvSpPr>
        <p:spPr>
          <a:xfrm>
            <a:off x="731520" y="5760720"/>
            <a:ext cx="10698480" cy="548640"/>
          </a:xfrm>
          <a:prstGeom prst="rect">
            <a:avLst/>
          </a:prstGeom>
          <a:noFill/>
          <a:ln/>
        </p:spPr>
        <p:txBody>
          <a:bodyPr wrap="square" lIns="0" tIns="0" rIns="0" bIns="0" rtlCol="0" anchor="ctr"/>
          <a:lstStyle/>
          <a:p>
            <a:pPr indent="0" marL="0">
              <a:buNone/>
            </a:pPr>
            <a:r>
              <a:rPr lang="en-US" sz="2200" b="1" dirty="0">
                <a:solidFill>
                  <a:srgbClr val="5EEAD4"/>
                </a:solidFill>
              </a:rPr>
              <a:t>Thank you — questions welcome</a:t>
            </a:r>
            <a:endParaRPr lang="en-US" sz="2200" dirty="0"/>
          </a:p>
        </p:txBody>
      </p:sp>
    </p:spTree>
  </p:cSld>
  <p:clrMapOvr>
    <a:masterClrMapping/>
  </p:clrMapOvr>
</p:sld>
</file>

<file path=ppt/theme/theme1.xml><?xml version="1.0" encoding="utf-8"?>
<a:theme xmlns:a="http://schemas.openxmlformats.org/drawingml/2006/main" name="Library Microservices">
  <a:themeElements>
    <a:clrScheme name="Library Microservices">
      <a:dk1>
        <a:srgbClr val="0F172A"/>
      </a:dk1>
      <a:lt1>
        <a:srgbClr val="FFFFFF"/>
      </a:lt1>
      <a:dk2>
        <a:srgbClr val="334155"/>
      </a:dk2>
      <a:lt2>
        <a:srgbClr val="F1F5F9"/>
      </a:lt2>
      <a:accent1>
        <a:srgbClr val="2563EB"/>
      </a:accent1>
      <a:accent2>
        <a:srgbClr val="7C3AED"/>
      </a:accent2>
      <a:accent3>
        <a:srgbClr val="16A34A"/>
      </a:accent3>
      <a:accent4>
        <a:srgbClr val="EA580C"/>
      </a:accent4>
      <a:accent5>
        <a:srgbClr val="0D9488"/>
      </a:accent5>
      <a:accent6>
        <a:srgbClr val="E11D48"/>
      </a:accent6>
      <a:hlink>
        <a:srgbClr val="2563EB"/>
      </a:hlink>
      <a:folHlink>
        <a:srgbClr val="7C3AED"/>
      </a:folHlink>
    </a:clrScheme>
    <a:fontScheme name="Library Microservices">
      <a:majorFont>
        <a:latin typeface="Segoe UI Semibo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Library Management Microservices - CC Lab Evaluation</dc:title>
  <dc:subject>PptxGenJS Presentation</dc:subject>
  <dc:creator>PptxGenJS</dc:creator>
  <cp:lastModifiedBy>PptxGenJS</cp:lastModifiedBy>
  <cp:revision>1</cp:revision>
  <dcterms:created xsi:type="dcterms:W3CDTF">2026-10-05T18:42:58Z</dcterms:created>
  <dcterms:modified xsi:type="dcterms:W3CDTF">2026-10-05T18:42:58Z</dcterms:modified>
</cp:coreProperties>
</file>